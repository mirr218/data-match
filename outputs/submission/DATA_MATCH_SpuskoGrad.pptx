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c4a111b53a44ac" /><Relationship Type="http://schemas.openxmlformats.org/officeDocument/2006/relationships/extended-properties" Target="/docProps/app.xml" Id="Rdf178428b5c74b7a" /><Relationship Type="http://schemas.openxmlformats.org/officeDocument/2006/relationships/officeDocument" Target="/ppt/presentation.xml" Id="R2016ed11f5f54fb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fe2bbbab964de1"/>
  </p:sldMasterIdLst>
  <p:notesMasterIdLst>
    <p:notesMasterId xmlns:r="http://schemas.openxmlformats.org/officeDocument/2006/relationships" r:id="R3f7a70486a4941db"/>
  </p:notesMasterIdLst>
  <p:sldIdLst>
    <p:sldId xmlns:r="http://schemas.openxmlformats.org/officeDocument/2006/relationships" id="256" r:id="R326ba4abf3ec495b"/>
    <p:sldId xmlns:r="http://schemas.openxmlformats.org/officeDocument/2006/relationships" id="257" r:id="R46be80c106e941bb"/>
    <p:sldId xmlns:r="http://schemas.openxmlformats.org/officeDocument/2006/relationships" id="258" r:id="R373a2c8d2c4f46b4"/>
    <p:sldId xmlns:r="http://schemas.openxmlformats.org/officeDocument/2006/relationships" id="259" r:id="Rea6fbe9e476549e8"/>
    <p:sldId xmlns:r="http://schemas.openxmlformats.org/officeDocument/2006/relationships" id="260" r:id="R0996fbe129a74797"/>
    <p:sldId xmlns:r="http://schemas.openxmlformats.org/officeDocument/2006/relationships" id="261" r:id="R8a87e2fb4ffd42ee"/>
    <p:sldId xmlns:r="http://schemas.openxmlformats.org/officeDocument/2006/relationships" id="262" r:id="Rc6d1d837b00744f2"/>
    <p:sldId xmlns:r="http://schemas.openxmlformats.org/officeDocument/2006/relationships" id="263" r:id="Red202bf4d0a14d4d"/>
    <p:sldId xmlns:r="http://schemas.openxmlformats.org/officeDocument/2006/relationships" id="264" r:id="R0ab95662c09e43a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3ec63bf2b94c9d" /><Relationship Type="http://schemas.openxmlformats.org/officeDocument/2006/relationships/slideMaster" Target="/ppt/slideMasters/slideMaster1.xml" Id="R6cfe2bbbab964de1" /><Relationship Type="http://schemas.openxmlformats.org/officeDocument/2006/relationships/notesMaster" Target="/ppt/notesMasters/notesMaster1.xml" Id="R3f7a70486a4941db" /><Relationship Type="http://schemas.openxmlformats.org/officeDocument/2006/relationships/presProps" Target="/ppt/presProps.xml" Id="R2dfff69045ae49e7" /><Relationship Type="http://schemas.openxmlformats.org/officeDocument/2006/relationships/tableStyles" Target="/ppt/tableStyles.xml" Id="R95004b593c404d84" /><Relationship Type="http://schemas.openxmlformats.org/officeDocument/2006/relationships/slide" Target="/ppt/slides/slide1.xml" Id="R326ba4abf3ec495b" /><Relationship Type="http://schemas.openxmlformats.org/officeDocument/2006/relationships/slide" Target="/ppt/slides/slide2.xml" Id="R46be80c106e941bb" /><Relationship Type="http://schemas.openxmlformats.org/officeDocument/2006/relationships/slide" Target="/ppt/slides/slide3.xml" Id="R373a2c8d2c4f46b4" /><Relationship Type="http://schemas.openxmlformats.org/officeDocument/2006/relationships/slide" Target="/ppt/slides/slide4.xml" Id="Rea6fbe9e476549e8" /><Relationship Type="http://schemas.openxmlformats.org/officeDocument/2006/relationships/slide" Target="/ppt/slides/slide5.xml" Id="R0996fbe129a74797" /><Relationship Type="http://schemas.openxmlformats.org/officeDocument/2006/relationships/slide" Target="/ppt/slides/slide6.xml" Id="R8a87e2fb4ffd42ee" /><Relationship Type="http://schemas.openxmlformats.org/officeDocument/2006/relationships/slide" Target="/ppt/slides/slide7.xml" Id="Rc6d1d837b00744f2" /><Relationship Type="http://schemas.openxmlformats.org/officeDocument/2006/relationships/slide" Target="/ppt/slides/slide8.xml" Id="Red202bf4d0a14d4d" /><Relationship Type="http://schemas.openxmlformats.org/officeDocument/2006/relationships/slide" Target="/ppt/slides/slide9.xml" Id="R0ab95662c09e43a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967b7c1f8949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d0d2e0fe544bac" /><Relationship Type="http://schemas.openxmlformats.org/officeDocument/2006/relationships/notesMaster" Target="/ppt/notesMasters/notesMaster1.xml" Id="R04289e1eb84040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8ef06ca2cd4336" /><Relationship Type="http://schemas.openxmlformats.org/officeDocument/2006/relationships/notesMaster" Target="/ppt/notesMasters/notesMaster1.xml" Id="Rdbd3bf926dd442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123c1be51b4210" /><Relationship Type="http://schemas.openxmlformats.org/officeDocument/2006/relationships/notesMaster" Target="/ppt/notesMasters/notesMaster1.xml" Id="R692fa73b909643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c315d2cf104617" /><Relationship Type="http://schemas.openxmlformats.org/officeDocument/2006/relationships/notesMaster" Target="/ppt/notesMasters/notesMaster1.xml" Id="R32575adfd26946f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d2d72535a64891" /><Relationship Type="http://schemas.openxmlformats.org/officeDocument/2006/relationships/notesMaster" Target="/ppt/notesMasters/notesMaster1.xml" Id="R159d90f43cc84d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ae5a457dc51465a" /><Relationship Type="http://schemas.openxmlformats.org/officeDocument/2006/relationships/notesMaster" Target="/ppt/notesMasters/notesMaster1.xml" Id="R6d1dcd47c5004a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9769075c0e4a3b" /><Relationship Type="http://schemas.openxmlformats.org/officeDocument/2006/relationships/notesMaster" Target="/ppt/notesMasters/notesMaster1.xml" Id="R3aaaa2441ce145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7e87b42217407b" /><Relationship Type="http://schemas.openxmlformats.org/officeDocument/2006/relationships/notesMaster" Target="/ppt/notesMasters/notesMaster1.xml" Id="R2ab00c59f5214f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795e7306b64fdc" /><Relationship Type="http://schemas.openxmlformats.org/officeDocument/2006/relationships/notesMaster" Target="/ppt/notesMasters/notesMaster1.xml" Id="Re7f746d3f822463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Григорий,0:00–0:25. Мы команда СпускоГрад. Прогнозируем итог обычных билетов по каждой зоне. Цель - обоснованная оценка спроса для планирования продаж.</a:t>
            </a:r>
          </a:p>
          <a:p xmlns:a="http://schemas.openxmlformats.org/drawingml/2006/main">
            <a:r>
              <a:t>Источники: финальный notebook Avangard_ticket_demand.ipynb; локальные audit_results.json, audit_window_results.csv, ERROR_ANALYSIS.md; docs/EXPERIMENTS.md. Сценарная оценка R/S из docs/PROTOCOL.md. Объяснение частей модели: DEMAND_FACTORS.md и analyze_demand_factors.py.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Григорий,0:25–1:00. Используем85 завершённых матчей и расписание17 будущих. Основа модели - уровень зоны и сезона; Ridge уточняет его календарём и соперником. Для открытых продаж используем ранний темп.</a:t>
            </a:r>
          </a:p>
          <a:p xmlns:a="http://schemas.openxmlformats.org/drawingml/2006/main">
            <a:r>
              <a:t>Источники: финальный notebook Avangard_ticket_demand.ipynb; локальные audit_results.json, audit_window_results.csv, ERROR_ANALYSIS.md; docs/EXPERIMENTS.md. Сценарная оценка R/S из docs/PROTOCOL.md. Объяснение частей модели: DEMAND_FACTORS.md и analyze_demand_factors.py.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Григорий,1:00–1:50. Главная шкала нашего прогноза - различия между зонами. Типичная величина базового вклада156 билетов, сезонной поправки33. Соперник и день недели дают более умеренные поправки,20 и16 билетов. Это описание фиксированной модели до учёта своих продаж на85 исторических матчах, не причинная важность и не улучшение RMSE. Размеры зон различаются.</a:t>
            </a:r>
          </a:p>
          <a:p xmlns:a="http://schemas.openxmlformats.org/drawingml/2006/main">
            <a:r>
              <a:t>Источники: финальный notebook Avangard_ticket_demand.ipynb; локальные audit_results.json, audit_window_results.csv, ERROR_ANALYSIS.md; docs/EXPERIMENTS.md. Сценарная оценка R/S из docs/PROTOCOL.md. Объяснение частей модели: DEMAND_FACTORS.md и analyze_demand_factors.py.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Захар,1:50–2:30. RMSE - ошибка в билетах, большие промахи штрафуются сильнее. R - одна общая ошибка окна с двумя сценариями. S - наш сводный балл трёх окон для сравнения и принятия кандидатов, а не метрика скрытого теста. Проверяем по времени; история завершена до отсечки, все зоны вместе.</a:t>
            </a:r>
          </a:p>
          <a:p xmlns:a="http://schemas.openxmlformats.org/drawingml/2006/main">
            <a:r>
              <a:t>Источники: финальный notebook Avangard_ticket_demand.ipynb; локальные audit_results.json, audit_window_results.csv, ERROR_ANALYSIS.md; docs/EXPERIMENTS.md. Сценарная оценка R/S из docs/PROTOCOL.md. Объяснение частей модели: DEMAND_FACTORS.md и analyze_demand_factors.py.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Захар,2:30–3:20. Baseline - среднее зоны по доступным завершённым матчам. На тех же примерах итоговая S 126.736 против 139.155, снижение 8.92%. Таблица содержит RMSE обоих сценариев и смешанную R каждого окна. Первая проверка без продаж слегка хуже baseline, 0.29 билета: это не универсальный выигрыш. Сравниваем baseline и модель внутри каждого сценария на одинаковых примерах; разницу между сценариями не объявляем пользой продаж.</a:t>
            </a:r>
          </a:p>
          <a:p xmlns:a="http://schemas.openxmlformats.org/drawingml/2006/main">
            <a:r>
              <a:t>Источники: финальный notebook Avangard_ticket_demand.ipynb; локальные audit_results.json, audit_window_results.csv, ERROR_ANALYSIS.md; docs/EXPERIMENTS.md. Сценарная оценка R/S из docs/PROTOCOL.md. Объяснение частей модели: DEMAND_FACTORS.md и analyze_demand_factors.py.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Захар,3:20–4:00. Слева S каждой зоны по той же формуле, что общая S. Справа диагностическая RMSE по сценариям, матчи равновесны без весов окон. Самая большая абсолютная ошибка у зоны 6; модель снизила её, но в зонах 1 и 3 хуже среднего. Абсолютная ошибка не является процентом заполнения. Размеры одинаковы для всех зон: 51 и 36 уникальных матчей.</a:t>
            </a:r>
          </a:p>
          <a:p xmlns:a="http://schemas.openxmlformats.org/drawingml/2006/main">
            <a:r>
              <a:t>Источники: финальный notebook Avangard_ticket_demand.ipynb; локальные audit_results.json, audit_window_results.csv, ERROR_ANALYSIS.md; docs/EXPERIMENTS.md. Сценарная оценка R/S из docs/PROTOCOL.md. Объяснение частей модели: DEMAND_FACTORS.md и analyze_demand_factors.py.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Всеволод,4:00–4:45. Все значения - диагностическая RMSE с равным весом матчей, а не S. Показываем группы соперников с примерами высокой ошибки и ухудшения, не полный рейтинг.Полная таблица вERROR_ANALYSIS. У соперников всего 1–3 матча в сценарии; нельзя считать это устойчивым эффектом. В субботу без продаж модель немного хуже среднего.</a:t>
            </a:r>
          </a:p>
          <a:p xmlns:a="http://schemas.openxmlformats.org/drawingml/2006/main">
            <a:r>
              <a:t>Источники: финальный notebook Avangard_ticket_demand.ipynb; локальные audit_results.json, audit_window_results.csv, ERROR_ANALYSIS.md; docs/EXPERIMENTS.md. Сценарная оценка R/S из docs/PROTOCOL.md. Объяснение частей модели: DEMAND_FACTORS.md и analyze_demand_factors.py.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Всеволод,4:45–5:15. КХЛ и покупки абонементов проверяли отдельно и не приняли. Их S выше принятой, улучшилось только одно окно. Относительная Ridge с внутренним подбором дала меньшую S, но выигрыш 0.61% ниже порога 2% и лучше лишь одно окно. Мы не называем принятую модель лучшей среди всех чисел.</a:t>
            </a:r>
          </a:p>
          <a:p xmlns:a="http://schemas.openxmlformats.org/drawingml/2006/main">
            <a:r>
              <a:t>Источники: финальный notebook Avangard_ticket_demand.ipynb; локальные audit_results.json, audit_window_results.csv, ERROR_ANALYSIS.md; docs/EXPERIMENTS.md. Сценарная оценка R/S из docs/PROTOCOL.md. Объяснение частей модели: DEMAND_FACTORS.md и analyze_demand_factors.py.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Всеволод,5:15–6:15. Основной план строить по зонам и сезону. Соперник и день недели дают умеренные уточнения, поэтому не распределять продвижение только по этим категориям. Рекламный эффект проверять контрольной группой. В зонах1,3 и6 проверять отклонения. Пересчёты после открытия сравнивать на тех же матчах. Цены и денежный эффект не измерены.</a:t>
            </a:r>
          </a:p>
          <a:p xmlns:a="http://schemas.openxmlformats.org/drawingml/2006/main">
            <a:r>
              <a:t>Источники: финальный notebook Avangard_ticket_demand.ipynb; локальные audit_results.json, audit_window_results.csv, ERROR_ANALYSIS.md; docs/EXPERIMENTS.md. Сценарная оценка R/S из docs/PROTOCOL.md. Объяснение частей модели: DEMAND_FACTORS.md и analyze_demand_factors.py.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28a3cbfd92467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241775ad984b9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b31b57a81841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c2829e5f4243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9147f4711a4b5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0ffeb500b747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E51F554-D2CA-4C31-9A08-FFFD2B644E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7CB6DA0-AC80-41FD-9D59-EF5791AAF6C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60ED2C8-5367-44C0-9CFF-C1470B36F6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B09DC0D-3B78-42DD-9C23-D8CAEB4E3B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9D6EC46-EE14-45B0-9111-B81D7C23A5A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8770A80-EB53-4D89-9F32-AD4690D6E9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22C324-7F1F-4F51-B62E-57D1F67673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2CC3318-56D5-4B63-B40A-A70C8DEF689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A92B273-3C12-41E2-9AE1-E5CEDFD286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C41D3C7-20AF-477C-AF98-67D9C76548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e8343e7951434e" /><Relationship Type="http://schemas.openxmlformats.org/officeDocument/2006/relationships/slideLayout" Target="/ppt/slideLayouts/slideLayout1.xml" Id="R1337265bd9f14b7e" /><Relationship Type="http://schemas.openxmlformats.org/officeDocument/2006/relationships/slideLayout" Target="/ppt/slideLayouts/slideLayout2.xml" Id="R8da12be7cddb4926" /><Relationship Type="http://schemas.openxmlformats.org/officeDocument/2006/relationships/slideLayout" Target="/ppt/slideLayouts/slideLayout3.xml" Id="R01e98b5a739646c4" /><Relationship Type="http://schemas.openxmlformats.org/officeDocument/2006/relationships/slideLayout" Target="/ppt/slideLayouts/slideLayout4.xml" Id="R52fbaf81ba374578" /><Relationship Type="http://schemas.openxmlformats.org/officeDocument/2006/relationships/slideLayout" Target="/ppt/slideLayouts/slideLayout5.xml" Id="R84f3f0dbc71e48ef" /><Relationship Type="http://schemas.openxmlformats.org/officeDocument/2006/relationships/slideLayout" Target="/ppt/slideLayouts/slideLayout6.xml" Id="R335fecd6e82f41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37265bd9f14b7e"/>
    <p:sldLayoutId xmlns:r="http://schemas.openxmlformats.org/officeDocument/2006/relationships" id="2147483650" r:id="R8da12be7cddb4926"/>
    <p:sldLayoutId xmlns:r="http://schemas.openxmlformats.org/officeDocument/2006/relationships" id="2147483651" r:id="R01e98b5a739646c4"/>
    <p:sldLayoutId xmlns:r="http://schemas.openxmlformats.org/officeDocument/2006/relationships" id="2147483652" r:id="R52fbaf81ba374578"/>
    <p:sldLayoutId xmlns:r="http://schemas.openxmlformats.org/officeDocument/2006/relationships" id="2147483653" r:id="R84f3f0dbc71e48ef"/>
    <p:sldLayoutId xmlns:r="http://schemas.openxmlformats.org/officeDocument/2006/relationships" id="2147483654" r:id="R335fecd6e82f41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daff16b1b14f01" /><Relationship Type="http://schemas.openxmlformats.org/officeDocument/2006/relationships/notesSlide" Target="/ppt/notesSlides/notesSlide1.xml" Id="R44ae7639586b47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6070a67b714445" /><Relationship Type="http://schemas.openxmlformats.org/officeDocument/2006/relationships/notesSlide" Target="/ppt/notesSlides/notesSlide2.xml" Id="Rfd830902a33e4a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6e6d76d27748f9" /><Relationship Type="http://schemas.openxmlformats.org/officeDocument/2006/relationships/notesSlide" Target="/ppt/notesSlides/notesSlide3.xml" Id="Re731d4d5479a4b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73c6f8a8384b40" /><Relationship Type="http://schemas.openxmlformats.org/officeDocument/2006/relationships/notesSlide" Target="/ppt/notesSlides/notesSlide4.xml" Id="Rfbe298b247e842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2dcafdf4814853" /><Relationship Type="http://schemas.openxmlformats.org/officeDocument/2006/relationships/notesSlide" Target="/ppt/notesSlides/notesSlide5.xml" Id="R99d103a8e8c847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bb69c660dc498f" /><Relationship Type="http://schemas.openxmlformats.org/officeDocument/2006/relationships/chart" Target="/ppt/slides/charts/chart1.xml" Id="Rfdcf4fc5465b46f1" /><Relationship Type="http://schemas.openxmlformats.org/officeDocument/2006/relationships/notesSlide" Target="/ppt/notesSlides/notesSlide6.xml" Id="R4eb1a7c26819446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83c72269c64f8d" /><Relationship Type="http://schemas.openxmlformats.org/officeDocument/2006/relationships/notesSlide" Target="/ppt/notesSlides/notesSlide7.xml" Id="R67b7ad7964b941e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0b00c8aac4411f" /><Relationship Type="http://schemas.openxmlformats.org/officeDocument/2006/relationships/notesSlide" Target="/ppt/notesSlides/notesSlide8.xml" Id="Rfb138eba6f1b4f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aca16668a84374" /><Relationship Type="http://schemas.openxmlformats.org/officeDocument/2006/relationships/notesSlide" Target="/ppt/notesSlides/notesSlide9.xml" Id="Rbe8bf6665d77401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Baseline</c:v>
          </c:tx>
          <c:spPr>
            <a:solidFill xmlns:a="http://schemas.openxmlformats.org/drawingml/2006/main">
              <a:srgbClr val="8A939D"/>
            </a:solidFill>
          </c:spPr>
          <c:cat>
            <c:numRef>
              <c:f>'Chart Data'!$A$2:$A$9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numCache>
            </c:numRef>
          </c:cat>
          <c:val>
            <c:numRef>
              <c:f>'Chart Data'!$B$2:$B$9</c:f>
              <c:numCache>
                <c:formatCode>0</c:formatCode>
                <c:ptCount val="8"/>
                <c:pt idx="0">
                  <c:v>39.4</c:v>
                </c:pt>
                <c:pt idx="1">
                  <c:v>50.4</c:v>
                </c:pt>
                <c:pt idx="2">
                  <c:v>69.1</c:v>
                </c:pt>
                <c:pt idx="3">
                  <c:v>129.9</c:v>
                </c:pt>
                <c:pt idx="4">
                  <c:v>124.2</c:v>
                </c:pt>
                <c:pt idx="5">
                  <c:v>272.8</c:v>
                </c:pt>
                <c:pt idx="6">
                  <c:v>176.7</c:v>
                </c:pt>
                <c:pt idx="7">
                  <c:v>70.5</c:v>
                </c:pt>
              </c:numCache>
            </c:numRef>
          </c:val>
        </c:ser>
        <c:ser>
          <c:idx val="1"/>
          <c:order val="1"/>
          <c:tx>
            <c:v>Модель</c:v>
          </c:tx>
          <c:spPr>
            <a:solidFill xmlns:a="http://schemas.openxmlformats.org/drawingml/2006/main">
              <a:srgbClr val="B62730"/>
            </a:solidFill>
          </c:spPr>
          <c:cat>
            <c:numRef>
              <c:f>'Chart Data'!$C$2:$C$9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numCache>
            </c:numRef>
          </c:cat>
          <c:val>
            <c:numRef>
              <c:f>'Chart Data'!$D$2:$D$9</c:f>
              <c:numCache>
                <c:formatCode>0</c:formatCode>
                <c:ptCount val="8"/>
                <c:pt idx="0">
                  <c:v>50.1</c:v>
                </c:pt>
                <c:pt idx="1">
                  <c:v>46.4</c:v>
                </c:pt>
                <c:pt idx="2">
                  <c:v>72.6</c:v>
                </c:pt>
                <c:pt idx="3">
                  <c:v>128.8</c:v>
                </c:pt>
                <c:pt idx="4">
                  <c:v>116.8</c:v>
                </c:pt>
                <c:pt idx="5">
                  <c:v>233.7</c:v>
                </c:pt>
                <c:pt idx="6">
                  <c:v>163.5</c:v>
                </c:pt>
                <c:pt idx="7">
                  <c:v>54.8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Зона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3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9DCE0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100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AF9F6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Прогноз спроса на билеты&#10;ХК «Авангард»">
            <a:extLst xmlns:a="http://schemas.openxmlformats.org/drawingml/2006/main">
              <a:ext uri="{FF2B5EF4-FFF2-40B4-BE49-F238E27FC236}">
                <a16:creationId xmlns:a16="http://schemas.microsoft.com/office/drawing/2014/main" id="{DA40C448-2053-4DB7-A9EC-546A82BB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2900"/>
            <a:ext cx="11144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Прогноз спроса на билеты</a:t>
            </a:r>
          </a:p>
          <a:p xmlns:a="http://schemas.openxmlformats.org/drawingml/2006/main">
            <a: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ХК «Авангард»</a:t>
            </a:r>
          </a:p>
        </p:txBody>
      </p:sp>
      <p:sp>
        <p:nvSpPr>
          <p:cNvPr id="2" name="СпускоГрад  /  DATA MATCH">
            <a:extLst xmlns:a="http://schemas.openxmlformats.org/drawingml/2006/main">
              <a:ext uri="{FF2B5EF4-FFF2-40B4-BE49-F238E27FC236}">
                <a16:creationId xmlns:a16="http://schemas.microsoft.com/office/drawing/2014/main" id="{1EB01C2D-67EB-4359-80D9-12D71E61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381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СпускоГрад  /  DATA MATCH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BA243199-D4F4-4D18-B1A5-3F9FD994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17 матчей × 8 зон = 136 прогнозов">
            <a:extLst xmlns:a="http://schemas.openxmlformats.org/drawingml/2006/main">
              <a:ext uri="{FF2B5EF4-FFF2-40B4-BE49-F238E27FC236}">
                <a16:creationId xmlns:a16="http://schemas.microsoft.com/office/drawing/2014/main" id="{CDAEB89F-3ECB-484E-9BBE-E2D70843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479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850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B62730"/>
                </a:solidFill>
                <a:latin typeface="Arial"/>
                <a:ea typeface="Arial"/>
                <a:cs typeface="Arial"/>
              </a:rPr>
              <a:t>17 матчей × 8 зон = 136 прогнозов</a:t>
            </a:r>
          </a:p>
        </p:txBody>
      </p:sp>
      <p:sp>
        <p:nvSpPr>
          <p:cNvPr id="5" name="Команда «СпускоГрад»">
            <a:extLst xmlns:a="http://schemas.openxmlformats.org/drawingml/2006/main">
              <a:ext uri="{FF2B5EF4-FFF2-40B4-BE49-F238E27FC236}">
                <a16:creationId xmlns:a16="http://schemas.microsoft.com/office/drawing/2014/main" id="{CB991A4F-24E7-4922-8E19-88B6C4AB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528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Команда «СпускоГрад»</a:t>
            </a:r>
          </a:p>
        </p:txBody>
      </p:sp>
      <p:sp>
        <p:nvSpPr>
          <p:cNvPr id="6" name="Мирошниченко Григорий&#10;Кусков Захар&#10;Гутов Всев">
            <a:extLst xmlns:a="http://schemas.openxmlformats.org/drawingml/2006/main">
              <a:ext uri="{FF2B5EF4-FFF2-40B4-BE49-F238E27FC236}">
                <a16:creationId xmlns:a16="http://schemas.microsoft.com/office/drawing/2014/main" id="{794328E2-4B53-4DB5-A485-9A979A47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24300"/>
            <a:ext cx="1047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Мирошниченко Григорий</a:t>
            </a:r>
          </a:p>
          <a:p xmlns:a="http://schemas.openxmlformats.org/drawingml/2006/main">
            <a:pPr>
              <a:defRPr sz="210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Кусков Захар</a:t>
            </a:r>
          </a:p>
          <a:p xmlns:a="http://schemas.openxmlformats.org/drawingml/2006/main">
            <a:pPr>
              <a:defRPr sz="210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Гутов Всеволод</a:t>
            </a:r>
          </a:p>
        </p:txBody>
      </p:sp>
      <p:sp>
        <p:nvSpPr>
          <p:cNvPr id="7" name="DATA MATCH  •  обычные билеты за весь период ">
            <a:extLst xmlns:a="http://schemas.openxmlformats.org/drawingml/2006/main">
              <a:ext uri="{FF2B5EF4-FFF2-40B4-BE49-F238E27FC236}">
                <a16:creationId xmlns:a16="http://schemas.microsoft.com/office/drawing/2014/main" id="{D3ECA37A-30B6-4723-8B5C-B3684236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6007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DATA MATCH  •  обычные билеты за весь период продаж</a:t>
            </a:r>
          </a:p>
        </p:txBody>
      </p:sp>
    </p:spTree>
    <p:extLst>
      <p:ext uri="{BB962C8B-B14F-4D97-AF65-F5344CB8AC3E}">
        <p14:creationId xmlns:p14="http://schemas.microsoft.com/office/powerpoint/2010/main" val="6417599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Данные и модель спроса">
            <a:extLst xmlns:a="http://schemas.openxmlformats.org/drawingml/2006/main">
              <a:ext uri="{FF2B5EF4-FFF2-40B4-BE49-F238E27FC236}">
                <a16:creationId xmlns:a16="http://schemas.microsoft.com/office/drawing/2014/main" id="{9EE357D0-3750-419A-AD6D-60B1990E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29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Данные и модель спроса</a:t>
            </a:r>
          </a:p>
        </p:txBody>
      </p:sp>
      <p:sp>
        <p:nvSpPr>
          <p:cNvPr id="2" name="СпускоГрад  /  DATA MATCH">
            <a:extLst xmlns:a="http://schemas.openxmlformats.org/drawingml/2006/main">
              <a:ext uri="{FF2B5EF4-FFF2-40B4-BE49-F238E27FC236}">
                <a16:creationId xmlns:a16="http://schemas.microsoft.com/office/drawing/2014/main" id="{2B9AE934-D3C3-477D-B570-929A824E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381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СпускоГрад  /  DATA MATCH</a:t>
            </a:r>
          </a:p>
        </p:txBody>
      </p:sp>
      <p:sp>
        <p:nvSpPr>
          <p:cNvPr id="3" name="02">
            <a:extLst xmlns:a="http://schemas.openxmlformats.org/drawingml/2006/main">
              <a:ext uri="{FF2B5EF4-FFF2-40B4-BE49-F238E27FC236}">
                <a16:creationId xmlns:a16="http://schemas.microsoft.com/office/drawing/2014/main" id="{D61FDA7D-A611-4FAA-B162-742C7D76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F85845-E92A-461E-AF19-AFB6FA061008}"/>
              </a:ext>
            </a:extLst>
          </p:cNvPr>
          <p:cNvGraphicFramePr/>
          <p:nvPr/>
        </p:nvGraphicFramePr>
        <p:xfrm>
          <a:off xmlns:a="http://schemas.openxmlformats.org/drawingml/2006/main" x="523875" y="1390650"/>
          <a:ext xmlns:a="http://schemas.openxmlformats.org/drawingml/2006/main" cx="11144250" cy="2324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6381750"/>
              </a:tblGrid>
              <a:tr h="5810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Данные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Задача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85 прошлых матчей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Учимся на обычных билетах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17 будущих матчей × 8 зон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136 полных итогов продаж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Срез утро 15.12.2025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6 матчей с продажами, 11 без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  <p:sp>
        <p:nvSpPr>
          <p:cNvPr id="5" name="Модель: уровень зоны и сезона + Ridge + 0.5 ×">
            <a:extLst xmlns:a="http://schemas.openxmlformats.org/drawingml/2006/main">
              <a:ext uri="{FF2B5EF4-FFF2-40B4-BE49-F238E27FC236}">
                <a16:creationId xmlns:a16="http://schemas.microsoft.com/office/drawing/2014/main" id="{E6AF5AF2-1C26-4A53-BDC1-E1782095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38600"/>
            <a:ext cx="11144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62730"/>
                </a:solidFill>
                <a:latin typeface="Arial"/>
                <a:ea typeface="Arial"/>
                <a:cs typeface="Arial"/>
              </a:rPr>
              <a:t>Модель: уровень зоны и сезона + Ridge + 0.5 × поправка продаж</a:t>
            </a:r>
          </a:p>
        </p:txBody>
      </p:sp>
      <p:sp>
        <p:nvSpPr>
          <p:cNvPr id="6" name="Признаки: зона, соперник, день недели, месяц,">
            <a:extLst xmlns:a="http://schemas.openxmlformats.org/drawingml/2006/main">
              <a:ext uri="{FF2B5EF4-FFF2-40B4-BE49-F238E27FC236}">
                <a16:creationId xmlns:a16="http://schemas.microsoft.com/office/drawing/2014/main" id="{E789D517-DBD8-46DD-A146-152E70B3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886325"/>
            <a:ext cx="11144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Признаки: зона, соперник, день недели, месяц, время, номер матча</a:t>
            </a:r>
          </a:p>
          <a:p xmlns:a="http://schemas.openxmlformats.org/drawingml/2006/main">
            <a:pPr>
              <a:defRPr sz="195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Ridge ограничивает большие поправки; alpha = 10, prior сезона = 8</a:t>
            </a:r>
          </a:p>
        </p:txBody>
      </p:sp>
      <p:sp>
        <p:nvSpPr>
          <p:cNvPr id="7" name="Прогноз обычных билетов ограничен уже проданн">
            <a:extLst xmlns:a="http://schemas.openxmlformats.org/drawingml/2006/main">
              <a:ext uri="{FF2B5EF4-FFF2-40B4-BE49-F238E27FC236}">
                <a16:creationId xmlns:a16="http://schemas.microsoft.com/office/drawing/2014/main" id="{F84763FF-B4DE-4976-9B1D-EEDD1FD7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34075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Прогноз обычных билетов ограничен уже проданным и доступными местами</a:t>
            </a:r>
          </a:p>
        </p:txBody>
      </p:sp>
    </p:spTree>
    <p:extLst>
      <p:ext uri="{BB962C8B-B14F-4D97-AF65-F5344CB8AC3E}">
        <p14:creationId xmlns:p14="http://schemas.microsoft.com/office/powerpoint/2010/main" val="10222295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Что задаёт прогноз спроса">
            <a:extLst xmlns:a="http://schemas.openxmlformats.org/drawingml/2006/main">
              <a:ext uri="{FF2B5EF4-FFF2-40B4-BE49-F238E27FC236}">
                <a16:creationId xmlns:a16="http://schemas.microsoft.com/office/drawing/2014/main" id="{49538E11-AD97-48B2-8049-C4C37BB0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29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Что задаёт прогноз спроса</a:t>
            </a:r>
          </a:p>
        </p:txBody>
      </p:sp>
      <p:sp>
        <p:nvSpPr>
          <p:cNvPr id="2" name="СпускоГрад  /  DATA MATCH">
            <a:extLst xmlns:a="http://schemas.openxmlformats.org/drawingml/2006/main">
              <a:ext uri="{FF2B5EF4-FFF2-40B4-BE49-F238E27FC236}">
                <a16:creationId xmlns:a16="http://schemas.microsoft.com/office/drawing/2014/main" id="{3D729BED-B4D2-4C63-AB2B-2D2254C0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381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СпускоГрад  /  DATA MATCH</a:t>
            </a:r>
          </a:p>
        </p:txBody>
      </p:sp>
      <p:sp>
        <p:nvSpPr>
          <p:cNvPr id="3" name="03">
            <a:extLst xmlns:a="http://schemas.openxmlformats.org/drawingml/2006/main">
              <a:ext uri="{FF2B5EF4-FFF2-40B4-BE49-F238E27FC236}">
                <a16:creationId xmlns:a16="http://schemas.microsoft.com/office/drawing/2014/main" id="{76565A4E-1085-42D4-8303-B4832DE1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9F56AD-A602-4BEF-8424-45F047F8E257}"/>
              </a:ext>
            </a:extLst>
          </p:cNvPr>
          <p:cNvGraphicFramePr/>
          <p:nvPr/>
        </p:nvGraphicFramePr>
        <p:xfrm>
          <a:off xmlns:a="http://schemas.openxmlformats.org/drawingml/2006/main" x="523875" y="1419225"/>
          <a:ext xmlns:a="http://schemas.openxmlformats.org/drawingml/2006/main" cx="63055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67250"/>
                <a:gridCol w="1638300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Часть модели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Вклад, бил.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Базовый уровень зоны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156.5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Сезонная поправка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33.1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Месяц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22.3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Соперник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19.5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Номер матча в сезоне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16.2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День недели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15.6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Время начала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2.9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  <p:sp>
        <p:nvSpPr>
          <p:cNvPr id="5" name="План продаж по зонам&#10;и сезону задаёт основу">
            <a:extLst xmlns:a="http://schemas.openxmlformats.org/drawingml/2006/main">
              <a:ext uri="{FF2B5EF4-FFF2-40B4-BE49-F238E27FC236}">
                <a16:creationId xmlns:a16="http://schemas.microsoft.com/office/drawing/2014/main" id="{198B9F6E-0C5B-4393-929E-82A715E7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543050"/>
            <a:ext cx="4476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B62730"/>
                </a:solidFill>
                <a:latin typeface="Arial"/>
                <a:ea typeface="Arial"/>
                <a:cs typeface="Arial"/>
              </a:rPr>
              <a:t>План продаж по зонам</a:t>
            </a:r>
          </a:p>
          <a:p xmlns:a="http://schemas.openxmlformats.org/drawingml/2006/main">
            <a:pPr>
              <a:defRPr sz="2550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B62730"/>
                </a:solidFill>
                <a:latin typeface="Arial"/>
                <a:ea typeface="Arial"/>
                <a:cs typeface="Arial"/>
              </a:rPr>
              <a:t>и сезону задаёт основу</a:t>
            </a:r>
          </a:p>
        </p:txBody>
      </p:sp>
      <p:sp>
        <p:nvSpPr>
          <p:cNvPr id="6" name="Соперник и день недели&#10;уточняют прогноз&#10;умере">
            <a:extLst xmlns:a="http://schemas.openxmlformats.org/drawingml/2006/main">
              <a:ext uri="{FF2B5EF4-FFF2-40B4-BE49-F238E27FC236}">
                <a16:creationId xmlns:a16="http://schemas.microsoft.com/office/drawing/2014/main" id="{5561A95D-47E6-4246-AB18-1450E1FF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924175"/>
            <a:ext cx="4476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Соперник и день недели</a:t>
            </a:r>
          </a:p>
          <a:p xmlns:a="http://schemas.openxmlformats.org/drawingml/2006/main">
            <a:pPr>
              <a:defRPr sz="2175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уточняют прогноз</a:t>
            </a:r>
          </a:p>
          <a:p xmlns:a="http://schemas.openxmlformats.org/drawingml/2006/main">
            <a:pPr>
              <a:defRPr sz="2175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умеренными поправками</a:t>
            </a:r>
          </a:p>
        </p:txBody>
      </p:sp>
      <p:sp>
        <p:nvSpPr>
          <p:cNvPr id="7" name="Объём зон различается.&#10;Это не рейтинг популяр">
            <a:extLst xmlns:a="http://schemas.openxmlformats.org/drawingml/2006/main">
              <a:ext uri="{FF2B5EF4-FFF2-40B4-BE49-F238E27FC236}">
                <a16:creationId xmlns:a16="http://schemas.microsoft.com/office/drawing/2014/main" id="{AFA14966-5E4B-4BC7-B9C9-719A4533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638675"/>
            <a:ext cx="4476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Объём зон различается.</a:t>
            </a:r>
          </a:p>
          <a:p xmlns:a="http://schemas.openxmlformats.org/drawingml/2006/main">
            <a:pPr>
              <a:defRPr sz="180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Это не рейтинг популярности</a:t>
            </a:r>
          </a:p>
          <a:p xmlns:a="http://schemas.openxmlformats.org/drawingml/2006/main">
            <a:pPr>
              <a:defRPr sz="180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и не эффект рекламы</a:t>
            </a:r>
          </a:p>
        </p:txBody>
      </p:sp>
      <p:sp>
        <p:nvSpPr>
          <p:cNvPr id="8" name="Средний абсолютный вклад частей фиксированной">
            <a:extLst xmlns:a="http://schemas.openxmlformats.org/drawingml/2006/main">
              <a:ext uri="{FF2B5EF4-FFF2-40B4-BE49-F238E27FC236}">
                <a16:creationId xmlns:a16="http://schemas.microsoft.com/office/drawing/2014/main" id="{818F5690-8A4F-468A-A08C-CA0B0DBB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24550"/>
            <a:ext cx="11144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Средний абсолютный вклад частей фиксированной модели на 85 матчах, до своих продаж</a:t>
            </a:r>
          </a:p>
        </p:txBody>
      </p:sp>
    </p:spTree>
    <p:extLst>
      <p:ext uri="{BB962C8B-B14F-4D97-AF65-F5344CB8AC3E}">
        <p14:creationId xmlns:p14="http://schemas.microsoft.com/office/powerpoint/2010/main" val="2729802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Как читать оценку качества">
            <a:extLst xmlns:a="http://schemas.openxmlformats.org/drawingml/2006/main">
              <a:ext uri="{FF2B5EF4-FFF2-40B4-BE49-F238E27FC236}">
                <a16:creationId xmlns:a16="http://schemas.microsoft.com/office/drawing/2014/main" id="{D86359C2-C0C3-4EB4-B39F-BF956BCA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29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Как читать оценку качества</a:t>
            </a:r>
          </a:p>
        </p:txBody>
      </p:sp>
      <p:sp>
        <p:nvSpPr>
          <p:cNvPr id="2" name="СпускоГрад  /  DATA MATCH">
            <a:extLst xmlns:a="http://schemas.openxmlformats.org/drawingml/2006/main">
              <a:ext uri="{FF2B5EF4-FFF2-40B4-BE49-F238E27FC236}">
                <a16:creationId xmlns:a16="http://schemas.microsoft.com/office/drawing/2014/main" id="{783539A6-BA92-4065-8396-4FEEDCD40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381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СпускоГрад  /  DATA MATCH</a:t>
            </a:r>
          </a:p>
        </p:txBody>
      </p:sp>
      <p:sp>
        <p:nvSpPr>
          <p:cNvPr id="3" name="04">
            <a:extLst xmlns:a="http://schemas.openxmlformats.org/drawingml/2006/main">
              <a:ext uri="{FF2B5EF4-FFF2-40B4-BE49-F238E27FC236}">
                <a16:creationId xmlns:a16="http://schemas.microsoft.com/office/drawing/2014/main" id="{FF632A44-86E2-4B05-B52E-31C3BDD2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9C147-1517-4BD2-9AB0-61B8CECD98BE}"/>
              </a:ext>
            </a:extLst>
          </p:cNvPr>
          <p:cNvGraphicFramePr/>
          <p:nvPr/>
        </p:nvGraphicFramePr>
        <p:xfrm>
          <a:off xmlns:a="http://schemas.openxmlformats.org/drawingml/2006/main" x="523875" y="1400175"/>
          <a:ext xmlns:a="http://schemas.openxmlformats.org/drawingml/2006/main" cx="1114425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9429750"/>
              </a:tblGrid>
              <a:tr h="6191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Показатель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Простыми словами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RMSE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Ошибка прогноза в билетах. Меньше - лучше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Ошибка одного окна: RMSE смеси двух сценариев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S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Наш сводный показатель трёх окон для выбора модели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  <p:sp>
        <p:nvSpPr>
          <p:cNvPr id="5" name="S = 0.25 × R₁ + 0.25 × R₂ + 0.50 × R₃">
            <a:extLst xmlns:a="http://schemas.openxmlformats.org/drawingml/2006/main">
              <a:ext uri="{FF2B5EF4-FFF2-40B4-BE49-F238E27FC236}">
                <a16:creationId xmlns:a16="http://schemas.microsoft.com/office/drawing/2014/main" id="{9A6BBF32-1600-470D-8B63-D091A0A8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95750"/>
            <a:ext cx="11144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62730"/>
                </a:solidFill>
                <a:latin typeface="Arial"/>
                <a:ea typeface="Arial"/>
                <a:cs typeface="Arial"/>
              </a:rPr>
              <a:t>S = 0.25 × R₁ + 0.25 × R₂ + 0.50 × R₃</a:t>
            </a:r>
          </a:p>
        </p:txBody>
      </p:sp>
      <p:sp>
        <p:nvSpPr>
          <p:cNvPr id="6" name="R смешивает квадраты ошибок: 11/17 без продаж">
            <a:extLst xmlns:a="http://schemas.openxmlformats.org/drawingml/2006/main">
              <a:ext uri="{FF2B5EF4-FFF2-40B4-BE49-F238E27FC236}">
                <a16:creationId xmlns:a16="http://schemas.microsoft.com/office/drawing/2014/main" id="{466BB357-5542-4FBE-8EAD-D766FB91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52975"/>
            <a:ext cx="11144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R смешивает квадраты ошибок: 11/17 без продаж и 6/17 с продажами</a:t>
            </a:r>
          </a:p>
        </p:txBody>
      </p:sp>
      <p:sp>
        <p:nvSpPr>
          <p:cNvPr id="7" name="Окна: M035–051, M052–068, M069–085. История т">
            <a:extLst xmlns:a="http://schemas.openxmlformats.org/drawingml/2006/main">
              <a:ext uri="{FF2B5EF4-FFF2-40B4-BE49-F238E27FC236}">
                <a16:creationId xmlns:a16="http://schemas.microsoft.com/office/drawing/2014/main" id="{43E40D1D-92BC-4C4B-ABD8-FA09F86F7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24475"/>
            <a:ext cx="11144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Окна: M035–051, M052–068, M069–085. История только до окна и отсечки</a:t>
            </a:r>
          </a:p>
          <a:p xmlns:a="http://schemas.openxmlformats.org/drawingml/2006/main">
            <a:pPr>
              <a:defRPr sz="180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Без продаж: утро открытия; с продажами: O + 7 / O + 27, веса 1/3 / 2/3</a:t>
            </a:r>
          </a:p>
        </p:txBody>
      </p:sp>
      <p:sp>
        <p:nvSpPr>
          <p:cNvPr id="8" name="Все окна участвовали в выборе. Независимого т">
            <a:extLst xmlns:a="http://schemas.openxmlformats.org/drawingml/2006/main">
              <a:ext uri="{FF2B5EF4-FFF2-40B4-BE49-F238E27FC236}">
                <a16:creationId xmlns:a16="http://schemas.microsoft.com/office/drawing/2014/main" id="{8FAAC701-5123-4AC4-B980-6EBE9037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057900"/>
            <a:ext cx="1114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B62730"/>
                </a:solidFill>
                <a:latin typeface="Arial"/>
                <a:ea typeface="Arial"/>
                <a:cs typeface="Arial"/>
              </a:rPr>
              <a:t>Все окна участвовали в выборе. Независимого теста нет</a:t>
            </a:r>
          </a:p>
        </p:txBody>
      </p:sp>
    </p:spTree>
    <p:extLst>
      <p:ext uri="{BB962C8B-B14F-4D97-AF65-F5344CB8AC3E}">
        <p14:creationId xmlns:p14="http://schemas.microsoft.com/office/powerpoint/2010/main" val="635185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Качество против среднего по зоне">
            <a:extLst xmlns:a="http://schemas.openxmlformats.org/drawingml/2006/main">
              <a:ext uri="{FF2B5EF4-FFF2-40B4-BE49-F238E27FC236}">
                <a16:creationId xmlns:a16="http://schemas.microsoft.com/office/drawing/2014/main" id="{0B3C15A0-91F7-4C16-AA13-80FC8FA6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29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Качество против среднего по зоне</a:t>
            </a:r>
          </a:p>
        </p:txBody>
      </p:sp>
      <p:sp>
        <p:nvSpPr>
          <p:cNvPr id="2" name="СпускоГрад  /  DATA MATCH">
            <a:extLst xmlns:a="http://schemas.openxmlformats.org/drawingml/2006/main">
              <a:ext uri="{FF2B5EF4-FFF2-40B4-BE49-F238E27FC236}">
                <a16:creationId xmlns:a16="http://schemas.microsoft.com/office/drawing/2014/main" id="{75245AB6-38B3-456F-8C4F-8ADB652B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381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СпускоГрад  /  DATA MATCH</a:t>
            </a:r>
          </a:p>
        </p:txBody>
      </p:sp>
      <p:sp>
        <p:nvSpPr>
          <p:cNvPr id="3" name="05">
            <a:extLst xmlns:a="http://schemas.openxmlformats.org/drawingml/2006/main">
              <a:ext uri="{FF2B5EF4-FFF2-40B4-BE49-F238E27FC236}">
                <a16:creationId xmlns:a16="http://schemas.microsoft.com/office/drawing/2014/main" id="{6AE34528-8080-4D83-9740-F7C5A2B5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S 126.736  против 139.155">
            <a:extLst xmlns:a="http://schemas.openxmlformats.org/drawingml/2006/main">
              <a:ext uri="{FF2B5EF4-FFF2-40B4-BE49-F238E27FC236}">
                <a16:creationId xmlns:a16="http://schemas.microsoft.com/office/drawing/2014/main" id="{D3FA7EE5-CAD1-4376-ADB9-30EA0205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14450"/>
            <a:ext cx="8477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75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B62730"/>
                </a:solidFill>
                <a:latin typeface="Arial"/>
                <a:ea typeface="Arial"/>
                <a:cs typeface="Arial"/>
              </a:rPr>
              <a:t>S 126.736  против 139.155</a:t>
            </a:r>
          </a:p>
        </p:txBody>
      </p:sp>
      <p:sp>
        <p:nvSpPr>
          <p:cNvPr id="5" name="−8.92%">
            <a:extLst xmlns:a="http://schemas.openxmlformats.org/drawingml/2006/main">
              <a:ext uri="{FF2B5EF4-FFF2-40B4-BE49-F238E27FC236}">
                <a16:creationId xmlns:a16="http://schemas.microsoft.com/office/drawing/2014/main" id="{5FB34714-F00F-415F-A4D5-BF3E568E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333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B62730"/>
                </a:solidFill>
                <a:latin typeface="Arial"/>
                <a:ea typeface="Arial"/>
                <a:cs typeface="Arial"/>
              </a:rPr>
              <a:t>−8.92%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FEF613-9A06-48CE-B9E4-C5CE446203CE}"/>
              </a:ext>
            </a:extLst>
          </p:cNvPr>
          <p:cNvGraphicFramePr/>
          <p:nvPr/>
        </p:nvGraphicFramePr>
        <p:xfrm>
          <a:off xmlns:a="http://schemas.openxmlformats.org/drawingml/2006/main" x="523875" y="2143125"/>
          <a:ext xmlns:a="http://schemas.openxmlformats.org/drawingml/2006/main" cx="11144250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1465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6858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Окно</a:t>
                      </a:r>
                    </a:p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 без / с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Без: B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Без: M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С: B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С: M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R: B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R: M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M035–M051</a:t>
                      </a:r>
                    </a:p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 17 / 10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156.0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156.3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151.4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136.5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154.4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149.6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M052–M068</a:t>
                      </a:r>
                    </a:p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 17 / 17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105.4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73.7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102.9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67.0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104.5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71.4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M069–M085</a:t>
                      </a:r>
                    </a:p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 17 / 9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157.1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150.9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132.3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127.2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148.8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143.0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  <p:sp>
        <p:nvSpPr>
          <p:cNvPr id="7" name="B - среднее по зоне, M - модель: сравнение вн">
            <a:extLst xmlns:a="http://schemas.openxmlformats.org/drawingml/2006/main">
              <a:ext uri="{FF2B5EF4-FFF2-40B4-BE49-F238E27FC236}">
                <a16:creationId xmlns:a16="http://schemas.microsoft.com/office/drawing/2014/main" id="{59BEA85C-276F-4FF9-A6CB-3C36A1D3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991100"/>
            <a:ext cx="1114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B - среднее по зоне, M - модель: сравнение внутри одного сценария</a:t>
            </a:r>
          </a:p>
        </p:txBody>
      </p:sp>
      <p:sp>
        <p:nvSpPr>
          <p:cNvPr id="8" name="Сценарии между собой не измеряют пользу ранни">
            <a:extLst xmlns:a="http://schemas.openxmlformats.org/drawingml/2006/main">
              <a:ext uri="{FF2B5EF4-FFF2-40B4-BE49-F238E27FC236}">
                <a16:creationId xmlns:a16="http://schemas.microsoft.com/office/drawing/2014/main" id="{42270E62-AC3A-41F9-8150-F65A7809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29250"/>
            <a:ext cx="11144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Сценарии между собой не измеряют пользу ранних продаж</a:t>
            </a:r>
          </a:p>
        </p:txBody>
      </p:sp>
      <p:sp>
        <p:nvSpPr>
          <p:cNvPr id="9" name="R = √(11/17 × MSEбез + 6/17 × MSEс); S = 0.25">
            <a:extLst xmlns:a="http://schemas.openxmlformats.org/drawingml/2006/main">
              <a:ext uri="{FF2B5EF4-FFF2-40B4-BE49-F238E27FC236}">
                <a16:creationId xmlns:a16="http://schemas.microsoft.com/office/drawing/2014/main" id="{35D517E2-2E8E-496B-9243-7E0D3348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0550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R = √(11/17 × MSEбез + 6/17 × MSEс); S = 0.25R₁ + 0.25R₂ + 0.50R₃</a:t>
            </a:r>
          </a:p>
        </p:txBody>
      </p:sp>
    </p:spTree>
    <p:extLst>
      <p:ext uri="{BB962C8B-B14F-4D97-AF65-F5344CB8AC3E}">
        <p14:creationId xmlns:p14="http://schemas.microsoft.com/office/powerpoint/2010/main" val="15679786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Качество по ценовым зонам">
            <a:extLst xmlns:a="http://schemas.openxmlformats.org/drawingml/2006/main">
              <a:ext uri="{FF2B5EF4-FFF2-40B4-BE49-F238E27FC236}">
                <a16:creationId xmlns:a16="http://schemas.microsoft.com/office/drawing/2014/main" id="{24BD2CF7-29F5-4F7F-BED7-F1BCC1076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29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Качество по ценовым зонам</a:t>
            </a:r>
          </a:p>
        </p:txBody>
      </p:sp>
      <p:sp>
        <p:nvSpPr>
          <p:cNvPr id="2" name="СпускоГрад  /  DATA MATCH">
            <a:extLst xmlns:a="http://schemas.openxmlformats.org/drawingml/2006/main">
              <a:ext uri="{FF2B5EF4-FFF2-40B4-BE49-F238E27FC236}">
                <a16:creationId xmlns:a16="http://schemas.microsoft.com/office/drawing/2014/main" id="{8AC32CCA-B45C-480D-B67A-D433D663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381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СпускоГрад  /  DATA MATCH</a:t>
            </a:r>
          </a:p>
        </p:txBody>
      </p:sp>
      <p:sp>
        <p:nvSpPr>
          <p:cNvPr id="3" name="06">
            <a:extLst xmlns:a="http://schemas.openxmlformats.org/drawingml/2006/main">
              <a:ext uri="{FF2B5EF4-FFF2-40B4-BE49-F238E27FC236}">
                <a16:creationId xmlns:a16="http://schemas.microsoft.com/office/drawing/2014/main" id="{468003D9-97E6-4EF8-A001-EBF6DED9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S зоны: baseline / модель">
            <a:extLst xmlns:a="http://schemas.openxmlformats.org/drawingml/2006/main">
              <a:ext uri="{FF2B5EF4-FFF2-40B4-BE49-F238E27FC236}">
                <a16:creationId xmlns:a16="http://schemas.microsoft.com/office/drawing/2014/main" id="{2FC1946C-8F97-407D-8A5C-E16D442D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23975"/>
            <a:ext cx="547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S зоны: baseline / модель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A80025F1-B387-491B-9A82-283C706EEA61}"/>
              </a:ext>
            </a:extLst>
          </p:cNvPr>
          <p:cNvGraphicFramePr/>
          <p:nvPr/>
        </p:nvGraphicFramePr>
        <p:xfrm>
          <a:off xmlns:a="http://schemas.openxmlformats.org/drawingml/2006/main" x="523875" y="1790700"/>
          <a:ext xmlns:a="http://schemas.openxmlformats.org/drawingml/2006/main" cx="5391150" cy="39624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dcf4fc5465b46f1"/>
          </a:graphicData>
        </a:graphic>
      </p:graphicFrame>
      <p:sp>
        <p:nvSpPr>
          <p:cNvPr id="6" name="RMSE сценариев: baseline / модель">
            <a:extLst xmlns:a="http://schemas.openxmlformats.org/drawingml/2006/main">
              <a:ext uri="{FF2B5EF4-FFF2-40B4-BE49-F238E27FC236}">
                <a16:creationId xmlns:a16="http://schemas.microsoft.com/office/drawing/2014/main" id="{096AACA2-9CD1-4265-B4A6-ED6F5ABA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323975"/>
            <a:ext cx="542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RMSE сценариев: baseline / модель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867B4-9BC5-4530-A79C-6E6CF091224A}"/>
              </a:ext>
            </a:extLst>
          </p:cNvPr>
          <p:cNvGraphicFramePr/>
          <p:nvPr/>
        </p:nvGraphicFramePr>
        <p:xfrm>
          <a:off xmlns:a="http://schemas.openxmlformats.org/drawingml/2006/main" x="6276975" y="1781175"/>
          <a:ext xmlns:a="http://schemas.openxmlformats.org/drawingml/2006/main" cx="5391150" cy="3600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23900"/>
                <a:gridCol w="2333625"/>
                <a:gridCol w="2333625"/>
              </a:tblGrid>
              <a:tr h="400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Зона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Без продаж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 продажами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42.7 / 56.2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43.6 / 49.1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52.6 / 52.4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44.2 / 41.3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70.2 / 77.9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61.6 / 67.7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127.1 / 127.0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125.8 / 115.8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135.5 / 129.2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111.0 / 96.9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285.5 / 256.1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253.3 / 198.0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174.0 / 162.5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146.2 / 131.2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67.5 / 59.6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68.0 / 53.1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  <p:sp>
        <p:nvSpPr>
          <p:cNvPr id="8" name="На зону: n без / с = 51 / 36">
            <a:extLst xmlns:a="http://schemas.openxmlformats.org/drawingml/2006/main">
              <a:ext uri="{FF2B5EF4-FFF2-40B4-BE49-F238E27FC236}">
                <a16:creationId xmlns:a16="http://schemas.microsoft.com/office/drawing/2014/main" id="{204DE254-9A85-491C-8ADC-ACB3804B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5534025"/>
            <a:ext cx="539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На зону: n без / с = 51 / 36</a:t>
            </a:r>
          </a:p>
        </p:txBody>
      </p:sp>
      <p:sp>
        <p:nvSpPr>
          <p:cNvPr id="9" name="Модель хуже в зонах 1 и 3; наибольшая S у зон">
            <a:extLst xmlns:a="http://schemas.openxmlformats.org/drawingml/2006/main">
              <a:ext uri="{FF2B5EF4-FFF2-40B4-BE49-F238E27FC236}">
                <a16:creationId xmlns:a16="http://schemas.microsoft.com/office/drawing/2014/main" id="{DF5F6465-ECF6-40E3-A12B-D5553832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62650"/>
            <a:ext cx="11144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62730"/>
                </a:solidFill>
                <a:latin typeface="Arial"/>
                <a:ea typeface="Arial"/>
                <a:cs typeface="Arial"/>
              </a:rPr>
              <a:t>Модель хуже в зонах 1 и 3; наибольшая S у зоны 6</a:t>
            </a:r>
          </a:p>
        </p:txBody>
      </p:sp>
    </p:spTree>
    <p:extLst>
      <p:ext uri="{BB962C8B-B14F-4D97-AF65-F5344CB8AC3E}">
        <p14:creationId xmlns:p14="http://schemas.microsoft.com/office/powerpoint/2010/main" val="45935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Ошибки по соперникам и дням недели">
            <a:extLst xmlns:a="http://schemas.openxmlformats.org/drawingml/2006/main">
              <a:ext uri="{FF2B5EF4-FFF2-40B4-BE49-F238E27FC236}">
                <a16:creationId xmlns:a16="http://schemas.microsoft.com/office/drawing/2014/main" id="{5DB76144-751F-4E90-A0A1-65355039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29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Ошибки по соперникам и дням недели</a:t>
            </a:r>
          </a:p>
        </p:txBody>
      </p:sp>
      <p:sp>
        <p:nvSpPr>
          <p:cNvPr id="2" name="СпускоГрад  /  DATA MATCH">
            <a:extLst xmlns:a="http://schemas.openxmlformats.org/drawingml/2006/main">
              <a:ext uri="{FF2B5EF4-FFF2-40B4-BE49-F238E27FC236}">
                <a16:creationId xmlns:a16="http://schemas.microsoft.com/office/drawing/2014/main" id="{0D0312D4-CF45-4625-B5A7-2FA0EB8C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381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СпускоГрад  /  DATA MATCH</a:t>
            </a:r>
          </a:p>
        </p:txBody>
      </p:sp>
      <p:sp>
        <p:nvSpPr>
          <p:cNvPr id="3" name="07">
            <a:extLst xmlns:a="http://schemas.openxmlformats.org/drawingml/2006/main">
              <a:ext uri="{FF2B5EF4-FFF2-40B4-BE49-F238E27FC236}">
                <a16:creationId xmlns:a16="http://schemas.microsoft.com/office/drawing/2014/main" id="{078FA940-B8EC-49D2-B6A5-464474DC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Соперники: примеры групп">
            <a:extLst xmlns:a="http://schemas.openxmlformats.org/drawingml/2006/main">
              <a:ext uri="{FF2B5EF4-FFF2-40B4-BE49-F238E27FC236}">
                <a16:creationId xmlns:a16="http://schemas.microsoft.com/office/drawing/2014/main" id="{5949A9D3-6CDE-45EB-A198-6232B76A4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620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Соперники: примеры групп</a:t>
            </a:r>
          </a:p>
        </p:txBody>
      </p:sp>
      <p:sp>
        <p:nvSpPr>
          <p:cNvPr id="5" name="Все дни недели">
            <a:extLst xmlns:a="http://schemas.openxmlformats.org/drawingml/2006/main">
              <a:ext uri="{FF2B5EF4-FFF2-40B4-BE49-F238E27FC236}">
                <a16:creationId xmlns:a16="http://schemas.microsoft.com/office/drawing/2014/main" id="{67668052-1A80-4C6F-8E61-88C097F4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362075"/>
            <a:ext cx="5381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Все дни недели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047CD6-3425-49BA-B82D-D247CA33803F}"/>
              </a:ext>
            </a:extLst>
          </p:cNvPr>
          <p:cNvGraphicFramePr/>
          <p:nvPr/>
        </p:nvGraphicFramePr>
        <p:xfrm>
          <a:off xmlns:a="http://schemas.openxmlformats.org/drawingml/2006/main" x="523875" y="1866900"/>
          <a:ext xmlns:a="http://schemas.openxmlformats.org/drawingml/2006/main" cx="54102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57350"/>
                <a:gridCol w="857250"/>
                <a:gridCol w="1447800"/>
                <a:gridCol w="1447800"/>
              </a:tblGrid>
              <a:tr h="533400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Группа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 без / с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Без: B / M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С: B / M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Динамо Мск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2 / 1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222.4 / 217.6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249.5 / 179.4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Динамо Мн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2 / 1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190.6 / 183.8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185.6 / 169.5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Нефтехимик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3 / 2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171.3 / 175.0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149.7 / 155.7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Ак Барс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3 / 1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150.9 / 153.4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78.0 / 99.5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B70B85-C8F2-4113-B29C-22515D1E9218}"/>
              </a:ext>
            </a:extLst>
          </p:cNvPr>
          <p:cNvGraphicFramePr/>
          <p:nvPr/>
        </p:nvGraphicFramePr>
        <p:xfrm>
          <a:off xmlns:a="http://schemas.openxmlformats.org/drawingml/2006/main" x="6315075" y="1866900"/>
          <a:ext xmlns:a="http://schemas.openxmlformats.org/drawingml/2006/main" cx="5381625" cy="3733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57250"/>
                <a:gridCol w="914400"/>
                <a:gridCol w="1809750"/>
                <a:gridCol w="1800225"/>
              </a:tblGrid>
              <a:tr h="4667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День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 без / с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Без: B / M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С: B / M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Пн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10 / 6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152.4 / 147.0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110.6 / 97.3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Вт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3 / 3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138.3 / 125.6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137.8 / 108.7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Ср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11 / 7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143.5 / 126.5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147.9 / 112.9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Чт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7 / 5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136.9 / 126.9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129.3 / 117.8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Пт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7 / 5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148.2 / 132.0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117.2 / 94.3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Сб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7 / 5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134.0 / 135.8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120.2 / 106.4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Вс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6 / 5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126.0 / 123.3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108.6 / 106.0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  <p:sp>
        <p:nvSpPr>
          <p:cNvPr id="8" name="n - уникальные матчи; B / M - baseline / моде">
            <a:extLst xmlns:a="http://schemas.openxmlformats.org/drawingml/2006/main">
              <a:ext uri="{FF2B5EF4-FFF2-40B4-BE49-F238E27FC236}">
                <a16:creationId xmlns:a16="http://schemas.microsoft.com/office/drawing/2014/main" id="{F028C5A2-822F-481A-A028-05FF1737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829175"/>
            <a:ext cx="542925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n - уникальные матчи; B / M - baseline / модель</a:t>
            </a:r>
          </a:p>
          <a:p xmlns:a="http://schemas.openxmlformats.org/drawingml/2006/main">
            <a:pPr>
              <a:defRPr sz="1875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Соперники: n 1–3 в показанных группах</a:t>
            </a:r>
          </a:p>
          <a:p xmlns:a="http://schemas.openxmlformats.org/drawingml/2006/main">
            <a:pPr>
              <a:defRPr sz="1875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Это наблюдение, не доказательство причины</a:t>
            </a:r>
          </a:p>
        </p:txBody>
      </p:sp>
      <p:sp>
        <p:nvSpPr>
          <p:cNvPr id="9" name="Групповые RMSE объединяют окна без весов S. С">
            <a:extLst xmlns:a="http://schemas.openxmlformats.org/drawingml/2006/main">
              <a:ext uri="{FF2B5EF4-FFF2-40B4-BE49-F238E27FC236}">
                <a16:creationId xmlns:a16="http://schemas.microsoft.com/office/drawing/2014/main" id="{E6DDC68C-FD5E-46C0-8ED5-0DAB0D5B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038850"/>
            <a:ext cx="1114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Групповые RMSE объединяют окна без весов S. Срезы 27 / 7: веса 2/3 и 1/3</a:t>
            </a:r>
          </a:p>
        </p:txBody>
      </p:sp>
    </p:spTree>
    <p:extLst>
      <p:ext uri="{BB962C8B-B14F-4D97-AF65-F5344CB8AC3E}">
        <p14:creationId xmlns:p14="http://schemas.microsoft.com/office/powerpoint/2010/main" val="16065518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Альтернативы и ограничения">
            <a:extLst xmlns:a="http://schemas.openxmlformats.org/drawingml/2006/main">
              <a:ext uri="{FF2B5EF4-FFF2-40B4-BE49-F238E27FC236}">
                <a16:creationId xmlns:a16="http://schemas.microsoft.com/office/drawing/2014/main" id="{CFDE520C-40EC-460E-9561-DD6FB4A2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29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Альтернативы и ограничения</a:t>
            </a:r>
          </a:p>
        </p:txBody>
      </p:sp>
      <p:sp>
        <p:nvSpPr>
          <p:cNvPr id="2" name="СпускоГрад  /  DATA MATCH">
            <a:extLst xmlns:a="http://schemas.openxmlformats.org/drawingml/2006/main">
              <a:ext uri="{FF2B5EF4-FFF2-40B4-BE49-F238E27FC236}">
                <a16:creationId xmlns:a16="http://schemas.microsoft.com/office/drawing/2014/main" id="{5E7DCB4A-BD66-40F0-A2DC-1D8A9DB2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381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СпускоГрад  /  DATA MATCH</a:t>
            </a:r>
          </a:p>
        </p:txBody>
      </p:sp>
      <p:sp>
        <p:nvSpPr>
          <p:cNvPr id="3" name="08">
            <a:extLst xmlns:a="http://schemas.openxmlformats.org/drawingml/2006/main">
              <a:ext uri="{FF2B5EF4-FFF2-40B4-BE49-F238E27FC236}">
                <a16:creationId xmlns:a16="http://schemas.microsoft.com/office/drawing/2014/main" id="{4D36E159-EBF4-4CD3-8BDE-48F9D2E3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CBEC9-134F-4BA6-9D71-1BA5D99C20A0}"/>
              </a:ext>
            </a:extLst>
          </p:cNvPr>
          <p:cNvGraphicFramePr/>
          <p:nvPr/>
        </p:nvGraphicFramePr>
        <p:xfrm>
          <a:off xmlns:a="http://schemas.openxmlformats.org/drawingml/2006/main" x="523875" y="1419225"/>
          <a:ext xmlns:a="http://schemas.openxmlformats.org/drawingml/2006/main" cx="11144250" cy="2905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762625"/>
                <a:gridCol w="1476375"/>
                <a:gridCol w="3905250"/>
              </a:tblGrid>
              <a:tr h="5810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Вариант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Решение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Принятая Ridge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126.736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Сохранена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+ КХЛ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129.706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Хуже; лучше 1 окно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+ покупки абонементов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127.028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Хуже; лучше 1 окно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Относительная Ridge + подбор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125.961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Выигрыш 0.61%, лучше 1 окно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  <p:sp>
        <p:nvSpPr>
          <p:cNvPr id="5" name="Замена требовала: ≥2% выигрыша, ≥2 лучших око">
            <a:extLst xmlns:a="http://schemas.openxmlformats.org/drawingml/2006/main">
              <a:ext uri="{FF2B5EF4-FFF2-40B4-BE49-F238E27FC236}">
                <a16:creationId xmlns:a16="http://schemas.microsoft.com/office/drawing/2014/main" id="{D07ACCF1-26E0-44D9-B42C-BF3D3075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629150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B62730"/>
                </a:solidFill>
                <a:latin typeface="Arial"/>
                <a:ea typeface="Arial"/>
                <a:cs typeface="Arial"/>
              </a:rPr>
              <a:t>Замена требовала: ≥2% выигрыша, ≥2 лучших окон, защиту сценариев</a:t>
            </a:r>
          </a:p>
        </p:txBody>
      </p:sp>
      <p:sp>
        <p:nvSpPr>
          <p:cNvPr id="6" name="Нет независимого теста; hidden RMSE неизвесте">
            <a:extLst xmlns:a="http://schemas.openxmlformats.org/drawingml/2006/main">
              <a:ext uri="{FF2B5EF4-FFF2-40B4-BE49-F238E27FC236}">
                <a16:creationId xmlns:a16="http://schemas.microsoft.com/office/drawing/2014/main" id="{C0916357-9135-4533-8670-8A6D792B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57800"/>
            <a:ext cx="111442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Нет независимого теста; hidden RMSE неизвестен</a:t>
            </a:r>
          </a:p>
          <a:p xmlns:a="http://schemas.openxmlformats.org/drawingml/2006/main">
            <a:pPr>
              <a:defRPr sz="195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Исторические абонементы не подставлены из будущего</a:t>
            </a:r>
          </a:p>
          <a:p xmlns:a="http://schemas.openxmlformats.org/drawingml/2006/main">
            <a:pPr>
              <a:defRPr sz="1950" b="0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91F"/>
                </a:solidFill>
                <a:latin typeface="Arial"/>
                <a:ea typeface="Arial"/>
                <a:cs typeface="Arial"/>
              </a:rPr>
              <a:t>Продажи, соперник и день недели не доказывают эффект рекламы</a:t>
            </a:r>
          </a:p>
        </p:txBody>
      </p:sp>
    </p:spTree>
    <p:extLst>
      <p:ext uri="{BB962C8B-B14F-4D97-AF65-F5344CB8AC3E}">
        <p14:creationId xmlns:p14="http://schemas.microsoft.com/office/powerpoint/2010/main" val="515575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Что делать клубу">
            <a:extLst xmlns:a="http://schemas.openxmlformats.org/drawingml/2006/main">
              <a:ext uri="{FF2B5EF4-FFF2-40B4-BE49-F238E27FC236}">
                <a16:creationId xmlns:a16="http://schemas.microsoft.com/office/drawing/2014/main" id="{82B226BB-FC89-41BF-9572-959038E6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29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5191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191F"/>
                </a:solidFill>
                <a:latin typeface="Arial"/>
                <a:ea typeface="Arial"/>
                <a:cs typeface="Arial"/>
              </a:rPr>
              <a:t>Что делать клубу</a:t>
            </a:r>
          </a:p>
        </p:txBody>
      </p:sp>
      <p:sp>
        <p:nvSpPr>
          <p:cNvPr id="2" name="СпускоГрад  /  DATA MATCH">
            <a:extLst xmlns:a="http://schemas.openxmlformats.org/drawingml/2006/main">
              <a:ext uri="{FF2B5EF4-FFF2-40B4-BE49-F238E27FC236}">
                <a16:creationId xmlns:a16="http://schemas.microsoft.com/office/drawing/2014/main" id="{F6A02C34-715A-43D3-B80A-D9BCB2AD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381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СпускоГрад  /  DATA MATCH</a:t>
            </a:r>
          </a:p>
        </p:txBody>
      </p:sp>
      <p:sp>
        <p:nvSpPr>
          <p:cNvPr id="3" name="09">
            <a:extLst xmlns:a="http://schemas.openxmlformats.org/drawingml/2006/main">
              <a:ext uri="{FF2B5EF4-FFF2-40B4-BE49-F238E27FC236}">
                <a16:creationId xmlns:a16="http://schemas.microsoft.com/office/drawing/2014/main" id="{E03ED034-B928-4355-BC32-02A54B51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E0222C-E467-4A4E-962F-A8E24BB1942D}"/>
              </a:ext>
            </a:extLst>
          </p:cNvPr>
          <p:cNvGraphicFramePr/>
          <p:nvPr/>
        </p:nvGraphicFramePr>
        <p:xfrm>
          <a:off xmlns:a="http://schemas.openxmlformats.org/drawingml/2006/main" x="523875" y="1476375"/>
          <a:ext xmlns:a="http://schemas.openxmlformats.org/drawingml/2006/main" cx="11144250" cy="3409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3714750"/>
                <a:gridCol w="3714750"/>
              </a:tblGrid>
              <a:tr h="8524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Наблюдение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Действие клуба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Как проверить</a:t>
                      </a:r>
                    </a:p>
                  </a:txBody>
                  <a:tcPr marL="95250" marR="76200" marT="76200" marB="57150">
                    <a:solidFill>
                      <a:srgbClr val="15191F"/>
                    </a:solidFill>
                  </a:tcPr>
                </a:tc>
              </a:tr>
              <a:tr h="85248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Зона задаёт основную шкалу</a:t>
                      </a:r>
                    </a:p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Сезон уточняет уровень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План обычных билетов</a:t>
                      </a:r>
                    </a:p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по каждой зоне и сезону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План и факт по зонам</a:t>
                      </a:r>
                    </a:p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на следующем периоде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85248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Соперник ~20, день ~16 бил.</a:t>
                      </a:r>
                    </a:p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Типичные поправки модели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Продвижение опирать</a:t>
                      </a:r>
                    </a:p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на прогноз спроса зоны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Кампания с контролем</a:t>
                      </a:r>
                    </a:p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и учётом обычных билетов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  <a:tr h="85248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Зоны 1/3 хуже среднего</a:t>
                      </a:r>
                    </a:p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Наибольшая ошибка в зоне 6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Ручная проверка отклонений</a:t>
                      </a:r>
                    </a:p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Сохранять версии пересчёта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Один набор матчей</a:t>
                      </a:r>
                    </a:p>
                    <a:p>
                      <a:r>
                        <a:rPr sz="1800">
                          <a:solidFill>
                            <a:srgbClr val="15191F"/>
                          </a:solidFill>
                          <a:latin typeface="Arial"/>
                          <a:ea typeface="Arial"/>
                          <a:cs typeface="Arial"/>
                        </a:rPr>
                        <a:t>для сравнения версий</a:t>
                      </a:r>
                    </a:p>
                  </a:txBody>
                  <a:tcPr marL="95250" marR="76200" marT="76200" marB="57150"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  <p:sp>
        <p:nvSpPr>
          <p:cNvPr id="5" name="Соперник и день недели уточняют план. Основу ">
            <a:extLst xmlns:a="http://schemas.openxmlformats.org/drawingml/2006/main">
              <a:ext uri="{FF2B5EF4-FFF2-40B4-BE49-F238E27FC236}">
                <a16:creationId xmlns:a16="http://schemas.microsoft.com/office/drawing/2014/main" id="{57422E12-72C7-4FF5-8812-94CE4134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05425"/>
            <a:ext cx="1114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B6273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B62730"/>
                </a:solidFill>
                <a:latin typeface="Arial"/>
                <a:ea typeface="Arial"/>
                <a:cs typeface="Arial"/>
              </a:rPr>
              <a:t>Соперник и день недели уточняют план. Основу задают зона и сезон</a:t>
            </a:r>
          </a:p>
        </p:txBody>
      </p:sp>
      <p:sp>
        <p:nvSpPr>
          <p:cNvPr id="6" name="Цен в данных нет. Пользу рекламы и пересчётов">
            <a:extLst xmlns:a="http://schemas.openxmlformats.org/drawingml/2006/main">
              <a:ext uri="{FF2B5EF4-FFF2-40B4-BE49-F238E27FC236}">
                <a16:creationId xmlns:a16="http://schemas.microsoft.com/office/drawing/2014/main" id="{68B3A2EC-57BF-4B38-B3D2-B8B06DA4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038850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C6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C68"/>
                </a:solidFill>
                <a:latin typeface="Arial"/>
                <a:ea typeface="Arial"/>
                <a:cs typeface="Arial"/>
              </a:rPr>
              <a:t>Цен в данных нет. Пользу рекламы и пересчётов проверяем отдельным пилотом</a:t>
            </a:r>
          </a:p>
        </p:txBody>
      </p:sp>
    </p:spTree>
    <p:extLst>
      <p:ext uri="{BB962C8B-B14F-4D97-AF65-F5344CB8AC3E}">
        <p14:creationId xmlns:p14="http://schemas.microsoft.com/office/powerpoint/2010/main" val="10986253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2026-10-09T16:47:04.0190000Z</dcterms:created>
  <dcterms:modified xsi:type="dcterms:W3CDTF">2026-10-09T16:47:04.0190000Z</dcterms:modified>
</coreProperties>
</file>