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d99a5804c4d4803" /><Relationship Type="http://schemas.openxmlformats.org/officeDocument/2006/relationships/extended-properties" Target="/docProps/app.xml" Id="R3afe9d62a329402f" /><Relationship Type="http://schemas.openxmlformats.org/officeDocument/2006/relationships/officeDocument" Target="/ppt/presentation.xml" Id="Ra85e29526936435c" /></Relationships>
</file>

<file path=ppt/presentation.xml><?xml version="1.0" encoding="utf-8"?>
<p:presentation xmlns:p="http://schemas.openxmlformats.org/presentationml/2006/main">
  <p:sldMasterIdLst>
    <p:sldMasterId xmlns:r="http://schemas.openxmlformats.org/officeDocument/2006/relationships" id="2147483648" r:id="R26606a01233b4439"/>
  </p:sldMasterIdLst>
  <p:notesMasterIdLst>
    <p:notesMasterId xmlns:r="http://schemas.openxmlformats.org/officeDocument/2006/relationships" r:id="Rac274eae76e6475a"/>
  </p:notesMasterIdLst>
  <p:sldIdLst>
    <p:sldId xmlns:r="http://schemas.openxmlformats.org/officeDocument/2006/relationships" id="256" r:id="R53015e0dc2104a37"/>
    <p:sldId xmlns:r="http://schemas.openxmlformats.org/officeDocument/2006/relationships" id="257" r:id="R3cfd36c527624c45"/>
    <p:sldId xmlns:r="http://schemas.openxmlformats.org/officeDocument/2006/relationships" id="258" r:id="R43310ed5788c4b59"/>
    <p:sldId xmlns:r="http://schemas.openxmlformats.org/officeDocument/2006/relationships" id="259" r:id="R1b53c72d04cd4a18"/>
    <p:sldId xmlns:r="http://schemas.openxmlformats.org/officeDocument/2006/relationships" id="260" r:id="R9f97b0ce8cdb4f24"/>
    <p:sldId xmlns:r="http://schemas.openxmlformats.org/officeDocument/2006/relationships" id="261" r:id="Rae42dd5a8f8c49cd"/>
    <p:sldId xmlns:r="http://schemas.openxmlformats.org/officeDocument/2006/relationships" id="262" r:id="Raafa4b1ad72f4e7a"/>
    <p:sldId xmlns:r="http://schemas.openxmlformats.org/officeDocument/2006/relationships" id="263" r:id="R0e8578e14f5a4dbf"/>
    <p:sldId xmlns:r="http://schemas.openxmlformats.org/officeDocument/2006/relationships" id="264" r:id="R9a0e0ee0613d4f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660923c05c4b37" /><Relationship Type="http://schemas.openxmlformats.org/officeDocument/2006/relationships/slideMaster" Target="/ppt/slideMasters/slideMaster1.xml" Id="R26606a01233b4439" /><Relationship Type="http://schemas.openxmlformats.org/officeDocument/2006/relationships/notesMaster" Target="/ppt/notesMasters/notesMaster1.xml" Id="Rac274eae76e6475a" /><Relationship Type="http://schemas.openxmlformats.org/officeDocument/2006/relationships/presProps" Target="/ppt/presProps.xml" Id="Re600da995c9f4fc6" /><Relationship Type="http://schemas.openxmlformats.org/officeDocument/2006/relationships/tableStyles" Target="/ppt/tableStyles.xml" Id="Rf9b9e24cea834d62" /><Relationship Type="http://schemas.openxmlformats.org/officeDocument/2006/relationships/slide" Target="/ppt/slides/slide1.xml" Id="R53015e0dc2104a37" /><Relationship Type="http://schemas.openxmlformats.org/officeDocument/2006/relationships/slide" Target="/ppt/slides/slide2.xml" Id="R3cfd36c527624c45" /><Relationship Type="http://schemas.openxmlformats.org/officeDocument/2006/relationships/slide" Target="/ppt/slides/slide3.xml" Id="R43310ed5788c4b59" /><Relationship Type="http://schemas.openxmlformats.org/officeDocument/2006/relationships/slide" Target="/ppt/slides/slide4.xml" Id="R1b53c72d04cd4a18" /><Relationship Type="http://schemas.openxmlformats.org/officeDocument/2006/relationships/slide" Target="/ppt/slides/slide5.xml" Id="R9f97b0ce8cdb4f24" /><Relationship Type="http://schemas.openxmlformats.org/officeDocument/2006/relationships/slide" Target="/ppt/slides/slide6.xml" Id="Rae42dd5a8f8c49cd" /><Relationship Type="http://schemas.openxmlformats.org/officeDocument/2006/relationships/slide" Target="/ppt/slides/slide7.xml" Id="Raafa4b1ad72f4e7a" /><Relationship Type="http://schemas.openxmlformats.org/officeDocument/2006/relationships/slide" Target="/ppt/slides/slide8.xml" Id="R0e8578e14f5a4dbf" /><Relationship Type="http://schemas.openxmlformats.org/officeDocument/2006/relationships/slide" Target="/ppt/slides/slide9.xml" Id="R9a0e0ee0613d4f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66ea2337ab45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0b2fc4b2684670" /><Relationship Type="http://schemas.openxmlformats.org/officeDocument/2006/relationships/notesMaster" Target="/ppt/notesMasters/notesMaster1.xml" Id="R5f799cdd100c4d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e6d7f6cca74d09" /><Relationship Type="http://schemas.openxmlformats.org/officeDocument/2006/relationships/notesMaster" Target="/ppt/notesMasters/notesMaster1.xml" Id="Rfb4b407c19d44d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247cb37140447d" /><Relationship Type="http://schemas.openxmlformats.org/officeDocument/2006/relationships/notesMaster" Target="/ppt/notesMasters/notesMaster1.xml" Id="R22b1cfba910745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69fc1c3d944235" /><Relationship Type="http://schemas.openxmlformats.org/officeDocument/2006/relationships/notesMaster" Target="/ppt/notesMasters/notesMaster1.xml" Id="Raaa7271d10cc42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a7a0c9ea2a4c60" /><Relationship Type="http://schemas.openxmlformats.org/officeDocument/2006/relationships/notesMaster" Target="/ppt/notesMasters/notesMaster1.xml" Id="R5616763fab3641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f0c4882b524810" /><Relationship Type="http://schemas.openxmlformats.org/officeDocument/2006/relationships/notesMaster" Target="/ppt/notesMasters/notesMaster1.xml" Id="R9215dbcf7a4645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a447a2158e4a19" /><Relationship Type="http://schemas.openxmlformats.org/officeDocument/2006/relationships/notesMaster" Target="/ppt/notesMasters/notesMaster1.xml" Id="R39c33ed38a96409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e390ee88ff04f78" /><Relationship Type="http://schemas.openxmlformats.org/officeDocument/2006/relationships/notesMaster" Target="/ppt/notesMasters/notesMaster1.xml" Id="Rc887900294b348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2f0002bd4c48bd" /><Relationship Type="http://schemas.openxmlformats.org/officeDocument/2006/relationships/notesMaster" Target="/ppt/notesMasters/notesMaster1.xml" Id="R139ee444d41944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Григорий,0:00–0:25. Мы команда СпускоГрад. Прогнозируем итог обычных билетов по каждой зоне. Цель - обоснованная оценка спроса для планирования продаж.</a:t>
            </a:r>
          </a:p>
          <a:p xmlns:a="http://schemas.openxmlformats.org/drawingml/2006/main">
            <a:r>
              <a:t>Источники: финальный notebook Avangard_ticket_demand.ipynb; локальные audit_results.json, audit_window_results.csv, ERROR_ANALYSIS.md; docs/EXPERIMENTS.md. Сценарная оценка по прямому поручению HANDOFF, не S_plain.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Григорий,0:25–1:00. В истории 85 завершённых домашних матчей; в тесте 17. У 6 будущих матчей продажи открыты,11 ещё без продаж. Абонементы не входят в целевую величину. Никаких внешних данных и сведений о ценах мы не добавляли.</a:t>
            </a:r>
          </a:p>
          <a:p xmlns:a="http://schemas.openxmlformats.org/drawingml/2006/main">
            <a:r>
              <a:t>Источники: финальный notebook Avangard_ticket_demand.ipynb; локальные audit_results.json, audit_window_results.csv, ERROR_ANALYSIS.md; docs/EXPERIMENTS.md. Сценарная оценка по прямому поручению HANDOFF, не S_plain.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Григорий,1:00–1:45. Сначала берём уровень продаж зоны и сезона. Когда игр мало, осторожно приближаем его к общей истории зоны: prior = 8. Ridge - линейная регрессия со штрафом за слишком большие поправки,alpha = 10. С ранними продажами применяем половину поправки темпа. Вес 0.5 закреплён по исторической проверке.</a:t>
            </a:r>
          </a:p>
          <a:p xmlns:a="http://schemas.openxmlformats.org/drawingml/2006/main">
            <a:r>
              <a:t>Источники: финальный notebook Avangard_ticket_demand.ipynb; локальные audit_results.json, audit_window_results.csv, ERROR_ANALYSIS.md; docs/EXPERIMENTS.md. Сценарная оценка по прямому поручению HANDOFF, не S_plain.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Захар,1:45–2:25. Проверяем последовательно три блока по 17 матчей. Для каждого прогнозируемого утра берём только завершённые матчи до начала блока. Ни один матч блока не пополняет обучение. Два среза продаж - повторные наблюдения одного матча, их веса суммируются в 1. Все окна использованы для выбора: отдельного независимого экзамена нет.</a:t>
            </a:r>
          </a:p>
          <a:p xmlns:a="http://schemas.openxmlformats.org/drawingml/2006/main">
            <a:r>
              <a:t>Источники: финальный notebook Avangard_ticket_demand.ipynb; локальные audit_results.json, audit_window_results.csv, ERROR_ANALYSIS.md; docs/EXPERIMENTS.md. Сценарная оценка по прямому поручению HANDOFF, не S_plain.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Захар,2:25–3:15. Baseline - среднее зоны по доступным завершённым матчам. На тех же примерах итоговая S 126.736 против 139.155, снижение 8.92%. Таблица содержит RMSE обоих сценариев и смешанную R каждого окна. Первая проверка без продаж слегка хуже baseline, 0.29 билета: это не универсальный выигрыш. Сценарные S 132.941/143.913 и 114.459/129.748.</a:t>
            </a:r>
          </a:p>
          <a:p xmlns:a="http://schemas.openxmlformats.org/drawingml/2006/main">
            <a:r>
              <a:t>Источники: финальный notebook Avangard_ticket_demand.ipynb; локальные audit_results.json, audit_window_results.csv, ERROR_ANALYSIS.md; docs/EXPERIMENTS.md. Сценарная оценка по прямому поручению HANDOFF, не S_plain.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Захар,3:15–4:00. Слева S каждой зоны по той же формуле, что общая S. Справа диагностическая RMSE по сценариям, матчи равновесны без весов окон. Самая большая абсолютная ошибка у зоны 6; модель снизила её, но в зонах 1 и 3 хуже среднего. Абсолютная ошибка не является процентом заполнения. Размеры одинаковы для всех зон: 51 и 36 уникальных матчей.</a:t>
            </a:r>
          </a:p>
          <a:p xmlns:a="http://schemas.openxmlformats.org/drawingml/2006/main">
            <a:r>
              <a:t>Источники: финальный notebook Avangard_ticket_demand.ipynb; локальные audit_results.json, audit_window_results.csv, ERROR_ANALYSIS.md; docs/EXPERIMENTS.md. Сценарная оценка по прямому поручению HANDOFF, не S_plain.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Всеволод,4:00–4:45. Все значения - диагностическая RMSE с равным весом матчей, а не S. Показываем группы соперников с примерами высокой ошибки и ухудшения, не полный рейтинг.Полная таблица вERROR_ANALYSIS. У соперников всего 1–3 матча в сценарии; нельзя считать это устойчивым эффектом. В субботу без продаж модель немного хуже среднего.</a:t>
            </a:r>
          </a:p>
          <a:p xmlns:a="http://schemas.openxmlformats.org/drawingml/2006/main">
            <a:r>
              <a:t>Источники: финальный notebook Avangard_ticket_demand.ipynb; локальные audit_results.json, audit_window_results.csv, ERROR_ANALYSIS.md; docs/EXPERIMENTS.md. Сценарная оценка по прямому поручению HANDOFF, не S_plain.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Всеволод,4:45–5:20. КХЛ и покупки абонементов проверяли отдельно и не приняли. Их S выше принятой, улучшилось только одно окно. Относительная Ridge с внутренним подбором дала меньшую S, но выигрыш 0.61% ниже порога 2% и лучше лишь одно окно. Мы не называем принятую модель лучшей среди всех чисел.</a:t>
            </a:r>
          </a:p>
          <a:p xmlns:a="http://schemas.openxmlformats.org/drawingml/2006/main">
            <a:r>
              <a:t>Источники: финальный notebook Avangard_ticket_demand.ipynb; локальные audit_results.json, audit_window_results.csv, ERROR_ANALYSIS.md; docs/EXPERIMENTS.md. Сценарная оценка по прямому поручению HANDOFF, не S_plain.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Всеволод,5:20–6:15. До открытия используем прогноз для предварительного плана, после открытия пересчитываем на фиксированных сроках. Там, где ошибки выше, добавляем ручную проверку. Приоритеты продвижения проверяем на контрольной группе. Не обещаем прирост продаж или денег:цены и эффект кампаний не измерялись. Спасибо, готовы к вопросам.</a:t>
            </a:r>
          </a:p>
          <a:p xmlns:a="http://schemas.openxmlformats.org/drawingml/2006/main">
            <a:r>
              <a:t>Источники: финальный notebook Avangard_ticket_demand.ipynb; локальные audit_results.json, audit_window_results.csv, ERROR_ANALYSIS.md; docs/EXPERIMENTS.md. Сценарная оценка по прямому поручению HANDOFF, не S_plain.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5cb93bcc314f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50210ada8e44b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a1bdc3b6e4e4b8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7e03e45c4d64ef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2c6b5ea66cd49f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c1e58cd712749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B9CE36-3079-4AB1-AFF9-015B78974E5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EDB73BE-549F-44F6-B1E4-00A67A77341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EB81BC1-C9C4-4CA6-8FAB-0961A087952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C05D0E-7904-489D-8F45-70883C7B2A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6313C9D-0409-4CE7-97E4-2E44CBCDA00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C5B42EE-7C0C-464A-93E6-73ABCBA0AD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056716-D263-4A12-BE5E-EB9C420F44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1466DCB-676B-4074-A36E-67E511732E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B59671-3B57-434C-94BB-C1A5D86396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2CBBA4-4F20-4553-AFB7-50E53890D5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fbb1798a034e3c" /><Relationship Type="http://schemas.openxmlformats.org/officeDocument/2006/relationships/slideLayout" Target="/ppt/slideLayouts/slideLayout1.xml" Id="Ra7157748723a4e40" /><Relationship Type="http://schemas.openxmlformats.org/officeDocument/2006/relationships/slideLayout" Target="/ppt/slideLayouts/slideLayout2.xml" Id="R3d1c059a8c254dbf" /><Relationship Type="http://schemas.openxmlformats.org/officeDocument/2006/relationships/slideLayout" Target="/ppt/slideLayouts/slideLayout3.xml" Id="Rd90f6f0c114140ec" /><Relationship Type="http://schemas.openxmlformats.org/officeDocument/2006/relationships/slideLayout" Target="/ppt/slideLayouts/slideLayout4.xml" Id="R3b8810c71b9b407c" /><Relationship Type="http://schemas.openxmlformats.org/officeDocument/2006/relationships/slideLayout" Target="/ppt/slideLayouts/slideLayout5.xml" Id="R8c9217d9cf1844fc" /><Relationship Type="http://schemas.openxmlformats.org/officeDocument/2006/relationships/slideLayout" Target="/ppt/slideLayouts/slideLayout6.xml" Id="Rcea22ae84dd549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157748723a4e40"/>
    <p:sldLayoutId xmlns:r="http://schemas.openxmlformats.org/officeDocument/2006/relationships" id="2147483650" r:id="R3d1c059a8c254dbf"/>
    <p:sldLayoutId xmlns:r="http://schemas.openxmlformats.org/officeDocument/2006/relationships" id="2147483651" r:id="Rd90f6f0c114140ec"/>
    <p:sldLayoutId xmlns:r="http://schemas.openxmlformats.org/officeDocument/2006/relationships" id="2147483652" r:id="R3b8810c71b9b407c"/>
    <p:sldLayoutId xmlns:r="http://schemas.openxmlformats.org/officeDocument/2006/relationships" id="2147483653" r:id="R8c9217d9cf1844fc"/>
    <p:sldLayoutId xmlns:r="http://schemas.openxmlformats.org/officeDocument/2006/relationships" id="2147483654" r:id="Rcea22ae84dd549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95b6be12f154da5" /><Relationship Type="http://schemas.openxmlformats.org/officeDocument/2006/relationships/notesSlide" Target="/ppt/notesSlides/notesSlide1.xml" Id="Re7ccc80055f34a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316d0917296433a" /><Relationship Type="http://schemas.openxmlformats.org/officeDocument/2006/relationships/notesSlide" Target="/ppt/notesSlides/notesSlide2.xml" Id="R6f6c867b2c7848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59b9ad0047d4e21" /><Relationship Type="http://schemas.openxmlformats.org/officeDocument/2006/relationships/notesSlide" Target="/ppt/notesSlides/notesSlide3.xml" Id="R3e03443db19549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0b878c9cfd445bf" /><Relationship Type="http://schemas.openxmlformats.org/officeDocument/2006/relationships/notesSlide" Target="/ppt/notesSlides/notesSlide4.xml" Id="Rc369b2333d0c41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958175706f84ace" /><Relationship Type="http://schemas.openxmlformats.org/officeDocument/2006/relationships/notesSlide" Target="/ppt/notesSlides/notesSlide5.xml" Id="R35ebf5e4ba834b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755a831a8f041b3" /><Relationship Type="http://schemas.openxmlformats.org/officeDocument/2006/relationships/chart" Target="/ppt/slides/charts/chart1.xml" Id="Rc7dd54eddb1c4939" /><Relationship Type="http://schemas.openxmlformats.org/officeDocument/2006/relationships/notesSlide" Target="/ppt/notesSlides/notesSlide6.xml" Id="R8a47fb350b6940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fdd4317fbf94d94" /><Relationship Type="http://schemas.openxmlformats.org/officeDocument/2006/relationships/notesSlide" Target="/ppt/notesSlides/notesSlide7.xml" Id="Ra8c9d44790c348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c3d88b6a1c74708" /><Relationship Type="http://schemas.openxmlformats.org/officeDocument/2006/relationships/notesSlide" Target="/ppt/notesSlides/notesSlide8.xml" Id="Rf53ceb693b644f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2d9b0a645e442f7" /><Relationship Type="http://schemas.openxmlformats.org/officeDocument/2006/relationships/notesSlide" Target="/ppt/notesSlides/notesSlide9.xml" Id="R691e451b2f444a8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Baseline</c:v>
          </c:tx>
          <c:spPr>
            <a:solidFill xmlns:a="http://schemas.openxmlformats.org/drawingml/2006/main">
              <a:srgbClr val="8A939D"/>
            </a:solidFill>
          </c:spPr>
          <c:cat>
            <c:numRef>
              <c:f>'Chart Data'!$A$2:$A$9</c:f>
              <c:numCache>
                <c:formatCode>General</c:formatCode>
                <c:ptCount val="8"/>
                <c:pt idx="0">
                  <c:v>1</c:v>
                </c:pt>
                <c:pt idx="1">
                  <c:v>2</c:v>
                </c:pt>
                <c:pt idx="2">
                  <c:v>3</c:v>
                </c:pt>
                <c:pt idx="3">
                  <c:v>4</c:v>
                </c:pt>
                <c:pt idx="4">
                  <c:v>5</c:v>
                </c:pt>
                <c:pt idx="5">
                  <c:v>6</c:v>
                </c:pt>
                <c:pt idx="6">
                  <c:v>7</c:v>
                </c:pt>
                <c:pt idx="7">
                  <c:v>8</c:v>
                </c:pt>
              </c:numCache>
            </c:numRef>
          </c:cat>
          <c:val>
            <c:numRef>
              <c:f>'Chart Data'!$B$2:$B$9</c:f>
              <c:numCache>
                <c:formatCode>0</c:formatCode>
                <c:ptCount val="8"/>
                <c:pt idx="0">
                  <c:v>39.4</c:v>
                </c:pt>
                <c:pt idx="1">
                  <c:v>50.4</c:v>
                </c:pt>
                <c:pt idx="2">
                  <c:v>69.1</c:v>
                </c:pt>
                <c:pt idx="3">
                  <c:v>129.9</c:v>
                </c:pt>
                <c:pt idx="4">
                  <c:v>124.2</c:v>
                </c:pt>
                <c:pt idx="5">
                  <c:v>272.8</c:v>
                </c:pt>
                <c:pt idx="6">
                  <c:v>176.7</c:v>
                </c:pt>
                <c:pt idx="7">
                  <c:v>70.5</c:v>
                </c:pt>
              </c:numCache>
            </c:numRef>
          </c:val>
        </c:ser>
        <c:ser>
          <c:idx val="1"/>
          <c:order val="1"/>
          <c:tx>
            <c:v>Модель</c:v>
          </c:tx>
          <c:spPr>
            <a:solidFill xmlns:a="http://schemas.openxmlformats.org/drawingml/2006/main">
              <a:srgbClr val="B62730"/>
            </a:solidFill>
          </c:spPr>
          <c:cat>
            <c:numRef>
              <c:f>'Chart Data'!$C$2:$C$9</c:f>
              <c:numCache>
                <c:formatCode>General</c:formatCode>
                <c:ptCount val="8"/>
                <c:pt idx="0">
                  <c:v>1</c:v>
                </c:pt>
                <c:pt idx="1">
                  <c:v>2</c:v>
                </c:pt>
                <c:pt idx="2">
                  <c:v>3</c:v>
                </c:pt>
                <c:pt idx="3">
                  <c:v>4</c:v>
                </c:pt>
                <c:pt idx="4">
                  <c:v>5</c:v>
                </c:pt>
                <c:pt idx="5">
                  <c:v>6</c:v>
                </c:pt>
                <c:pt idx="6">
                  <c:v>7</c:v>
                </c:pt>
                <c:pt idx="7">
                  <c:v>8</c:v>
                </c:pt>
              </c:numCache>
            </c:numRef>
          </c:cat>
          <c:val>
            <c:numRef>
              <c:f>'Chart Data'!$D$2:$D$9</c:f>
              <c:numCache>
                <c:formatCode>0</c:formatCode>
                <c:ptCount val="8"/>
                <c:pt idx="0">
                  <c:v>50.1</c:v>
                </c:pt>
                <c:pt idx="1">
                  <c:v>46.4</c:v>
                </c:pt>
                <c:pt idx="2">
                  <c:v>72.6</c:v>
                </c:pt>
                <c:pt idx="3">
                  <c:v>128.8</c:v>
                </c:pt>
                <c:pt idx="4">
                  <c:v>116.8</c:v>
                </c:pt>
                <c:pt idx="5">
                  <c:v>233.7</c:v>
                </c:pt>
                <c:pt idx="6">
                  <c:v>163.5</c:v>
                </c:pt>
                <c:pt idx="7">
                  <c:v>54.8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Зона</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300"/>
          <c:min val="0"/>
        </c:scaling>
        <c:delete val="0"/>
        <c:axPos val="b"/>
        <c:majorGridlines>
          <c:spPr>
            <a:ln xmlns:a="http://schemas.openxmlformats.org/drawingml/2006/main" w="9525">
              <a:solidFill>
                <a:srgbClr val="D9DCE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100"/>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AF9F6"/>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Прогноз спроса на билеты&#10;ХК «Авангард»">
            <a:extLst xmlns:a="http://schemas.openxmlformats.org/drawingml/2006/main">
              <a:ext uri="{FF2B5EF4-FFF2-40B4-BE49-F238E27FC236}">
                <a16:creationId xmlns:a16="http://schemas.microsoft.com/office/drawing/2014/main" id="{5D3FA338-D1C6-409F-B39D-0D1A0995717D}"/>
              </a:ext>
            </a:extLst>
          </p:cNvPr>
          <p:cNvSpPr>
            <a:spLocks xmlns:a="http://schemas.openxmlformats.org/drawingml/2006/main" noGrp="1"/>
          </p:cNvSpPr>
          <p:nvPr/>
        </p:nvSpPr>
        <p:spPr>
          <a:xfrm xmlns:a="http://schemas.openxmlformats.org/drawingml/2006/main">
            <a:off x="523875" y="342900"/>
            <a:ext cx="11144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15191F"/>
                </a:solidFill>
                <a:latin typeface="Arial"/>
                <a:ea typeface="Arial"/>
                <a:cs typeface="Arial"/>
              </a:defRPr>
            </a:defPPr>
          </a:lstStyle>
          <a:p xmlns:a="http://schemas.openxmlformats.org/drawingml/2006/main">
            <a:pPr>
              <a:defRPr sz="3225" b="1">
                <a:solidFill>
                  <a:srgbClr val="15191F"/>
                </a:solidFill>
                <a:latin typeface="Arial"/>
                <a:ea typeface="Arial"/>
                <a:cs typeface="Arial"/>
              </a:defRPr>
            </a:pPr>
            <a:r>
              <a:rPr sz="3225" b="1">
                <a:solidFill>
                  <a:srgbClr val="15191F"/>
                </a:solidFill>
                <a:latin typeface="Arial"/>
                <a:ea typeface="Arial"/>
                <a:cs typeface="Arial"/>
              </a:rPr>
              <a:t>Прогноз спроса на билеты</a:t>
            </a:r>
          </a:p>
          <a:p xmlns:a="http://schemas.openxmlformats.org/drawingml/2006/main">
            <a:pPr>
              <a:defRPr sz="3225" b="1">
                <a:solidFill>
                  <a:srgbClr val="15191F"/>
                </a:solidFill>
                <a:latin typeface="Arial"/>
                <a:ea typeface="Arial"/>
                <a:cs typeface="Arial"/>
              </a:defRPr>
            </a:pPr>
            <a:r>
              <a:rPr sz="3225" b="1">
                <a:solidFill>
                  <a:srgbClr val="15191F"/>
                </a:solidFill>
                <a:latin typeface="Arial"/>
                <a:ea typeface="Arial"/>
                <a:cs typeface="Arial"/>
              </a:rPr>
              <a:t>ХК «Авангард»</a:t>
            </a:r>
          </a:p>
        </p:txBody>
      </p:sp>
      <p:sp>
        <p:nvSpPr>
          <p:cNvPr id="2" name="СпускоГрад  /  DATA MATCH">
            <a:extLst xmlns:a="http://schemas.openxmlformats.org/drawingml/2006/main">
              <a:ext uri="{FF2B5EF4-FFF2-40B4-BE49-F238E27FC236}">
                <a16:creationId xmlns:a16="http://schemas.microsoft.com/office/drawing/2014/main" id="{6B2E1DD9-02B2-4C90-AFA2-61EFC1A2EA41}"/>
              </a:ext>
            </a:extLst>
          </p:cNvPr>
          <p:cNvSpPr>
            <a:spLocks xmlns:a="http://schemas.openxmlformats.org/drawingml/2006/main" noGrp="1"/>
          </p:cNvSpPr>
          <p:nvPr/>
        </p:nvSpPr>
        <p:spPr>
          <a:xfrm xmlns:a="http://schemas.openxmlformats.org/drawingml/2006/main">
            <a:off x="523875" y="63817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505C68"/>
                </a:solidFill>
                <a:latin typeface="Arial"/>
                <a:ea typeface="Arial"/>
                <a:cs typeface="Arial"/>
              </a:defRPr>
            </a:defPPr>
          </a:lstStyle>
          <a:p xmlns:a="http://schemas.openxmlformats.org/drawingml/2006/main">
            <a:pPr>
              <a:defRPr sz="1350" b="0">
                <a:solidFill>
                  <a:srgbClr val="505C68"/>
                </a:solidFill>
                <a:latin typeface="Arial"/>
                <a:ea typeface="Arial"/>
                <a:cs typeface="Arial"/>
              </a:defRPr>
            </a:pPr>
            <a:r>
              <a:rPr sz="1350" b="0">
                <a:solidFill>
                  <a:srgbClr val="505C68"/>
                </a:solidFill>
                <a:latin typeface="Arial"/>
                <a:ea typeface="Arial"/>
                <a:cs typeface="Arial"/>
              </a:rPr>
              <a:t>СпускоГрад  /  DATA MATCH</a:t>
            </a:r>
          </a:p>
        </p:txBody>
      </p:sp>
      <p:sp>
        <p:nvSpPr>
          <p:cNvPr id="3" name="01">
            <a:extLst xmlns:a="http://schemas.openxmlformats.org/drawingml/2006/main">
              <a:ext uri="{FF2B5EF4-FFF2-40B4-BE49-F238E27FC236}">
                <a16:creationId xmlns:a16="http://schemas.microsoft.com/office/drawing/2014/main" id="{219F4B47-AB24-4524-BAC6-26788C19F7A8}"/>
              </a:ext>
            </a:extLst>
          </p:cNvPr>
          <p:cNvSpPr>
            <a:spLocks xmlns:a="http://schemas.openxmlformats.org/drawingml/2006/main" noGrp="1"/>
          </p:cNvSpPr>
          <p:nvPr/>
        </p:nvSpPr>
        <p:spPr>
          <a:xfrm xmlns:a="http://schemas.openxmlformats.org/drawingml/2006/main">
            <a:off x="11144250" y="63436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505C68"/>
                </a:solidFill>
                <a:latin typeface="Arial"/>
                <a:ea typeface="Arial"/>
                <a:cs typeface="Arial"/>
              </a:defRPr>
            </a:defPPr>
          </a:lstStyle>
          <a:p xmlns:a="http://schemas.openxmlformats.org/drawingml/2006/main">
            <a:pPr>
              <a:defRPr sz="1575" b="0">
                <a:solidFill>
                  <a:srgbClr val="505C68"/>
                </a:solidFill>
                <a:latin typeface="Arial"/>
                <a:ea typeface="Arial"/>
                <a:cs typeface="Arial"/>
              </a:defRPr>
            </a:pPr>
            <a:r>
              <a:rPr sz="1575" b="0">
                <a:solidFill>
                  <a:srgbClr val="505C68"/>
                </a:solidFill>
                <a:latin typeface="Arial"/>
                <a:ea typeface="Arial"/>
                <a:cs typeface="Arial"/>
              </a:rPr>
              <a:t>01</a:t>
            </a:r>
          </a:p>
        </p:txBody>
      </p:sp>
      <p:sp>
        <p:nvSpPr>
          <p:cNvPr id="4" name="17 матчей × 8 зон = 136 прогнозов">
            <a:extLst xmlns:a="http://schemas.openxmlformats.org/drawingml/2006/main">
              <a:ext uri="{FF2B5EF4-FFF2-40B4-BE49-F238E27FC236}">
                <a16:creationId xmlns:a16="http://schemas.microsoft.com/office/drawing/2014/main" id="{023180B6-1174-4374-B158-4649666AFD18}"/>
              </a:ext>
            </a:extLst>
          </p:cNvPr>
          <p:cNvSpPr>
            <a:spLocks xmlns:a="http://schemas.openxmlformats.org/drawingml/2006/main" noGrp="1"/>
          </p:cNvSpPr>
          <p:nvPr/>
        </p:nvSpPr>
        <p:spPr>
          <a:xfrm xmlns:a="http://schemas.openxmlformats.org/drawingml/2006/main">
            <a:off x="523875" y="22479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B62730"/>
                </a:solidFill>
                <a:latin typeface="Arial"/>
                <a:ea typeface="Arial"/>
                <a:cs typeface="Arial"/>
              </a:defRPr>
            </a:defPPr>
          </a:lstStyle>
          <a:p xmlns:a="http://schemas.openxmlformats.org/drawingml/2006/main">
            <a:pPr>
              <a:defRPr sz="2850" b="1">
                <a:solidFill>
                  <a:srgbClr val="B62730"/>
                </a:solidFill>
                <a:latin typeface="Arial"/>
                <a:ea typeface="Arial"/>
                <a:cs typeface="Arial"/>
              </a:defRPr>
            </a:pPr>
            <a:r>
              <a:rPr sz="2850" b="1">
                <a:solidFill>
                  <a:srgbClr val="B62730"/>
                </a:solidFill>
                <a:latin typeface="Arial"/>
                <a:ea typeface="Arial"/>
                <a:cs typeface="Arial"/>
              </a:rPr>
              <a:t>17 матчей × 8 зон = 136 прогнозов</a:t>
            </a:r>
          </a:p>
        </p:txBody>
      </p:sp>
      <p:sp>
        <p:nvSpPr>
          <p:cNvPr id="5" name="Команда «СпускоГрад»">
            <a:extLst xmlns:a="http://schemas.openxmlformats.org/drawingml/2006/main">
              <a:ext uri="{FF2B5EF4-FFF2-40B4-BE49-F238E27FC236}">
                <a16:creationId xmlns:a16="http://schemas.microsoft.com/office/drawing/2014/main" id="{04622225-070C-4888-B55D-8C9F39E666A8}"/>
              </a:ext>
            </a:extLst>
          </p:cNvPr>
          <p:cNvSpPr>
            <a:spLocks xmlns:a="http://schemas.openxmlformats.org/drawingml/2006/main" noGrp="1"/>
          </p:cNvSpPr>
          <p:nvPr/>
        </p:nvSpPr>
        <p:spPr>
          <a:xfrm xmlns:a="http://schemas.openxmlformats.org/drawingml/2006/main">
            <a:off x="523875" y="33528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15191F"/>
                </a:solidFill>
                <a:latin typeface="Arial"/>
                <a:ea typeface="Arial"/>
                <a:cs typeface="Arial"/>
              </a:defRPr>
            </a:defPPr>
          </a:lstStyle>
          <a:p xmlns:a="http://schemas.openxmlformats.org/drawingml/2006/main">
            <a:pPr>
              <a:defRPr sz="2250" b="1">
                <a:solidFill>
                  <a:srgbClr val="15191F"/>
                </a:solidFill>
                <a:latin typeface="Arial"/>
                <a:ea typeface="Arial"/>
                <a:cs typeface="Arial"/>
              </a:defRPr>
            </a:pPr>
            <a:r>
              <a:rPr sz="2250" b="1">
                <a:solidFill>
                  <a:srgbClr val="15191F"/>
                </a:solidFill>
                <a:latin typeface="Arial"/>
                <a:ea typeface="Arial"/>
                <a:cs typeface="Arial"/>
              </a:rPr>
              <a:t>Команда «СпускоГрад»</a:t>
            </a:r>
          </a:p>
        </p:txBody>
      </p:sp>
      <p:sp>
        <p:nvSpPr>
          <p:cNvPr id="6" name="Мирошниченко Григорий&#10;Кусков Захар&#10;Гутов Всев">
            <a:extLst xmlns:a="http://schemas.openxmlformats.org/drawingml/2006/main">
              <a:ext uri="{FF2B5EF4-FFF2-40B4-BE49-F238E27FC236}">
                <a16:creationId xmlns:a16="http://schemas.microsoft.com/office/drawing/2014/main" id="{6ED343C9-9C77-45DE-8BFB-953CB11CCC8E}"/>
              </a:ext>
            </a:extLst>
          </p:cNvPr>
          <p:cNvSpPr>
            <a:spLocks xmlns:a="http://schemas.openxmlformats.org/drawingml/2006/main" noGrp="1"/>
          </p:cNvSpPr>
          <p:nvPr/>
        </p:nvSpPr>
        <p:spPr>
          <a:xfrm xmlns:a="http://schemas.openxmlformats.org/drawingml/2006/main">
            <a:off x="523875" y="3924300"/>
            <a:ext cx="10477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15191F"/>
                </a:solidFill>
                <a:latin typeface="Arial"/>
                <a:ea typeface="Arial"/>
                <a:cs typeface="Arial"/>
              </a:defRPr>
            </a:defPPr>
          </a:lstStyle>
          <a:p xmlns:a="http://schemas.openxmlformats.org/drawingml/2006/main">
            <a:pPr>
              <a:defRPr sz="2100" b="0">
                <a:solidFill>
                  <a:srgbClr val="15191F"/>
                </a:solidFill>
                <a:latin typeface="Arial"/>
                <a:ea typeface="Arial"/>
                <a:cs typeface="Arial"/>
              </a:defRPr>
            </a:pPr>
            <a:r>
              <a:rPr sz="2100" b="0">
                <a:solidFill>
                  <a:srgbClr val="15191F"/>
                </a:solidFill>
                <a:latin typeface="Arial"/>
                <a:ea typeface="Arial"/>
                <a:cs typeface="Arial"/>
              </a:rPr>
              <a:t>Мирошниченко Григорий</a:t>
            </a:r>
          </a:p>
          <a:p xmlns:a="http://schemas.openxmlformats.org/drawingml/2006/main">
            <a:pPr>
              <a:defRPr sz="2100" b="0">
                <a:solidFill>
                  <a:srgbClr val="15191F"/>
                </a:solidFill>
                <a:latin typeface="Arial"/>
                <a:ea typeface="Arial"/>
                <a:cs typeface="Arial"/>
              </a:defRPr>
            </a:pPr>
            <a:r>
              <a:rPr sz="2100" b="0">
                <a:solidFill>
                  <a:srgbClr val="15191F"/>
                </a:solidFill>
                <a:latin typeface="Arial"/>
                <a:ea typeface="Arial"/>
                <a:cs typeface="Arial"/>
              </a:rPr>
              <a:t>Кусков Захар</a:t>
            </a:r>
          </a:p>
          <a:p xmlns:a="http://schemas.openxmlformats.org/drawingml/2006/main">
            <a:pPr>
              <a:defRPr sz="2100" b="0">
                <a:solidFill>
                  <a:srgbClr val="15191F"/>
                </a:solidFill>
                <a:latin typeface="Arial"/>
                <a:ea typeface="Arial"/>
                <a:cs typeface="Arial"/>
              </a:defRPr>
            </a:pPr>
            <a:r>
              <a:rPr sz="2100" b="0">
                <a:solidFill>
                  <a:srgbClr val="15191F"/>
                </a:solidFill>
                <a:latin typeface="Arial"/>
                <a:ea typeface="Arial"/>
                <a:cs typeface="Arial"/>
              </a:rPr>
              <a:t>Гутов Всеволод</a:t>
            </a:r>
          </a:p>
        </p:txBody>
      </p:sp>
      <p:sp>
        <p:nvSpPr>
          <p:cNvPr id="7" name="DATA MATCH  •  обычные билеты за весь период ">
            <a:extLst xmlns:a="http://schemas.openxmlformats.org/drawingml/2006/main">
              <a:ext uri="{FF2B5EF4-FFF2-40B4-BE49-F238E27FC236}">
                <a16:creationId xmlns:a16="http://schemas.microsoft.com/office/drawing/2014/main" id="{4BB0F5E4-8027-449D-9060-21C5BE1B2BD2}"/>
              </a:ext>
            </a:extLst>
          </p:cNvPr>
          <p:cNvSpPr>
            <a:spLocks xmlns:a="http://schemas.openxmlformats.org/drawingml/2006/main" noGrp="1"/>
          </p:cNvSpPr>
          <p:nvPr/>
        </p:nvSpPr>
        <p:spPr>
          <a:xfrm xmlns:a="http://schemas.openxmlformats.org/drawingml/2006/main">
            <a:off x="523875" y="56007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505C68"/>
                </a:solidFill>
                <a:latin typeface="Arial"/>
                <a:ea typeface="Arial"/>
                <a:cs typeface="Arial"/>
              </a:defRPr>
            </a:defPPr>
          </a:lstStyle>
          <a:p xmlns:a="http://schemas.openxmlformats.org/drawingml/2006/main">
            <a:pPr>
              <a:defRPr sz="1800" b="0">
                <a:solidFill>
                  <a:srgbClr val="505C68"/>
                </a:solidFill>
                <a:latin typeface="Arial"/>
                <a:ea typeface="Arial"/>
                <a:cs typeface="Arial"/>
              </a:defRPr>
            </a:pPr>
            <a:r>
              <a:rPr sz="1800" b="0">
                <a:solidFill>
                  <a:srgbClr val="505C68"/>
                </a:solidFill>
                <a:latin typeface="Arial"/>
                <a:ea typeface="Arial"/>
                <a:cs typeface="Arial"/>
              </a:rPr>
              <a:t>DATA MATCH  •  обычные билеты за весь период продаж</a:t>
            </a:r>
          </a:p>
        </p:txBody>
      </p:sp>
    </p:spTree>
    <p:extLst>
      <p:ext uri="{BB962C8B-B14F-4D97-AF65-F5344CB8AC3E}">
        <p14:creationId xmlns:p14="http://schemas.microsoft.com/office/powerpoint/2010/main" val="1527615153"/>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7" name="Данные и ограничения">
            <a:extLst xmlns:a="http://schemas.openxmlformats.org/drawingml/2006/main">
              <a:ext uri="{FF2B5EF4-FFF2-40B4-BE49-F238E27FC236}">
                <a16:creationId xmlns:a16="http://schemas.microsoft.com/office/drawing/2014/main" id="{1C55C777-5C5C-4BF9-917B-515AD58D4347}"/>
              </a:ext>
            </a:extLst>
          </p:cNvPr>
          <p:cNvSpPr>
            <a:spLocks xmlns:a="http://schemas.openxmlformats.org/drawingml/2006/main" noGrp="1"/>
          </p:cNvSpPr>
          <p:nvPr/>
        </p:nvSpPr>
        <p:spPr>
          <a:xfrm xmlns:a="http://schemas.openxmlformats.org/drawingml/2006/main">
            <a:off x="523875" y="3429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15191F"/>
                </a:solidFill>
                <a:latin typeface="Arial"/>
                <a:ea typeface="Arial"/>
                <a:cs typeface="Arial"/>
              </a:defRPr>
            </a:defPPr>
          </a:lstStyle>
          <a:p xmlns:a="http://schemas.openxmlformats.org/drawingml/2006/main">
            <a:pPr>
              <a:defRPr sz="3225" b="1">
                <a:solidFill>
                  <a:srgbClr val="15191F"/>
                </a:solidFill>
                <a:latin typeface="Arial"/>
                <a:ea typeface="Arial"/>
                <a:cs typeface="Arial"/>
              </a:defRPr>
            </a:pPr>
            <a:r>
              <a:rPr sz="3225" b="1">
                <a:solidFill>
                  <a:srgbClr val="15191F"/>
                </a:solidFill>
                <a:latin typeface="Arial"/>
                <a:ea typeface="Arial"/>
                <a:cs typeface="Arial"/>
              </a:rPr>
              <a:t>Данные и ограничения</a:t>
            </a:r>
          </a:p>
        </p:txBody>
      </p:sp>
      <p:sp>
        <p:nvSpPr>
          <p:cNvPr id="2" name="СпускоГрад  /  DATA MATCH">
            <a:extLst xmlns:a="http://schemas.openxmlformats.org/drawingml/2006/main">
              <a:ext uri="{FF2B5EF4-FFF2-40B4-BE49-F238E27FC236}">
                <a16:creationId xmlns:a16="http://schemas.microsoft.com/office/drawing/2014/main" id="{92902891-1D10-42A7-837D-AB0B113B1311}"/>
              </a:ext>
            </a:extLst>
          </p:cNvPr>
          <p:cNvSpPr>
            <a:spLocks xmlns:a="http://schemas.openxmlformats.org/drawingml/2006/main" noGrp="1"/>
          </p:cNvSpPr>
          <p:nvPr/>
        </p:nvSpPr>
        <p:spPr>
          <a:xfrm xmlns:a="http://schemas.openxmlformats.org/drawingml/2006/main">
            <a:off x="523875" y="63817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505C68"/>
                </a:solidFill>
                <a:latin typeface="Arial"/>
                <a:ea typeface="Arial"/>
                <a:cs typeface="Arial"/>
              </a:defRPr>
            </a:defPPr>
          </a:lstStyle>
          <a:p xmlns:a="http://schemas.openxmlformats.org/drawingml/2006/main">
            <a:pPr>
              <a:defRPr sz="1350" b="0">
                <a:solidFill>
                  <a:srgbClr val="505C68"/>
                </a:solidFill>
                <a:latin typeface="Arial"/>
                <a:ea typeface="Arial"/>
                <a:cs typeface="Arial"/>
              </a:defRPr>
            </a:pPr>
            <a:r>
              <a:rPr sz="1350" b="0">
                <a:solidFill>
                  <a:srgbClr val="505C68"/>
                </a:solidFill>
                <a:latin typeface="Arial"/>
                <a:ea typeface="Arial"/>
                <a:cs typeface="Arial"/>
              </a:rPr>
              <a:t>СпускоГрад  /  DATA MATCH</a:t>
            </a:r>
          </a:p>
        </p:txBody>
      </p:sp>
      <p:sp>
        <p:nvSpPr>
          <p:cNvPr id="3" name="02">
            <a:extLst xmlns:a="http://schemas.openxmlformats.org/drawingml/2006/main">
              <a:ext uri="{FF2B5EF4-FFF2-40B4-BE49-F238E27FC236}">
                <a16:creationId xmlns:a16="http://schemas.microsoft.com/office/drawing/2014/main" id="{0BBDD29D-6017-427B-A0DE-352454FBE256}"/>
              </a:ext>
            </a:extLst>
          </p:cNvPr>
          <p:cNvSpPr>
            <a:spLocks xmlns:a="http://schemas.openxmlformats.org/drawingml/2006/main" noGrp="1"/>
          </p:cNvSpPr>
          <p:nvPr/>
        </p:nvSpPr>
        <p:spPr>
          <a:xfrm xmlns:a="http://schemas.openxmlformats.org/drawingml/2006/main">
            <a:off x="11144250" y="63436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505C68"/>
                </a:solidFill>
                <a:latin typeface="Arial"/>
                <a:ea typeface="Arial"/>
                <a:cs typeface="Arial"/>
              </a:defRPr>
            </a:defPPr>
          </a:lstStyle>
          <a:p xmlns:a="http://schemas.openxmlformats.org/drawingml/2006/main">
            <a:pPr>
              <a:defRPr sz="1575" b="0">
                <a:solidFill>
                  <a:srgbClr val="505C68"/>
                </a:solidFill>
                <a:latin typeface="Arial"/>
                <a:ea typeface="Arial"/>
                <a:cs typeface="Arial"/>
              </a:defRPr>
            </a:pPr>
            <a:r>
              <a:rPr sz="1575" b="0">
                <a:solidFill>
                  <a:srgbClr val="505C68"/>
                </a:solidFill>
                <a:latin typeface="Arial"/>
                <a:ea typeface="Arial"/>
                <a:cs typeface="Arial"/>
              </a:rPr>
              <a:t>02</a:t>
            </a:r>
          </a:p>
        </p:txBody>
      </p:sp>
      <p:graphicFrame>
        <p:nvGraphicFramePr>
          <p:cNvPr id="4" name="">
            <a:extLst xmlns:a="http://schemas.openxmlformats.org/drawingml/2006/main">
              <a:ext uri="{FF2B5EF4-FFF2-40B4-BE49-F238E27FC236}">
                <a16:creationId xmlns:a16="http://schemas.microsoft.com/office/drawing/2014/main" id="{65BD5609-7FB3-49DB-A738-776DC2DEAD73}"/>
              </a:ext>
            </a:extLst>
          </p:cNvPr>
          <p:cNvGraphicFramePr/>
          <p:nvPr/>
        </p:nvGraphicFramePr>
        <p:xfrm>
          <a:off xmlns:a="http://schemas.openxmlformats.org/drawingml/2006/main" x="523875" y="1419225"/>
          <a:ext xmlns:a="http://schemas.openxmlformats.org/drawingml/2006/main" cx="11144250" cy="2571750"/>
        </p:xfrm>
        <a:graphic xmlns:a="http://schemas.openxmlformats.org/drawingml/2006/main">
          <a:graphicData uri="http://schemas.openxmlformats.org/drawingml/2006/table">
            <a:tbl>
              <a:tblPr/>
              <a:tblGrid>
                <a:gridCol w="4476750"/>
                <a:gridCol w="6667500"/>
              </a:tblGrid>
              <a:tr h="642938">
                <a:tc>
                  <a:txBody>
                    <a:bodyPr/>
                    <a:lstStyle/>
                    <a:p>
                      <a:r>
                        <a:rPr sz="2100" b="1">
                          <a:solidFill>
                            <a:srgbClr val="FFFFFF"/>
                          </a:solidFill>
                          <a:latin typeface="Arial"/>
                          <a:ea typeface="Arial"/>
                          <a:cs typeface="Arial"/>
                        </a:rPr>
                        <a:t>Источник</a:t>
                      </a:r>
                    </a:p>
                  </a:txBody>
                  <a:tcPr marL="95250" marR="76200" marT="76200" marB="57150">
                    <a:solidFill>
                      <a:srgbClr val="15191F"/>
                    </a:solidFill>
                  </a:tcPr>
                </a:tc>
                <a:tc>
                  <a:txBody>
                    <a:bodyPr/>
                    <a:lstStyle/>
                    <a:p>
                      <a:r>
                        <a:rPr sz="2100" b="1">
                          <a:solidFill>
                            <a:srgbClr val="FFFFFF"/>
                          </a:solidFill>
                          <a:latin typeface="Arial"/>
                          <a:ea typeface="Arial"/>
                          <a:cs typeface="Arial"/>
                        </a:rPr>
                        <a:t>Для чего используем</a:t>
                      </a:r>
                    </a:p>
                  </a:txBody>
                  <a:tcPr marL="95250" marR="76200" marT="76200" marB="57150">
                    <a:solidFill>
                      <a:srgbClr val="15191F"/>
                    </a:solidFill>
                  </a:tcPr>
                </a:tc>
              </a:tr>
              <a:tr h="642938">
                <a:tc>
                  <a:txBody>
                    <a:bodyPr/>
                    <a:lstStyle/>
                    <a:p>
                      <a:r>
                        <a:rPr sz="2100">
                          <a:solidFill>
                            <a:srgbClr val="15191F"/>
                          </a:solidFill>
                          <a:latin typeface="Arial"/>
                          <a:ea typeface="Arial"/>
                          <a:cs typeface="Arial"/>
                        </a:rPr>
                        <a:t>Расписание 102 матчей</a:t>
                      </a:r>
                    </a:p>
                  </a:txBody>
                  <a:tcPr marL="95250" marR="76200" marT="76200" marB="57150">
                    <a:solidFill>
                      <a:srgbClr val="FAF9F6"/>
                    </a:solidFill>
                  </a:tcPr>
                </a:tc>
                <a:tc>
                  <a:txBody>
                    <a:bodyPr/>
                    <a:lstStyle/>
                    <a:p>
                      <a:r>
                        <a:rPr sz="2100">
                          <a:solidFill>
                            <a:srgbClr val="15191F"/>
                          </a:solidFill>
                          <a:latin typeface="Arial"/>
                          <a:ea typeface="Arial"/>
                          <a:cs typeface="Arial"/>
                        </a:rPr>
                        <a:t>Сезон, соперник, дата и время</a:t>
                      </a:r>
                    </a:p>
                  </a:txBody>
                  <a:tcPr marL="95250" marR="76200" marT="76200" marB="57150">
                    <a:solidFill>
                      <a:srgbClr val="FAF9F6"/>
                    </a:solidFill>
                  </a:tcPr>
                </a:tc>
              </a:tr>
              <a:tr h="642938">
                <a:tc>
                  <a:txBody>
                    <a:bodyPr/>
                    <a:lstStyle/>
                    <a:p>
                      <a:r>
                        <a:rPr sz="2100">
                          <a:solidFill>
                            <a:srgbClr val="15191F"/>
                          </a:solidFill>
                          <a:latin typeface="Arial"/>
                          <a:ea typeface="Arial"/>
                          <a:cs typeface="Arial"/>
                        </a:rPr>
                        <a:t>Продажи 85 завершённых матчей</a:t>
                      </a:r>
                    </a:p>
                  </a:txBody>
                  <a:tcPr marL="95250" marR="76200" marT="76200" marB="57150">
                    <a:solidFill>
                      <a:srgbClr val="FAF9F6"/>
                    </a:solidFill>
                  </a:tcPr>
                </a:tc>
                <a:tc>
                  <a:txBody>
                    <a:bodyPr/>
                    <a:lstStyle/>
                    <a:p>
                      <a:r>
                        <a:rPr sz="2100">
                          <a:solidFill>
                            <a:srgbClr val="15191F"/>
                          </a:solidFill>
                          <a:latin typeface="Arial"/>
                          <a:ea typeface="Arial"/>
                          <a:cs typeface="Arial"/>
                        </a:rPr>
                        <a:t>Полный итог и ранний темп</a:t>
                      </a:r>
                    </a:p>
                  </a:txBody>
                  <a:tcPr marL="95250" marR="76200" marT="76200" marB="57150">
                    <a:solidFill>
                      <a:srgbClr val="FAF9F6"/>
                    </a:solidFill>
                  </a:tcPr>
                </a:tc>
              </a:tr>
              <a:tr h="642938">
                <a:tc>
                  <a:txBody>
                    <a:bodyPr/>
                    <a:lstStyle/>
                    <a:p>
                      <a:r>
                        <a:rPr sz="2100">
                          <a:solidFill>
                            <a:srgbClr val="15191F"/>
                          </a:solidFill>
                          <a:latin typeface="Arial"/>
                          <a:ea typeface="Arial"/>
                          <a:cs typeface="Arial"/>
                        </a:rPr>
                        <a:t>Параметры 8 зон</a:t>
                      </a:r>
                    </a:p>
                  </a:txBody>
                  <a:tcPr marL="95250" marR="76200" marT="76200" marB="57150">
                    <a:solidFill>
                      <a:srgbClr val="FAF9F6"/>
                    </a:solidFill>
                  </a:tcPr>
                </a:tc>
                <a:tc>
                  <a:txBody>
                    <a:bodyPr/>
                    <a:lstStyle/>
                    <a:p>
                      <a:r>
                        <a:rPr sz="2100">
                          <a:solidFill>
                            <a:srgbClr val="15191F"/>
                          </a:solidFill>
                          <a:latin typeface="Arial"/>
                          <a:ea typeface="Arial"/>
                          <a:cs typeface="Arial"/>
                        </a:rPr>
                        <a:t>Границы итогового прогноза</a:t>
                      </a:r>
                    </a:p>
                  </a:txBody>
                  <a:tcPr marL="95250" marR="76200" marT="76200" marB="57150">
                    <a:solidFill>
                      <a:srgbClr val="FAF9F6"/>
                    </a:solidFill>
                  </a:tcPr>
                </a:tc>
              </a:tr>
            </a:tbl>
          </a:graphicData>
        </a:graphic>
      </p:graphicFrame>
      <p:sp>
        <p:nvSpPr>
          <p:cNvPr id="5" name="Срез test: утро 15.12.2025; продажи по 14.12 ">
            <a:extLst xmlns:a="http://schemas.openxmlformats.org/drawingml/2006/main">
              <a:ext uri="{FF2B5EF4-FFF2-40B4-BE49-F238E27FC236}">
                <a16:creationId xmlns:a16="http://schemas.microsoft.com/office/drawing/2014/main" id="{9C49F8F3-F1A9-493C-9CFF-69ADE0D5E273}"/>
              </a:ext>
            </a:extLst>
          </p:cNvPr>
          <p:cNvSpPr>
            <a:spLocks xmlns:a="http://schemas.openxmlformats.org/drawingml/2006/main" noGrp="1"/>
          </p:cNvSpPr>
          <p:nvPr/>
        </p:nvSpPr>
        <p:spPr>
          <a:xfrm xmlns:a="http://schemas.openxmlformats.org/drawingml/2006/main">
            <a:off x="523875" y="42862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B62730"/>
                </a:solidFill>
                <a:latin typeface="Arial"/>
                <a:ea typeface="Arial"/>
                <a:cs typeface="Arial"/>
              </a:defRPr>
            </a:defPPr>
          </a:lstStyle>
          <a:p xmlns:a="http://schemas.openxmlformats.org/drawingml/2006/main">
            <a:pPr>
              <a:defRPr sz="2025" b="1">
                <a:solidFill>
                  <a:srgbClr val="B62730"/>
                </a:solidFill>
                <a:latin typeface="Arial"/>
                <a:ea typeface="Arial"/>
                <a:cs typeface="Arial"/>
              </a:defRPr>
            </a:pPr>
            <a:r>
              <a:rPr sz="2025" b="1">
                <a:solidFill>
                  <a:srgbClr val="B62730"/>
                </a:solidFill>
                <a:latin typeface="Arial"/>
                <a:ea typeface="Arial"/>
                <a:cs typeface="Arial"/>
              </a:rPr>
              <a:t>Срез test: утро 15.12.2025; продажи по 14.12 включительно</a:t>
            </a:r>
          </a:p>
        </p:txBody>
      </p:sp>
      <p:sp>
        <p:nvSpPr>
          <p:cNvPr id="6" name="6 матчей с продажами  /  11 без продаж&#10;КХЛ за">
            <a:extLst xmlns:a="http://schemas.openxmlformats.org/drawingml/2006/main">
              <a:ext uri="{FF2B5EF4-FFF2-40B4-BE49-F238E27FC236}">
                <a16:creationId xmlns:a16="http://schemas.microsoft.com/office/drawing/2014/main" id="{A5F8D7A0-856E-4D02-9484-DE185431C1D0}"/>
              </a:ext>
            </a:extLst>
          </p:cNvPr>
          <p:cNvSpPr>
            <a:spLocks xmlns:a="http://schemas.openxmlformats.org/drawingml/2006/main" noGrp="1"/>
          </p:cNvSpPr>
          <p:nvPr/>
        </p:nvSpPr>
        <p:spPr>
          <a:xfrm xmlns:a="http://schemas.openxmlformats.org/drawingml/2006/main">
            <a:off x="523875" y="4829175"/>
            <a:ext cx="1104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5191F"/>
                </a:solidFill>
                <a:latin typeface="Arial"/>
                <a:ea typeface="Arial"/>
                <a:cs typeface="Arial"/>
              </a:defRPr>
            </a:defPPr>
          </a:lstStyle>
          <a:p xmlns:a="http://schemas.openxmlformats.org/drawingml/2006/main">
            <a:pPr>
              <a:defRPr sz="1950" b="0">
                <a:solidFill>
                  <a:srgbClr val="15191F"/>
                </a:solidFill>
                <a:latin typeface="Arial"/>
                <a:ea typeface="Arial"/>
                <a:cs typeface="Arial"/>
              </a:defRPr>
            </a:pPr>
            <a:r>
              <a:rPr sz="1950" b="0">
                <a:solidFill>
                  <a:srgbClr val="15191F"/>
                </a:solidFill>
                <a:latin typeface="Arial"/>
                <a:ea typeface="Arial"/>
                <a:cs typeface="Arial"/>
              </a:rPr>
              <a:t>6 матчей с продажами  /  11 без продаж</a:t>
            </a:r>
          </a:p>
          <a:p xmlns:a="http://schemas.openxmlformats.org/drawingml/2006/main">
            <a:pPr>
              <a:defRPr sz="1950" b="0">
                <a:solidFill>
                  <a:srgbClr val="15191F"/>
                </a:solidFill>
                <a:latin typeface="Arial"/>
                <a:ea typeface="Arial"/>
                <a:cs typeface="Arial"/>
              </a:defRPr>
            </a:pPr>
            <a:r>
              <a:rPr sz="1950" b="0">
                <a:solidFill>
                  <a:srgbClr val="15191F"/>
                </a:solidFill>
                <a:latin typeface="Arial"/>
                <a:ea typeface="Arial"/>
                <a:cs typeface="Arial"/>
              </a:rPr>
              <a:t>КХЛ заканчивается 19.11.2025 и не входит в принятую модель</a:t>
            </a:r>
          </a:p>
          <a:p xmlns:a="http://schemas.openxmlformats.org/drawingml/2006/main">
            <a:pPr>
              <a:defRPr sz="1950" b="0">
                <a:solidFill>
                  <a:srgbClr val="15191F"/>
                </a:solidFill>
                <a:latin typeface="Arial"/>
                <a:ea typeface="Arial"/>
                <a:cs typeface="Arial"/>
              </a:defRPr>
            </a:pPr>
            <a:r>
              <a:rPr sz="1950" b="0">
                <a:solidFill>
                  <a:srgbClr val="15191F"/>
                </a:solidFill>
                <a:latin typeface="Arial"/>
                <a:ea typeface="Arial"/>
                <a:cs typeface="Arial"/>
              </a:rPr>
              <a:t>Нет цен: нельзя оценить оптимальную цену или выручку</a:t>
            </a:r>
          </a:p>
        </p:txBody>
      </p:sp>
    </p:spTree>
    <p:extLst>
      <p:ext uri="{BB962C8B-B14F-4D97-AF65-F5344CB8AC3E}">
        <p14:creationId xmlns:p14="http://schemas.microsoft.com/office/powerpoint/2010/main" val="1184966326"/>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0" name="Модель и признаки">
            <a:extLst xmlns:a="http://schemas.openxmlformats.org/drawingml/2006/main">
              <a:ext uri="{FF2B5EF4-FFF2-40B4-BE49-F238E27FC236}">
                <a16:creationId xmlns:a16="http://schemas.microsoft.com/office/drawing/2014/main" id="{F0C7031A-4577-4A6F-8B6D-C90C199B6683}"/>
              </a:ext>
            </a:extLst>
          </p:cNvPr>
          <p:cNvSpPr>
            <a:spLocks xmlns:a="http://schemas.openxmlformats.org/drawingml/2006/main" noGrp="1"/>
          </p:cNvSpPr>
          <p:nvPr/>
        </p:nvSpPr>
        <p:spPr>
          <a:xfrm xmlns:a="http://schemas.openxmlformats.org/drawingml/2006/main">
            <a:off x="523875" y="3429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15191F"/>
                </a:solidFill>
                <a:latin typeface="Arial"/>
                <a:ea typeface="Arial"/>
                <a:cs typeface="Arial"/>
              </a:defRPr>
            </a:defPPr>
          </a:lstStyle>
          <a:p xmlns:a="http://schemas.openxmlformats.org/drawingml/2006/main">
            <a:pPr>
              <a:defRPr sz="3225" b="1">
                <a:solidFill>
                  <a:srgbClr val="15191F"/>
                </a:solidFill>
                <a:latin typeface="Arial"/>
                <a:ea typeface="Arial"/>
                <a:cs typeface="Arial"/>
              </a:defRPr>
            </a:pPr>
            <a:r>
              <a:rPr sz="3225" b="1">
                <a:solidFill>
                  <a:srgbClr val="15191F"/>
                </a:solidFill>
                <a:latin typeface="Arial"/>
                <a:ea typeface="Arial"/>
                <a:cs typeface="Arial"/>
              </a:rPr>
              <a:t>Модель и признаки</a:t>
            </a:r>
          </a:p>
        </p:txBody>
      </p:sp>
      <p:sp>
        <p:nvSpPr>
          <p:cNvPr id="2" name="СпускоГрад  /  DATA MATCH">
            <a:extLst xmlns:a="http://schemas.openxmlformats.org/drawingml/2006/main">
              <a:ext uri="{FF2B5EF4-FFF2-40B4-BE49-F238E27FC236}">
                <a16:creationId xmlns:a16="http://schemas.microsoft.com/office/drawing/2014/main" id="{DA3551A3-D382-450C-A76D-447537683CBC}"/>
              </a:ext>
            </a:extLst>
          </p:cNvPr>
          <p:cNvSpPr>
            <a:spLocks xmlns:a="http://schemas.openxmlformats.org/drawingml/2006/main" noGrp="1"/>
          </p:cNvSpPr>
          <p:nvPr/>
        </p:nvSpPr>
        <p:spPr>
          <a:xfrm xmlns:a="http://schemas.openxmlformats.org/drawingml/2006/main">
            <a:off x="523875" y="63817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505C68"/>
                </a:solidFill>
                <a:latin typeface="Arial"/>
                <a:ea typeface="Arial"/>
                <a:cs typeface="Arial"/>
              </a:defRPr>
            </a:defPPr>
          </a:lstStyle>
          <a:p xmlns:a="http://schemas.openxmlformats.org/drawingml/2006/main">
            <a:pPr>
              <a:defRPr sz="1350" b="0">
                <a:solidFill>
                  <a:srgbClr val="505C68"/>
                </a:solidFill>
                <a:latin typeface="Arial"/>
                <a:ea typeface="Arial"/>
                <a:cs typeface="Arial"/>
              </a:defRPr>
            </a:pPr>
            <a:r>
              <a:rPr sz="1350" b="0">
                <a:solidFill>
                  <a:srgbClr val="505C68"/>
                </a:solidFill>
                <a:latin typeface="Arial"/>
                <a:ea typeface="Arial"/>
                <a:cs typeface="Arial"/>
              </a:rPr>
              <a:t>СпускоГрад  /  DATA MATCH</a:t>
            </a:r>
          </a:p>
        </p:txBody>
      </p:sp>
      <p:sp>
        <p:nvSpPr>
          <p:cNvPr id="3" name="03">
            <a:extLst xmlns:a="http://schemas.openxmlformats.org/drawingml/2006/main">
              <a:ext uri="{FF2B5EF4-FFF2-40B4-BE49-F238E27FC236}">
                <a16:creationId xmlns:a16="http://schemas.microsoft.com/office/drawing/2014/main" id="{E635ABC2-E3C2-4952-8D45-810A959C8767}"/>
              </a:ext>
            </a:extLst>
          </p:cNvPr>
          <p:cNvSpPr>
            <a:spLocks xmlns:a="http://schemas.openxmlformats.org/drawingml/2006/main" noGrp="1"/>
          </p:cNvSpPr>
          <p:nvPr/>
        </p:nvSpPr>
        <p:spPr>
          <a:xfrm xmlns:a="http://schemas.openxmlformats.org/drawingml/2006/main">
            <a:off x="11144250" y="63436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505C68"/>
                </a:solidFill>
                <a:latin typeface="Arial"/>
                <a:ea typeface="Arial"/>
                <a:cs typeface="Arial"/>
              </a:defRPr>
            </a:defPPr>
          </a:lstStyle>
          <a:p xmlns:a="http://schemas.openxmlformats.org/drawingml/2006/main">
            <a:pPr>
              <a:defRPr sz="1575" b="0">
                <a:solidFill>
                  <a:srgbClr val="505C68"/>
                </a:solidFill>
                <a:latin typeface="Arial"/>
                <a:ea typeface="Arial"/>
                <a:cs typeface="Arial"/>
              </a:defRPr>
            </a:pPr>
            <a:r>
              <a:rPr sz="1575" b="0">
                <a:solidFill>
                  <a:srgbClr val="505C68"/>
                </a:solidFill>
                <a:latin typeface="Arial"/>
                <a:ea typeface="Arial"/>
                <a:cs typeface="Arial"/>
              </a:rPr>
              <a:t>03</a:t>
            </a:r>
          </a:p>
        </p:txBody>
      </p:sp>
      <p:sp>
        <p:nvSpPr>
          <p:cNvPr id="4" name="Уровень зоны и сезона">
            <a:extLst xmlns:a="http://schemas.openxmlformats.org/drawingml/2006/main">
              <a:ext uri="{FF2B5EF4-FFF2-40B4-BE49-F238E27FC236}">
                <a16:creationId xmlns:a16="http://schemas.microsoft.com/office/drawing/2014/main" id="{78ACA273-C2F6-4F18-B0C0-23C692E8F308}"/>
              </a:ext>
            </a:extLst>
          </p:cNvPr>
          <p:cNvSpPr>
            <a:spLocks xmlns:a="http://schemas.openxmlformats.org/drawingml/2006/main" noGrp="1"/>
          </p:cNvSpPr>
          <p:nvPr/>
        </p:nvSpPr>
        <p:spPr>
          <a:xfrm xmlns:a="http://schemas.openxmlformats.org/drawingml/2006/main">
            <a:off x="523875" y="14668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550" b="1">
                <a:solidFill>
                  <a:srgbClr val="B62730"/>
                </a:solidFill>
                <a:latin typeface="Arial"/>
                <a:ea typeface="Arial"/>
                <a:cs typeface="Arial"/>
              </a:defRPr>
            </a:defPPr>
          </a:lstStyle>
          <a:p xmlns:a="http://schemas.openxmlformats.org/drawingml/2006/main">
            <a:pPr>
              <a:defRPr sz="2550" b="1">
                <a:solidFill>
                  <a:srgbClr val="B62730"/>
                </a:solidFill>
                <a:latin typeface="Arial"/>
                <a:ea typeface="Arial"/>
                <a:cs typeface="Arial"/>
              </a:defRPr>
            </a:pPr>
            <a:r>
              <a:rPr sz="2550" b="1">
                <a:solidFill>
                  <a:srgbClr val="B62730"/>
                </a:solidFill>
                <a:latin typeface="Arial"/>
                <a:ea typeface="Arial"/>
                <a:cs typeface="Arial"/>
              </a:rPr>
              <a:t>Уровень зоны и сезона</a:t>
            </a:r>
          </a:p>
        </p:txBody>
      </p:sp>
      <p:sp>
        <p:nvSpPr>
          <p:cNvPr id="5" name="Сглаженное среднее: при малой истории опираем">
            <a:extLst xmlns:a="http://schemas.openxmlformats.org/drawingml/2006/main">
              <a:ext uri="{FF2B5EF4-FFF2-40B4-BE49-F238E27FC236}">
                <a16:creationId xmlns:a16="http://schemas.microsoft.com/office/drawing/2014/main" id="{8FF38D3D-9C89-43D8-A384-A4D1C5BBF0EA}"/>
              </a:ext>
            </a:extLst>
          </p:cNvPr>
          <p:cNvSpPr>
            <a:spLocks xmlns:a="http://schemas.openxmlformats.org/drawingml/2006/main" noGrp="1"/>
          </p:cNvSpPr>
          <p:nvPr/>
        </p:nvSpPr>
        <p:spPr>
          <a:xfrm xmlns:a="http://schemas.openxmlformats.org/drawingml/2006/main">
            <a:off x="523875" y="19716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5191F"/>
                </a:solidFill>
                <a:latin typeface="Arial"/>
                <a:ea typeface="Arial"/>
                <a:cs typeface="Arial"/>
              </a:defRPr>
            </a:defPPr>
          </a:lstStyle>
          <a:p xmlns:a="http://schemas.openxmlformats.org/drawingml/2006/main">
            <a:pPr>
              <a:defRPr sz="2025" b="0">
                <a:solidFill>
                  <a:srgbClr val="15191F"/>
                </a:solidFill>
                <a:latin typeface="Arial"/>
                <a:ea typeface="Arial"/>
                <a:cs typeface="Arial"/>
              </a:defRPr>
            </a:pPr>
            <a:r>
              <a:rPr sz="2025" b="0">
                <a:solidFill>
                  <a:srgbClr val="15191F"/>
                </a:solidFill>
                <a:latin typeface="Arial"/>
                <a:ea typeface="Arial"/>
                <a:cs typeface="Arial"/>
              </a:rPr>
              <a:t>Сглаженное среднее: при малой истории опираемся на прошлые сезоны</a:t>
            </a:r>
          </a:p>
        </p:txBody>
      </p:sp>
      <p:sp>
        <p:nvSpPr>
          <p:cNvPr id="6" name="+ линейная поправка Ridge">
            <a:extLst xmlns:a="http://schemas.openxmlformats.org/drawingml/2006/main">
              <a:ext uri="{FF2B5EF4-FFF2-40B4-BE49-F238E27FC236}">
                <a16:creationId xmlns:a16="http://schemas.microsoft.com/office/drawing/2014/main" id="{5A498044-9B5E-4871-A108-24D2A457B0A0}"/>
              </a:ext>
            </a:extLst>
          </p:cNvPr>
          <p:cNvSpPr>
            <a:spLocks xmlns:a="http://schemas.openxmlformats.org/drawingml/2006/main" noGrp="1"/>
          </p:cNvSpPr>
          <p:nvPr/>
        </p:nvSpPr>
        <p:spPr>
          <a:xfrm xmlns:a="http://schemas.openxmlformats.org/drawingml/2006/main">
            <a:off x="523875" y="27527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550" b="1">
                <a:solidFill>
                  <a:srgbClr val="B62730"/>
                </a:solidFill>
                <a:latin typeface="Arial"/>
                <a:ea typeface="Arial"/>
                <a:cs typeface="Arial"/>
              </a:defRPr>
            </a:defPPr>
          </a:lstStyle>
          <a:p xmlns:a="http://schemas.openxmlformats.org/drawingml/2006/main">
            <a:pPr>
              <a:defRPr sz="2550" b="1">
                <a:solidFill>
                  <a:srgbClr val="B62730"/>
                </a:solidFill>
                <a:latin typeface="Arial"/>
                <a:ea typeface="Arial"/>
                <a:cs typeface="Arial"/>
              </a:defRPr>
            </a:pPr>
            <a:r>
              <a:rPr sz="2550" b="1">
                <a:solidFill>
                  <a:srgbClr val="B62730"/>
                </a:solidFill>
                <a:latin typeface="Arial"/>
                <a:ea typeface="Arial"/>
                <a:cs typeface="Arial"/>
              </a:rPr>
              <a:t>+ линейная поправка Ridge</a:t>
            </a:r>
          </a:p>
        </p:txBody>
      </p:sp>
      <p:sp>
        <p:nvSpPr>
          <p:cNvPr id="7" name="Зона, соперник, день недели, месяц, время нач">
            <a:extLst xmlns:a="http://schemas.openxmlformats.org/drawingml/2006/main">
              <a:ext uri="{FF2B5EF4-FFF2-40B4-BE49-F238E27FC236}">
                <a16:creationId xmlns:a16="http://schemas.microsoft.com/office/drawing/2014/main" id="{F1BA093B-94C9-4515-8A80-30751DC37102}"/>
              </a:ext>
            </a:extLst>
          </p:cNvPr>
          <p:cNvSpPr>
            <a:spLocks xmlns:a="http://schemas.openxmlformats.org/drawingml/2006/main" noGrp="1"/>
          </p:cNvSpPr>
          <p:nvPr/>
        </p:nvSpPr>
        <p:spPr>
          <a:xfrm xmlns:a="http://schemas.openxmlformats.org/drawingml/2006/main">
            <a:off x="523875" y="325755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5191F"/>
                </a:solidFill>
                <a:latin typeface="Arial"/>
                <a:ea typeface="Arial"/>
                <a:cs typeface="Arial"/>
              </a:defRPr>
            </a:defPPr>
          </a:lstStyle>
          <a:p xmlns:a="http://schemas.openxmlformats.org/drawingml/2006/main">
            <a:pPr>
              <a:defRPr sz="2025" b="0">
                <a:solidFill>
                  <a:srgbClr val="15191F"/>
                </a:solidFill>
                <a:latin typeface="Arial"/>
                <a:ea typeface="Arial"/>
                <a:cs typeface="Arial"/>
              </a:defRPr>
            </a:pPr>
            <a:r>
              <a:rPr sz="2025" b="0">
                <a:solidFill>
                  <a:srgbClr val="15191F"/>
                </a:solidFill>
                <a:latin typeface="Arial"/>
                <a:ea typeface="Arial"/>
                <a:cs typeface="Arial"/>
              </a:rPr>
              <a:t>Зона, соперник, день недели, месяц, время начала, номер матча</a:t>
            </a:r>
          </a:p>
          <a:p xmlns:a="http://schemas.openxmlformats.org/drawingml/2006/main">
            <a:pPr>
              <a:defRPr sz="2025" b="0">
                <a:solidFill>
                  <a:srgbClr val="15191F"/>
                </a:solidFill>
                <a:latin typeface="Arial"/>
                <a:ea typeface="Arial"/>
                <a:cs typeface="Arial"/>
              </a:defRPr>
            </a:pPr>
            <a:r>
              <a:rPr sz="2025" b="0">
                <a:solidFill>
                  <a:srgbClr val="15191F"/>
                </a:solidFill>
                <a:latin typeface="Arial"/>
                <a:ea typeface="Arial"/>
                <a:cs typeface="Arial"/>
              </a:rPr>
              <a:t>Штраф alpha = 10 ограничивает чрезмерные поправки</a:t>
            </a:r>
          </a:p>
        </p:txBody>
      </p:sp>
      <p:sp>
        <p:nvSpPr>
          <p:cNvPr id="8" name="+ 0.5 × поправка ранних продаж, когда они изв">
            <a:extLst xmlns:a="http://schemas.openxmlformats.org/drawingml/2006/main">
              <a:ext uri="{FF2B5EF4-FFF2-40B4-BE49-F238E27FC236}">
                <a16:creationId xmlns:a16="http://schemas.microsoft.com/office/drawing/2014/main" id="{D75C35A3-EA45-4FE6-A376-D84EBD787387}"/>
              </a:ext>
            </a:extLst>
          </p:cNvPr>
          <p:cNvSpPr>
            <a:spLocks xmlns:a="http://schemas.openxmlformats.org/drawingml/2006/main" noGrp="1"/>
          </p:cNvSpPr>
          <p:nvPr/>
        </p:nvSpPr>
        <p:spPr>
          <a:xfrm xmlns:a="http://schemas.openxmlformats.org/drawingml/2006/main">
            <a:off x="523875" y="4381500"/>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1">
                <a:solidFill>
                  <a:srgbClr val="B62730"/>
                </a:solidFill>
                <a:latin typeface="Arial"/>
                <a:ea typeface="Arial"/>
                <a:cs typeface="Arial"/>
              </a:defRPr>
            </a:defPPr>
          </a:lstStyle>
          <a:p xmlns:a="http://schemas.openxmlformats.org/drawingml/2006/main">
            <a:pPr>
              <a:defRPr sz="2400" b="1">
                <a:solidFill>
                  <a:srgbClr val="B62730"/>
                </a:solidFill>
                <a:latin typeface="Arial"/>
                <a:ea typeface="Arial"/>
                <a:cs typeface="Arial"/>
              </a:defRPr>
            </a:pPr>
            <a:r>
              <a:rPr sz="2400" b="1">
                <a:solidFill>
                  <a:srgbClr val="B62730"/>
                </a:solidFill>
                <a:latin typeface="Arial"/>
                <a:ea typeface="Arial"/>
                <a:cs typeface="Arial"/>
              </a:rPr>
              <a:t>+ 0.5 × поправка ранних продаж, когда они известны</a:t>
            </a:r>
          </a:p>
        </p:txBody>
      </p:sp>
      <p:sp>
        <p:nvSpPr>
          <p:cNvPr id="9" name="Аналоги на том же числе дней до игры; минимум">
            <a:extLst xmlns:a="http://schemas.openxmlformats.org/drawingml/2006/main">
              <a:ext uri="{FF2B5EF4-FFF2-40B4-BE49-F238E27FC236}">
                <a16:creationId xmlns:a16="http://schemas.microsoft.com/office/drawing/2014/main" id="{4BA1197D-9F44-4296-AFFF-A52913429470}"/>
              </a:ext>
            </a:extLst>
          </p:cNvPr>
          <p:cNvSpPr>
            <a:spLocks xmlns:a="http://schemas.openxmlformats.org/drawingml/2006/main" noGrp="1"/>
          </p:cNvSpPr>
          <p:nvPr/>
        </p:nvSpPr>
        <p:spPr>
          <a:xfrm xmlns:a="http://schemas.openxmlformats.org/drawingml/2006/main">
            <a:off x="523875" y="4972050"/>
            <a:ext cx="1104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5191F"/>
                </a:solidFill>
                <a:latin typeface="Arial"/>
                <a:ea typeface="Arial"/>
                <a:cs typeface="Arial"/>
              </a:defRPr>
            </a:defPPr>
          </a:lstStyle>
          <a:p xmlns:a="http://schemas.openxmlformats.org/drawingml/2006/main">
            <a:pPr>
              <a:defRPr sz="1950" b="0">
                <a:solidFill>
                  <a:srgbClr val="15191F"/>
                </a:solidFill>
                <a:latin typeface="Arial"/>
                <a:ea typeface="Arial"/>
                <a:cs typeface="Arial"/>
              </a:defRPr>
            </a:pPr>
            <a:r>
              <a:rPr sz="1950" b="0">
                <a:solidFill>
                  <a:srgbClr val="15191F"/>
                </a:solidFill>
                <a:latin typeface="Arial"/>
                <a:ea typeface="Arial"/>
                <a:cs typeface="Arial"/>
              </a:rPr>
              <a:t>Аналоги на том же числе дней до игры; минимум 5 завершённых матчей</a:t>
            </a:r>
          </a:p>
          <a:p xmlns:a="http://schemas.openxmlformats.org/drawingml/2006/main">
            <a:pPr>
              <a:defRPr sz="1950" b="0">
                <a:solidFill>
                  <a:srgbClr val="15191F"/>
                </a:solidFill>
                <a:latin typeface="Arial"/>
                <a:ea typeface="Arial"/>
                <a:cs typeface="Arial"/>
              </a:defRPr>
            </a:pPr>
            <a:r>
              <a:rPr sz="1950" b="0">
                <a:solidFill>
                  <a:srgbClr val="15191F"/>
                </a:solidFill>
                <a:latin typeface="Arial"/>
                <a:ea typeface="Arial"/>
                <a:cs typeface="Arial"/>
              </a:rPr>
              <a:t>Итог: округление, нижняя граница уже проданного, верхняя seats − season_tickets</a:t>
            </a:r>
          </a:p>
        </p:txBody>
      </p:sp>
    </p:spTree>
    <p:extLst>
      <p:ext uri="{BB962C8B-B14F-4D97-AF65-F5344CB8AC3E}">
        <p14:creationId xmlns:p14="http://schemas.microsoft.com/office/powerpoint/2010/main" val="1667084285"/>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Проверка по времени">
            <a:extLst xmlns:a="http://schemas.openxmlformats.org/drawingml/2006/main">
              <a:ext uri="{FF2B5EF4-FFF2-40B4-BE49-F238E27FC236}">
                <a16:creationId xmlns:a16="http://schemas.microsoft.com/office/drawing/2014/main" id="{54A2F567-98EA-4B07-A39F-8AF7A2530884}"/>
              </a:ext>
            </a:extLst>
          </p:cNvPr>
          <p:cNvSpPr>
            <a:spLocks xmlns:a="http://schemas.openxmlformats.org/drawingml/2006/main" noGrp="1"/>
          </p:cNvSpPr>
          <p:nvPr/>
        </p:nvSpPr>
        <p:spPr>
          <a:xfrm xmlns:a="http://schemas.openxmlformats.org/drawingml/2006/main">
            <a:off x="523875" y="3429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15191F"/>
                </a:solidFill>
                <a:latin typeface="Arial"/>
                <a:ea typeface="Arial"/>
                <a:cs typeface="Arial"/>
              </a:defRPr>
            </a:defPPr>
          </a:lstStyle>
          <a:p xmlns:a="http://schemas.openxmlformats.org/drawingml/2006/main">
            <a:pPr>
              <a:defRPr sz="3225" b="1">
                <a:solidFill>
                  <a:srgbClr val="15191F"/>
                </a:solidFill>
                <a:latin typeface="Arial"/>
                <a:ea typeface="Arial"/>
                <a:cs typeface="Arial"/>
              </a:defRPr>
            </a:pPr>
            <a:r>
              <a:rPr sz="3225" b="1">
                <a:solidFill>
                  <a:srgbClr val="15191F"/>
                </a:solidFill>
                <a:latin typeface="Arial"/>
                <a:ea typeface="Arial"/>
                <a:cs typeface="Arial"/>
              </a:rPr>
              <a:t>Проверка по времени</a:t>
            </a:r>
          </a:p>
        </p:txBody>
      </p:sp>
      <p:sp>
        <p:nvSpPr>
          <p:cNvPr id="2" name="СпускоГрад  /  DATA MATCH">
            <a:extLst xmlns:a="http://schemas.openxmlformats.org/drawingml/2006/main">
              <a:ext uri="{FF2B5EF4-FFF2-40B4-BE49-F238E27FC236}">
                <a16:creationId xmlns:a16="http://schemas.microsoft.com/office/drawing/2014/main" id="{B320D28B-0B7E-41EA-9CC1-383FF81E3986}"/>
              </a:ext>
            </a:extLst>
          </p:cNvPr>
          <p:cNvSpPr>
            <a:spLocks xmlns:a="http://schemas.openxmlformats.org/drawingml/2006/main" noGrp="1"/>
          </p:cNvSpPr>
          <p:nvPr/>
        </p:nvSpPr>
        <p:spPr>
          <a:xfrm xmlns:a="http://schemas.openxmlformats.org/drawingml/2006/main">
            <a:off x="523875" y="63817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505C68"/>
                </a:solidFill>
                <a:latin typeface="Arial"/>
                <a:ea typeface="Arial"/>
                <a:cs typeface="Arial"/>
              </a:defRPr>
            </a:defPPr>
          </a:lstStyle>
          <a:p xmlns:a="http://schemas.openxmlformats.org/drawingml/2006/main">
            <a:pPr>
              <a:defRPr sz="1350" b="0">
                <a:solidFill>
                  <a:srgbClr val="505C68"/>
                </a:solidFill>
                <a:latin typeface="Arial"/>
                <a:ea typeface="Arial"/>
                <a:cs typeface="Arial"/>
              </a:defRPr>
            </a:pPr>
            <a:r>
              <a:rPr sz="1350" b="0">
                <a:solidFill>
                  <a:srgbClr val="505C68"/>
                </a:solidFill>
                <a:latin typeface="Arial"/>
                <a:ea typeface="Arial"/>
                <a:cs typeface="Arial"/>
              </a:rPr>
              <a:t>СпускоГрад  /  DATA MATCH</a:t>
            </a:r>
          </a:p>
        </p:txBody>
      </p:sp>
      <p:sp>
        <p:nvSpPr>
          <p:cNvPr id="3" name="04">
            <a:extLst xmlns:a="http://schemas.openxmlformats.org/drawingml/2006/main">
              <a:ext uri="{FF2B5EF4-FFF2-40B4-BE49-F238E27FC236}">
                <a16:creationId xmlns:a16="http://schemas.microsoft.com/office/drawing/2014/main" id="{F479EF15-692C-4E1A-BA8C-715F6666E22B}"/>
              </a:ext>
            </a:extLst>
          </p:cNvPr>
          <p:cNvSpPr>
            <a:spLocks xmlns:a="http://schemas.openxmlformats.org/drawingml/2006/main" noGrp="1"/>
          </p:cNvSpPr>
          <p:nvPr/>
        </p:nvSpPr>
        <p:spPr>
          <a:xfrm xmlns:a="http://schemas.openxmlformats.org/drawingml/2006/main">
            <a:off x="11144250" y="63436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505C68"/>
                </a:solidFill>
                <a:latin typeface="Arial"/>
                <a:ea typeface="Arial"/>
                <a:cs typeface="Arial"/>
              </a:defRPr>
            </a:defPPr>
          </a:lstStyle>
          <a:p xmlns:a="http://schemas.openxmlformats.org/drawingml/2006/main">
            <a:pPr>
              <a:defRPr sz="1575" b="0">
                <a:solidFill>
                  <a:srgbClr val="505C68"/>
                </a:solidFill>
                <a:latin typeface="Arial"/>
                <a:ea typeface="Arial"/>
                <a:cs typeface="Arial"/>
              </a:defRPr>
            </a:pPr>
            <a:r>
              <a:rPr sz="1575" b="0">
                <a:solidFill>
                  <a:srgbClr val="505C68"/>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8C1856DC-34C3-4FA8-8DB5-533BE0E497BD}"/>
              </a:ext>
            </a:extLst>
          </p:cNvPr>
          <p:cNvGraphicFramePr/>
          <p:nvPr/>
        </p:nvGraphicFramePr>
        <p:xfrm>
          <a:off xmlns:a="http://schemas.openxmlformats.org/drawingml/2006/main" x="523875" y="1343025"/>
          <a:ext xmlns:a="http://schemas.openxmlformats.org/drawingml/2006/main" cx="11144250" cy="2095500"/>
        </p:xfrm>
        <a:graphic xmlns:a="http://schemas.openxmlformats.org/drawingml/2006/main">
          <a:graphicData uri="http://schemas.openxmlformats.org/drawingml/2006/table">
            <a:tbl>
              <a:tblPr/>
              <a:tblGrid>
                <a:gridCol w="3714750"/>
                <a:gridCol w="3429000"/>
                <a:gridCol w="4000500"/>
              </a:tblGrid>
              <a:tr h="523875">
                <a:tc>
                  <a:txBody>
                    <a:bodyPr/>
                    <a:lstStyle/>
                    <a:p>
                      <a:r>
                        <a:rPr sz="1950" b="1">
                          <a:solidFill>
                            <a:srgbClr val="FFFFFF"/>
                          </a:solidFill>
                          <a:latin typeface="Arial"/>
                          <a:ea typeface="Arial"/>
                          <a:cs typeface="Arial"/>
                        </a:rPr>
                        <a:t>Окно</a:t>
                      </a:r>
                    </a:p>
                  </a:txBody>
                  <a:tcPr marL="95250" marR="76200" marT="76200" marB="57150">
                    <a:solidFill>
                      <a:srgbClr val="15191F"/>
                    </a:solidFill>
                  </a:tcPr>
                </a:tc>
                <a:tc>
                  <a:txBody>
                    <a:bodyPr/>
                    <a:lstStyle/>
                    <a:p>
                      <a:r>
                        <a:rPr sz="1950" b="1">
                          <a:solidFill>
                            <a:srgbClr val="FFFFFF"/>
                          </a:solidFill>
                          <a:latin typeface="Arial"/>
                          <a:ea typeface="Arial"/>
                          <a:cs typeface="Arial"/>
                        </a:rPr>
                        <a:t>Без продаж</a:t>
                      </a:r>
                    </a:p>
                  </a:txBody>
                  <a:tcPr marL="95250" marR="76200" marT="76200" marB="57150">
                    <a:solidFill>
                      <a:srgbClr val="15191F"/>
                    </a:solidFill>
                  </a:tcPr>
                </a:tc>
                <a:tc>
                  <a:txBody>
                    <a:bodyPr/>
                    <a:lstStyle/>
                    <a:p>
                      <a:r>
                        <a:rPr sz="1950" b="1">
                          <a:solidFill>
                            <a:srgbClr val="FFFFFF"/>
                          </a:solidFill>
                          <a:latin typeface="Arial"/>
                          <a:ea typeface="Arial"/>
                          <a:cs typeface="Arial"/>
                        </a:rPr>
                        <a:t>С продажами, L ≥ 28</a:t>
                      </a:r>
                    </a:p>
                  </a:txBody>
                  <a:tcPr marL="95250" marR="76200" marT="76200" marB="57150">
                    <a:solidFill>
                      <a:srgbClr val="15191F"/>
                    </a:solidFill>
                  </a:tcPr>
                </a:tc>
              </a:tr>
              <a:tr h="523875">
                <a:tc>
                  <a:txBody>
                    <a:bodyPr/>
                    <a:lstStyle/>
                    <a:p>
                      <a:r>
                        <a:rPr sz="1950">
                          <a:solidFill>
                            <a:srgbClr val="15191F"/>
                          </a:solidFill>
                          <a:latin typeface="Arial"/>
                          <a:ea typeface="Arial"/>
                          <a:cs typeface="Arial"/>
                        </a:rPr>
                        <a:t>M035–M051</a:t>
                      </a:r>
                    </a:p>
                  </a:txBody>
                  <a:tcPr marL="95250" marR="76200" marT="76200" marB="57150">
                    <a:solidFill>
                      <a:srgbClr val="FAF9F6"/>
                    </a:solidFill>
                  </a:tcPr>
                </a:tc>
                <a:tc>
                  <a:txBody>
                    <a:bodyPr/>
                    <a:lstStyle/>
                    <a:p>
                      <a:r>
                        <a:rPr sz="1950">
                          <a:solidFill>
                            <a:srgbClr val="15191F"/>
                          </a:solidFill>
                          <a:latin typeface="Arial"/>
                          <a:ea typeface="Arial"/>
                          <a:cs typeface="Arial"/>
                        </a:rPr>
                        <a:t>17 матчей</a:t>
                      </a:r>
                    </a:p>
                  </a:txBody>
                  <a:tcPr marL="95250" marR="76200" marT="76200" marB="57150">
                    <a:solidFill>
                      <a:srgbClr val="FAF9F6"/>
                    </a:solidFill>
                  </a:tcPr>
                </a:tc>
                <a:tc>
                  <a:txBody>
                    <a:bodyPr/>
                    <a:lstStyle/>
                    <a:p>
                      <a:r>
                        <a:rPr sz="1950">
                          <a:solidFill>
                            <a:srgbClr val="15191F"/>
                          </a:solidFill>
                          <a:latin typeface="Arial"/>
                          <a:ea typeface="Arial"/>
                          <a:cs typeface="Arial"/>
                        </a:rPr>
                        <a:t>10 матчей</a:t>
                      </a:r>
                    </a:p>
                  </a:txBody>
                  <a:tcPr marL="95250" marR="76200" marT="76200" marB="57150">
                    <a:solidFill>
                      <a:srgbClr val="FAF9F6"/>
                    </a:solidFill>
                  </a:tcPr>
                </a:tc>
              </a:tr>
              <a:tr h="523875">
                <a:tc>
                  <a:txBody>
                    <a:bodyPr/>
                    <a:lstStyle/>
                    <a:p>
                      <a:r>
                        <a:rPr sz="1950">
                          <a:solidFill>
                            <a:srgbClr val="15191F"/>
                          </a:solidFill>
                          <a:latin typeface="Arial"/>
                          <a:ea typeface="Arial"/>
                          <a:cs typeface="Arial"/>
                        </a:rPr>
                        <a:t>M052–M068</a:t>
                      </a:r>
                    </a:p>
                  </a:txBody>
                  <a:tcPr marL="95250" marR="76200" marT="76200" marB="57150">
                    <a:solidFill>
                      <a:srgbClr val="FAF9F6"/>
                    </a:solidFill>
                  </a:tcPr>
                </a:tc>
                <a:tc>
                  <a:txBody>
                    <a:bodyPr/>
                    <a:lstStyle/>
                    <a:p>
                      <a:r>
                        <a:rPr sz="1950">
                          <a:solidFill>
                            <a:srgbClr val="15191F"/>
                          </a:solidFill>
                          <a:latin typeface="Arial"/>
                          <a:ea typeface="Arial"/>
                          <a:cs typeface="Arial"/>
                        </a:rPr>
                        <a:t>17 матчей</a:t>
                      </a:r>
                    </a:p>
                  </a:txBody>
                  <a:tcPr marL="95250" marR="76200" marT="76200" marB="57150">
                    <a:solidFill>
                      <a:srgbClr val="FAF9F6"/>
                    </a:solidFill>
                  </a:tcPr>
                </a:tc>
                <a:tc>
                  <a:txBody>
                    <a:bodyPr/>
                    <a:lstStyle/>
                    <a:p>
                      <a:r>
                        <a:rPr sz="1950">
                          <a:solidFill>
                            <a:srgbClr val="15191F"/>
                          </a:solidFill>
                          <a:latin typeface="Arial"/>
                          <a:ea typeface="Arial"/>
                          <a:cs typeface="Arial"/>
                        </a:rPr>
                        <a:t>17 матчей</a:t>
                      </a:r>
                    </a:p>
                  </a:txBody>
                  <a:tcPr marL="95250" marR="76200" marT="76200" marB="57150">
                    <a:solidFill>
                      <a:srgbClr val="FAF9F6"/>
                    </a:solidFill>
                  </a:tcPr>
                </a:tc>
              </a:tr>
              <a:tr h="523875">
                <a:tc>
                  <a:txBody>
                    <a:bodyPr/>
                    <a:lstStyle/>
                    <a:p>
                      <a:r>
                        <a:rPr sz="1950">
                          <a:solidFill>
                            <a:srgbClr val="15191F"/>
                          </a:solidFill>
                          <a:latin typeface="Arial"/>
                          <a:ea typeface="Arial"/>
                          <a:cs typeface="Arial"/>
                        </a:rPr>
                        <a:t>M069–M085</a:t>
                      </a:r>
                    </a:p>
                  </a:txBody>
                  <a:tcPr marL="95250" marR="76200" marT="76200" marB="57150">
                    <a:solidFill>
                      <a:srgbClr val="FAF9F6"/>
                    </a:solidFill>
                  </a:tcPr>
                </a:tc>
                <a:tc>
                  <a:txBody>
                    <a:bodyPr/>
                    <a:lstStyle/>
                    <a:p>
                      <a:r>
                        <a:rPr sz="1950">
                          <a:solidFill>
                            <a:srgbClr val="15191F"/>
                          </a:solidFill>
                          <a:latin typeface="Arial"/>
                          <a:ea typeface="Arial"/>
                          <a:cs typeface="Arial"/>
                        </a:rPr>
                        <a:t>17 матчей</a:t>
                      </a:r>
                    </a:p>
                  </a:txBody>
                  <a:tcPr marL="95250" marR="76200" marT="76200" marB="57150">
                    <a:solidFill>
                      <a:srgbClr val="FAF9F6"/>
                    </a:solidFill>
                  </a:tcPr>
                </a:tc>
                <a:tc>
                  <a:txBody>
                    <a:bodyPr/>
                    <a:lstStyle/>
                    <a:p>
                      <a:r>
                        <a:rPr sz="1950">
                          <a:solidFill>
                            <a:srgbClr val="15191F"/>
                          </a:solidFill>
                          <a:latin typeface="Arial"/>
                          <a:ea typeface="Arial"/>
                          <a:cs typeface="Arial"/>
                        </a:rPr>
                        <a:t>9 матчей</a:t>
                      </a:r>
                    </a:p>
                  </a:txBody>
                  <a:tcPr marL="95250" marR="76200" marT="76200" marB="57150">
                    <a:solidFill>
                      <a:srgbClr val="FAF9F6"/>
                    </a:solidFill>
                  </a:tcPr>
                </a:tc>
              </a:tr>
            </a:tbl>
          </a:graphicData>
        </a:graphic>
      </p:graphicFrame>
      <p:sp>
        <p:nvSpPr>
          <p:cNvPr id="5" name="Без продаж: утро открытия  /  с продажами: ут">
            <a:extLst xmlns:a="http://schemas.openxmlformats.org/drawingml/2006/main">
              <a:ext uri="{FF2B5EF4-FFF2-40B4-BE49-F238E27FC236}">
                <a16:creationId xmlns:a16="http://schemas.microsoft.com/office/drawing/2014/main" id="{DB6C73C0-6B09-4E45-A722-CED306A4FC5B}"/>
              </a:ext>
            </a:extLst>
          </p:cNvPr>
          <p:cNvSpPr>
            <a:spLocks xmlns:a="http://schemas.openxmlformats.org/drawingml/2006/main" noGrp="1"/>
          </p:cNvSpPr>
          <p:nvPr/>
        </p:nvSpPr>
        <p:spPr>
          <a:xfrm xmlns:a="http://schemas.openxmlformats.org/drawingml/2006/main">
            <a:off x="523875" y="3705225"/>
            <a:ext cx="1114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B62730"/>
                </a:solidFill>
                <a:latin typeface="Arial"/>
                <a:ea typeface="Arial"/>
                <a:cs typeface="Arial"/>
              </a:defRPr>
            </a:defPPr>
          </a:lstStyle>
          <a:p xmlns:a="http://schemas.openxmlformats.org/drawingml/2006/main">
            <a:pPr>
              <a:defRPr sz="2025" b="1">
                <a:solidFill>
                  <a:srgbClr val="B62730"/>
                </a:solidFill>
                <a:latin typeface="Arial"/>
                <a:ea typeface="Arial"/>
                <a:cs typeface="Arial"/>
              </a:defRPr>
            </a:pPr>
            <a:r>
              <a:rPr sz="2025" b="1">
                <a:solidFill>
                  <a:srgbClr val="B62730"/>
                </a:solidFill>
                <a:latin typeface="Arial"/>
                <a:ea typeface="Arial"/>
                <a:cs typeface="Arial"/>
              </a:rPr>
              <a:t>Без продаж: утро открытия  /  с продажами: утро O + 7 и O + 27</a:t>
            </a:r>
          </a:p>
        </p:txBody>
      </p:sp>
      <p:sp>
        <p:nvSpPr>
          <p:cNvPr id="6" name="Срезы 27 / 7 дней: веса 2/3 и 1/3 внутри пары">
            <a:extLst xmlns:a="http://schemas.openxmlformats.org/drawingml/2006/main">
              <a:ext uri="{FF2B5EF4-FFF2-40B4-BE49-F238E27FC236}">
                <a16:creationId xmlns:a16="http://schemas.microsoft.com/office/drawing/2014/main" id="{986F79FE-6CEA-497F-A9AF-92BA4D5A5A87}"/>
              </a:ext>
            </a:extLst>
          </p:cNvPr>
          <p:cNvSpPr>
            <a:spLocks xmlns:a="http://schemas.openxmlformats.org/drawingml/2006/main" noGrp="1"/>
          </p:cNvSpPr>
          <p:nvPr/>
        </p:nvSpPr>
        <p:spPr>
          <a:xfrm xmlns:a="http://schemas.openxmlformats.org/drawingml/2006/main">
            <a:off x="523875" y="4229100"/>
            <a:ext cx="11144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5191F"/>
                </a:solidFill>
                <a:latin typeface="Arial"/>
                <a:ea typeface="Arial"/>
                <a:cs typeface="Arial"/>
              </a:defRPr>
            </a:defPPr>
          </a:lstStyle>
          <a:p xmlns:a="http://schemas.openxmlformats.org/drawingml/2006/main">
            <a:pPr>
              <a:defRPr sz="2025" b="0">
                <a:solidFill>
                  <a:srgbClr val="15191F"/>
                </a:solidFill>
                <a:latin typeface="Arial"/>
                <a:ea typeface="Arial"/>
                <a:cs typeface="Arial"/>
              </a:defRPr>
            </a:pPr>
            <a:r>
              <a:rPr sz="2025" b="0">
                <a:solidFill>
                  <a:srgbClr val="15191F"/>
                </a:solidFill>
                <a:latin typeface="Arial"/>
                <a:ea typeface="Arial"/>
                <a:cs typeface="Arial"/>
              </a:rPr>
              <a:t>Срезы 27 / 7 дней: веса 2/3 и 1/3 внутри пары матч–зона</a:t>
            </a:r>
          </a:p>
          <a:p xmlns:a="http://schemas.openxmlformats.org/drawingml/2006/main">
            <a:pPr>
              <a:defRPr sz="2025" b="0">
                <a:solidFill>
                  <a:srgbClr val="15191F"/>
                </a:solidFill>
                <a:latin typeface="Arial"/>
                <a:ea typeface="Arial"/>
                <a:cs typeface="Arial"/>
              </a:defRPr>
            </a:pPr>
            <a:r>
              <a:rPr sz="2025" b="0">
                <a:solidFill>
                  <a:srgbClr val="15191F"/>
                </a:solidFill>
                <a:latin typeface="Arial"/>
                <a:ea typeface="Arial"/>
                <a:cs typeface="Arial"/>
              </a:rPr>
              <a:t>История и обучение только до отсечки; будущие продажи исключены</a:t>
            </a:r>
          </a:p>
          <a:p xmlns:a="http://schemas.openxmlformats.org/drawingml/2006/main">
            <a:pPr>
              <a:defRPr sz="2025" b="0">
                <a:solidFill>
                  <a:srgbClr val="15191F"/>
                </a:solidFill>
                <a:latin typeface="Arial"/>
                <a:ea typeface="Arial"/>
                <a:cs typeface="Arial"/>
              </a:defRPr>
            </a:pPr>
            <a:r>
              <a:rPr sz="2025" b="0">
                <a:solidFill>
                  <a:srgbClr val="15191F"/>
                </a:solidFill>
                <a:latin typeface="Arial"/>
                <a:ea typeface="Arial"/>
                <a:cs typeface="Arial"/>
              </a:rPr>
              <a:t>Все 8 зон матча вместе. Всего 51 уникальный проверочный матч</a:t>
            </a:r>
          </a:p>
        </p:txBody>
      </p:sp>
      <p:sp>
        <p:nvSpPr>
          <p:cNvPr id="7" name="Все 3 окна участвовали в выборе. Независимого">
            <a:extLst xmlns:a="http://schemas.openxmlformats.org/drawingml/2006/main">
              <a:ext uri="{FF2B5EF4-FFF2-40B4-BE49-F238E27FC236}">
                <a16:creationId xmlns:a16="http://schemas.microsoft.com/office/drawing/2014/main" id="{6050F485-7548-4F26-80E3-652C4ED55C24}"/>
              </a:ext>
            </a:extLst>
          </p:cNvPr>
          <p:cNvSpPr>
            <a:spLocks xmlns:a="http://schemas.openxmlformats.org/drawingml/2006/main" noGrp="1"/>
          </p:cNvSpPr>
          <p:nvPr/>
        </p:nvSpPr>
        <p:spPr>
          <a:xfrm xmlns:a="http://schemas.openxmlformats.org/drawingml/2006/main">
            <a:off x="523875" y="568642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B62730"/>
                </a:solidFill>
                <a:latin typeface="Arial"/>
                <a:ea typeface="Arial"/>
                <a:cs typeface="Arial"/>
              </a:defRPr>
            </a:defPPr>
          </a:lstStyle>
          <a:p xmlns:a="http://schemas.openxmlformats.org/drawingml/2006/main">
            <a:pPr>
              <a:defRPr sz="2025" b="1">
                <a:solidFill>
                  <a:srgbClr val="B62730"/>
                </a:solidFill>
                <a:latin typeface="Arial"/>
                <a:ea typeface="Arial"/>
                <a:cs typeface="Arial"/>
              </a:defRPr>
            </a:pPr>
            <a:r>
              <a:rPr sz="2025" b="1">
                <a:solidFill>
                  <a:srgbClr val="B62730"/>
                </a:solidFill>
                <a:latin typeface="Arial"/>
                <a:ea typeface="Arial"/>
                <a:cs typeface="Arial"/>
              </a:rPr>
              <a:t>Все 3 окна участвовали в выборе. Независимого теста нет</a:t>
            </a:r>
          </a:p>
        </p:txBody>
      </p:sp>
    </p:spTree>
    <p:extLst>
      <p:ext uri="{BB962C8B-B14F-4D97-AF65-F5344CB8AC3E}">
        <p14:creationId xmlns:p14="http://schemas.microsoft.com/office/powerpoint/2010/main" val="630793472"/>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0" name="Качество против среднего по зоне">
            <a:extLst xmlns:a="http://schemas.openxmlformats.org/drawingml/2006/main">
              <a:ext uri="{FF2B5EF4-FFF2-40B4-BE49-F238E27FC236}">
                <a16:creationId xmlns:a16="http://schemas.microsoft.com/office/drawing/2014/main" id="{784AEA21-5DDC-4410-A4B7-B193C0A225EB}"/>
              </a:ext>
            </a:extLst>
          </p:cNvPr>
          <p:cNvSpPr>
            <a:spLocks xmlns:a="http://schemas.openxmlformats.org/drawingml/2006/main" noGrp="1"/>
          </p:cNvSpPr>
          <p:nvPr/>
        </p:nvSpPr>
        <p:spPr>
          <a:xfrm xmlns:a="http://schemas.openxmlformats.org/drawingml/2006/main">
            <a:off x="523875" y="3429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15191F"/>
                </a:solidFill>
                <a:latin typeface="Arial"/>
                <a:ea typeface="Arial"/>
                <a:cs typeface="Arial"/>
              </a:defRPr>
            </a:defPPr>
          </a:lstStyle>
          <a:p xmlns:a="http://schemas.openxmlformats.org/drawingml/2006/main">
            <a:pPr>
              <a:defRPr sz="3225" b="1">
                <a:solidFill>
                  <a:srgbClr val="15191F"/>
                </a:solidFill>
                <a:latin typeface="Arial"/>
                <a:ea typeface="Arial"/>
                <a:cs typeface="Arial"/>
              </a:defRPr>
            </a:pPr>
            <a:r>
              <a:rPr sz="3225" b="1">
                <a:solidFill>
                  <a:srgbClr val="15191F"/>
                </a:solidFill>
                <a:latin typeface="Arial"/>
                <a:ea typeface="Arial"/>
                <a:cs typeface="Arial"/>
              </a:rPr>
              <a:t>Качество против среднего по зоне</a:t>
            </a:r>
          </a:p>
        </p:txBody>
      </p:sp>
      <p:sp>
        <p:nvSpPr>
          <p:cNvPr id="2" name="СпускоГрад  /  DATA MATCH">
            <a:extLst xmlns:a="http://schemas.openxmlformats.org/drawingml/2006/main">
              <a:ext uri="{FF2B5EF4-FFF2-40B4-BE49-F238E27FC236}">
                <a16:creationId xmlns:a16="http://schemas.microsoft.com/office/drawing/2014/main" id="{E6A7BE34-A747-4DA1-98AE-A309ABA14DEB}"/>
              </a:ext>
            </a:extLst>
          </p:cNvPr>
          <p:cNvSpPr>
            <a:spLocks xmlns:a="http://schemas.openxmlformats.org/drawingml/2006/main" noGrp="1"/>
          </p:cNvSpPr>
          <p:nvPr/>
        </p:nvSpPr>
        <p:spPr>
          <a:xfrm xmlns:a="http://schemas.openxmlformats.org/drawingml/2006/main">
            <a:off x="523875" y="63817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505C68"/>
                </a:solidFill>
                <a:latin typeface="Arial"/>
                <a:ea typeface="Arial"/>
                <a:cs typeface="Arial"/>
              </a:defRPr>
            </a:defPPr>
          </a:lstStyle>
          <a:p xmlns:a="http://schemas.openxmlformats.org/drawingml/2006/main">
            <a:pPr>
              <a:defRPr sz="1350" b="0">
                <a:solidFill>
                  <a:srgbClr val="505C68"/>
                </a:solidFill>
                <a:latin typeface="Arial"/>
                <a:ea typeface="Arial"/>
                <a:cs typeface="Arial"/>
              </a:defRPr>
            </a:pPr>
            <a:r>
              <a:rPr sz="1350" b="0">
                <a:solidFill>
                  <a:srgbClr val="505C68"/>
                </a:solidFill>
                <a:latin typeface="Arial"/>
                <a:ea typeface="Arial"/>
                <a:cs typeface="Arial"/>
              </a:rPr>
              <a:t>СпускоГрад  /  DATA MATCH</a:t>
            </a:r>
          </a:p>
        </p:txBody>
      </p:sp>
      <p:sp>
        <p:nvSpPr>
          <p:cNvPr id="3" name="05">
            <a:extLst xmlns:a="http://schemas.openxmlformats.org/drawingml/2006/main">
              <a:ext uri="{FF2B5EF4-FFF2-40B4-BE49-F238E27FC236}">
                <a16:creationId xmlns:a16="http://schemas.microsoft.com/office/drawing/2014/main" id="{DA18CBE9-D859-48D9-8620-71136CAA3A60}"/>
              </a:ext>
            </a:extLst>
          </p:cNvPr>
          <p:cNvSpPr>
            <a:spLocks xmlns:a="http://schemas.openxmlformats.org/drawingml/2006/main" noGrp="1"/>
          </p:cNvSpPr>
          <p:nvPr/>
        </p:nvSpPr>
        <p:spPr>
          <a:xfrm xmlns:a="http://schemas.openxmlformats.org/drawingml/2006/main">
            <a:off x="11144250" y="63436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505C68"/>
                </a:solidFill>
                <a:latin typeface="Arial"/>
                <a:ea typeface="Arial"/>
                <a:cs typeface="Arial"/>
              </a:defRPr>
            </a:defPPr>
          </a:lstStyle>
          <a:p xmlns:a="http://schemas.openxmlformats.org/drawingml/2006/main">
            <a:pPr>
              <a:defRPr sz="1575" b="0">
                <a:solidFill>
                  <a:srgbClr val="505C68"/>
                </a:solidFill>
                <a:latin typeface="Arial"/>
                <a:ea typeface="Arial"/>
                <a:cs typeface="Arial"/>
              </a:defRPr>
            </a:pPr>
            <a:r>
              <a:rPr sz="1575" b="0">
                <a:solidFill>
                  <a:srgbClr val="505C68"/>
                </a:solidFill>
                <a:latin typeface="Arial"/>
                <a:ea typeface="Arial"/>
                <a:cs typeface="Arial"/>
              </a:rPr>
              <a:t>05</a:t>
            </a:r>
          </a:p>
        </p:txBody>
      </p:sp>
      <p:sp>
        <p:nvSpPr>
          <p:cNvPr id="4" name="S 126.736  против 139.155">
            <a:extLst xmlns:a="http://schemas.openxmlformats.org/drawingml/2006/main">
              <a:ext uri="{FF2B5EF4-FFF2-40B4-BE49-F238E27FC236}">
                <a16:creationId xmlns:a16="http://schemas.microsoft.com/office/drawing/2014/main" id="{5038952D-7221-42AA-A000-D3FC57896E40}"/>
              </a:ext>
            </a:extLst>
          </p:cNvPr>
          <p:cNvSpPr>
            <a:spLocks xmlns:a="http://schemas.openxmlformats.org/drawingml/2006/main" noGrp="1"/>
          </p:cNvSpPr>
          <p:nvPr/>
        </p:nvSpPr>
        <p:spPr>
          <a:xfrm xmlns:a="http://schemas.openxmlformats.org/drawingml/2006/main">
            <a:off x="523875" y="1314450"/>
            <a:ext cx="8477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75" b="1">
                <a:solidFill>
                  <a:srgbClr val="B62730"/>
                </a:solidFill>
                <a:latin typeface="Arial"/>
                <a:ea typeface="Arial"/>
                <a:cs typeface="Arial"/>
              </a:defRPr>
            </a:defPPr>
          </a:lstStyle>
          <a:p xmlns:a="http://schemas.openxmlformats.org/drawingml/2006/main">
            <a:pPr>
              <a:defRPr sz="3375" b="1">
                <a:solidFill>
                  <a:srgbClr val="B62730"/>
                </a:solidFill>
                <a:latin typeface="Arial"/>
                <a:ea typeface="Arial"/>
                <a:cs typeface="Arial"/>
              </a:defRPr>
            </a:pPr>
            <a:r>
              <a:rPr sz="3375" b="1">
                <a:solidFill>
                  <a:srgbClr val="B62730"/>
                </a:solidFill>
                <a:latin typeface="Arial"/>
                <a:ea typeface="Arial"/>
                <a:cs typeface="Arial"/>
              </a:rPr>
              <a:t>S 126.736  против 139.155</a:t>
            </a:r>
          </a:p>
        </p:txBody>
      </p:sp>
      <p:sp>
        <p:nvSpPr>
          <p:cNvPr id="5" name="−8.92%">
            <a:extLst xmlns:a="http://schemas.openxmlformats.org/drawingml/2006/main">
              <a:ext uri="{FF2B5EF4-FFF2-40B4-BE49-F238E27FC236}">
                <a16:creationId xmlns:a16="http://schemas.microsoft.com/office/drawing/2014/main" id="{9383C293-C7D9-46D7-B7CC-4AD67A49A9D6}"/>
              </a:ext>
            </a:extLst>
          </p:cNvPr>
          <p:cNvSpPr>
            <a:spLocks xmlns:a="http://schemas.openxmlformats.org/drawingml/2006/main" noGrp="1"/>
          </p:cNvSpPr>
          <p:nvPr/>
        </p:nvSpPr>
        <p:spPr>
          <a:xfrm xmlns:a="http://schemas.openxmlformats.org/drawingml/2006/main">
            <a:off x="9315450" y="133350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B62730"/>
                </a:solidFill>
                <a:latin typeface="Arial"/>
                <a:ea typeface="Arial"/>
                <a:cs typeface="Arial"/>
              </a:defRPr>
            </a:defPPr>
          </a:lstStyle>
          <a:p xmlns:a="http://schemas.openxmlformats.org/drawingml/2006/main">
            <a:pPr>
              <a:defRPr sz="3450" b="1">
                <a:solidFill>
                  <a:srgbClr val="B62730"/>
                </a:solidFill>
                <a:latin typeface="Arial"/>
                <a:ea typeface="Arial"/>
                <a:cs typeface="Arial"/>
              </a:defRPr>
            </a:pPr>
            <a:r>
              <a:rPr sz="3450" b="1">
                <a:solidFill>
                  <a:srgbClr val="B62730"/>
                </a:solidFill>
                <a:latin typeface="Arial"/>
                <a:ea typeface="Arial"/>
                <a:cs typeface="Arial"/>
              </a:rPr>
              <a:t>−8.92%</a:t>
            </a:r>
          </a:p>
        </p:txBody>
      </p:sp>
      <p:graphicFrame>
        <p:nvGraphicFramePr>
          <p:cNvPr id="6" name="">
            <a:extLst xmlns:a="http://schemas.openxmlformats.org/drawingml/2006/main">
              <a:ext uri="{FF2B5EF4-FFF2-40B4-BE49-F238E27FC236}">
                <a16:creationId xmlns:a16="http://schemas.microsoft.com/office/drawing/2014/main" id="{997EA2A7-B695-4760-ABD8-B2A55E6B2A17}"/>
              </a:ext>
            </a:extLst>
          </p:cNvPr>
          <p:cNvGraphicFramePr/>
          <p:nvPr/>
        </p:nvGraphicFramePr>
        <p:xfrm>
          <a:off xmlns:a="http://schemas.openxmlformats.org/drawingml/2006/main" x="523875" y="2143125"/>
          <a:ext xmlns:a="http://schemas.openxmlformats.org/drawingml/2006/main" cx="11144250" cy="2743200"/>
        </p:xfrm>
        <a:graphic xmlns:a="http://schemas.openxmlformats.org/drawingml/2006/main">
          <a:graphicData uri="http://schemas.openxmlformats.org/drawingml/2006/table">
            <a:tbl>
              <a:tblPr/>
              <a:tblGrid>
                <a:gridCol w="2914650"/>
                <a:gridCol w="1371600"/>
                <a:gridCol w="1371600"/>
                <a:gridCol w="1371600"/>
                <a:gridCol w="1371600"/>
                <a:gridCol w="1371600"/>
                <a:gridCol w="1371600"/>
              </a:tblGrid>
              <a:tr h="685800">
                <a:tc>
                  <a:txBody>
                    <a:bodyPr/>
                    <a:lstStyle/>
                    <a:p>
                      <a:r>
                        <a:rPr sz="1800" b="1">
                          <a:solidFill>
                            <a:srgbClr val="FFFFFF"/>
                          </a:solidFill>
                          <a:latin typeface="Arial"/>
                          <a:ea typeface="Arial"/>
                          <a:cs typeface="Arial"/>
                        </a:rPr>
                        <a:t>Окно</a:t>
                      </a:r>
                    </a:p>
                    <a:p>
                      <a:r>
                        <a:rPr sz="1800" b="1">
                          <a:solidFill>
                            <a:srgbClr val="FFFFFF"/>
                          </a:solidFill>
                          <a:latin typeface="Arial"/>
                          <a:ea typeface="Arial"/>
                          <a:cs typeface="Arial"/>
                        </a:rPr>
                        <a:t>n без / с</a:t>
                      </a:r>
                    </a:p>
                  </a:txBody>
                  <a:tcPr marL="95250" marR="76200" marT="76200" marB="57150">
                    <a:solidFill>
                      <a:srgbClr val="15191F"/>
                    </a:solidFill>
                  </a:tcPr>
                </a:tc>
                <a:tc>
                  <a:txBody>
                    <a:bodyPr/>
                    <a:lstStyle/>
                    <a:p>
                      <a:r>
                        <a:rPr sz="1800" b="1">
                          <a:solidFill>
                            <a:srgbClr val="FFFFFF"/>
                          </a:solidFill>
                          <a:latin typeface="Arial"/>
                          <a:ea typeface="Arial"/>
                          <a:cs typeface="Arial"/>
                        </a:rPr>
                        <a:t>Без: B</a:t>
                      </a:r>
                    </a:p>
                  </a:txBody>
                  <a:tcPr marL="95250" marR="76200" marT="76200" marB="57150">
                    <a:solidFill>
                      <a:srgbClr val="15191F"/>
                    </a:solidFill>
                  </a:tcPr>
                </a:tc>
                <a:tc>
                  <a:txBody>
                    <a:bodyPr/>
                    <a:lstStyle/>
                    <a:p>
                      <a:r>
                        <a:rPr sz="1800" b="1">
                          <a:solidFill>
                            <a:srgbClr val="FFFFFF"/>
                          </a:solidFill>
                          <a:latin typeface="Arial"/>
                          <a:ea typeface="Arial"/>
                          <a:cs typeface="Arial"/>
                        </a:rPr>
                        <a:t>Без: M</a:t>
                      </a:r>
                    </a:p>
                  </a:txBody>
                  <a:tcPr marL="95250" marR="76200" marT="76200" marB="57150">
                    <a:solidFill>
                      <a:srgbClr val="15191F"/>
                    </a:solidFill>
                  </a:tcPr>
                </a:tc>
                <a:tc>
                  <a:txBody>
                    <a:bodyPr/>
                    <a:lstStyle/>
                    <a:p>
                      <a:r>
                        <a:rPr sz="1800" b="1">
                          <a:solidFill>
                            <a:srgbClr val="FFFFFF"/>
                          </a:solidFill>
                          <a:latin typeface="Arial"/>
                          <a:ea typeface="Arial"/>
                          <a:cs typeface="Arial"/>
                        </a:rPr>
                        <a:t>С: B</a:t>
                      </a:r>
                    </a:p>
                  </a:txBody>
                  <a:tcPr marL="95250" marR="76200" marT="76200" marB="57150">
                    <a:solidFill>
                      <a:srgbClr val="15191F"/>
                    </a:solidFill>
                  </a:tcPr>
                </a:tc>
                <a:tc>
                  <a:txBody>
                    <a:bodyPr/>
                    <a:lstStyle/>
                    <a:p>
                      <a:r>
                        <a:rPr sz="1800" b="1">
                          <a:solidFill>
                            <a:srgbClr val="FFFFFF"/>
                          </a:solidFill>
                          <a:latin typeface="Arial"/>
                          <a:ea typeface="Arial"/>
                          <a:cs typeface="Arial"/>
                        </a:rPr>
                        <a:t>С: M</a:t>
                      </a:r>
                    </a:p>
                  </a:txBody>
                  <a:tcPr marL="95250" marR="76200" marT="76200" marB="57150">
                    <a:solidFill>
                      <a:srgbClr val="15191F"/>
                    </a:solidFill>
                  </a:tcPr>
                </a:tc>
                <a:tc>
                  <a:txBody>
                    <a:bodyPr/>
                    <a:lstStyle/>
                    <a:p>
                      <a:r>
                        <a:rPr sz="1800" b="1">
                          <a:solidFill>
                            <a:srgbClr val="FFFFFF"/>
                          </a:solidFill>
                          <a:latin typeface="Arial"/>
                          <a:ea typeface="Arial"/>
                          <a:cs typeface="Arial"/>
                        </a:rPr>
                        <a:t>R: B</a:t>
                      </a:r>
                    </a:p>
                  </a:txBody>
                  <a:tcPr marL="95250" marR="76200" marT="76200" marB="57150">
                    <a:solidFill>
                      <a:srgbClr val="15191F"/>
                    </a:solidFill>
                  </a:tcPr>
                </a:tc>
                <a:tc>
                  <a:txBody>
                    <a:bodyPr/>
                    <a:lstStyle/>
                    <a:p>
                      <a:r>
                        <a:rPr sz="1800" b="1">
                          <a:solidFill>
                            <a:srgbClr val="FFFFFF"/>
                          </a:solidFill>
                          <a:latin typeface="Arial"/>
                          <a:ea typeface="Arial"/>
                          <a:cs typeface="Arial"/>
                        </a:rPr>
                        <a:t>R: M</a:t>
                      </a:r>
                    </a:p>
                  </a:txBody>
                  <a:tcPr marL="95250" marR="76200" marT="76200" marB="57150">
                    <a:solidFill>
                      <a:srgbClr val="15191F"/>
                    </a:solidFill>
                  </a:tcPr>
                </a:tc>
              </a:tr>
              <a:tr h="685800">
                <a:tc>
                  <a:txBody>
                    <a:bodyPr/>
                    <a:lstStyle/>
                    <a:p>
                      <a:r>
                        <a:rPr sz="1800">
                          <a:solidFill>
                            <a:srgbClr val="15191F"/>
                          </a:solidFill>
                          <a:latin typeface="Arial"/>
                          <a:ea typeface="Arial"/>
                          <a:cs typeface="Arial"/>
                        </a:rPr>
                        <a:t>M035–M051</a:t>
                      </a:r>
                    </a:p>
                    <a:p>
                      <a:r>
                        <a:rPr sz="1800">
                          <a:solidFill>
                            <a:srgbClr val="15191F"/>
                          </a:solidFill>
                          <a:latin typeface="Arial"/>
                          <a:ea typeface="Arial"/>
                          <a:cs typeface="Arial"/>
                        </a:rPr>
                        <a:t> 17 / 10</a:t>
                      </a:r>
                    </a:p>
                  </a:txBody>
                  <a:tcPr marL="95250" marR="76200" marT="76200" marB="57150">
                    <a:solidFill>
                      <a:srgbClr val="FAF9F6"/>
                    </a:solidFill>
                  </a:tcPr>
                </a:tc>
                <a:tc>
                  <a:txBody>
                    <a:bodyPr/>
                    <a:lstStyle/>
                    <a:p>
                      <a:r>
                        <a:rPr sz="1800">
                          <a:solidFill>
                            <a:srgbClr val="15191F"/>
                          </a:solidFill>
                          <a:latin typeface="Arial"/>
                          <a:ea typeface="Arial"/>
                          <a:cs typeface="Arial"/>
                        </a:rPr>
                        <a:t>156.0</a:t>
                      </a:r>
                    </a:p>
                  </a:txBody>
                  <a:tcPr marL="95250" marR="76200" marT="76200" marB="57150">
                    <a:solidFill>
                      <a:srgbClr val="FAF9F6"/>
                    </a:solidFill>
                  </a:tcPr>
                </a:tc>
                <a:tc>
                  <a:txBody>
                    <a:bodyPr/>
                    <a:lstStyle/>
                    <a:p>
                      <a:r>
                        <a:rPr sz="1800">
                          <a:solidFill>
                            <a:srgbClr val="15191F"/>
                          </a:solidFill>
                          <a:latin typeface="Arial"/>
                          <a:ea typeface="Arial"/>
                          <a:cs typeface="Arial"/>
                        </a:rPr>
                        <a:t>156.3</a:t>
                      </a:r>
                    </a:p>
                  </a:txBody>
                  <a:tcPr marL="95250" marR="76200" marT="76200" marB="57150">
                    <a:solidFill>
                      <a:srgbClr val="FAF9F6"/>
                    </a:solidFill>
                  </a:tcPr>
                </a:tc>
                <a:tc>
                  <a:txBody>
                    <a:bodyPr/>
                    <a:lstStyle/>
                    <a:p>
                      <a:r>
                        <a:rPr sz="1800">
                          <a:solidFill>
                            <a:srgbClr val="15191F"/>
                          </a:solidFill>
                          <a:latin typeface="Arial"/>
                          <a:ea typeface="Arial"/>
                          <a:cs typeface="Arial"/>
                        </a:rPr>
                        <a:t>151.4</a:t>
                      </a:r>
                    </a:p>
                  </a:txBody>
                  <a:tcPr marL="95250" marR="76200" marT="76200" marB="57150">
                    <a:solidFill>
                      <a:srgbClr val="FAF9F6"/>
                    </a:solidFill>
                  </a:tcPr>
                </a:tc>
                <a:tc>
                  <a:txBody>
                    <a:bodyPr/>
                    <a:lstStyle/>
                    <a:p>
                      <a:r>
                        <a:rPr sz="1800">
                          <a:solidFill>
                            <a:srgbClr val="15191F"/>
                          </a:solidFill>
                          <a:latin typeface="Arial"/>
                          <a:ea typeface="Arial"/>
                          <a:cs typeface="Arial"/>
                        </a:rPr>
                        <a:t>136.5</a:t>
                      </a:r>
                    </a:p>
                  </a:txBody>
                  <a:tcPr marL="95250" marR="76200" marT="76200" marB="57150">
                    <a:solidFill>
                      <a:srgbClr val="FAF9F6"/>
                    </a:solidFill>
                  </a:tcPr>
                </a:tc>
                <a:tc>
                  <a:txBody>
                    <a:bodyPr/>
                    <a:lstStyle/>
                    <a:p>
                      <a:r>
                        <a:rPr sz="1800">
                          <a:solidFill>
                            <a:srgbClr val="15191F"/>
                          </a:solidFill>
                          <a:latin typeface="Arial"/>
                          <a:ea typeface="Arial"/>
                          <a:cs typeface="Arial"/>
                        </a:rPr>
                        <a:t>154.4</a:t>
                      </a:r>
                    </a:p>
                  </a:txBody>
                  <a:tcPr marL="95250" marR="76200" marT="76200" marB="57150">
                    <a:solidFill>
                      <a:srgbClr val="FAF9F6"/>
                    </a:solidFill>
                  </a:tcPr>
                </a:tc>
                <a:tc>
                  <a:txBody>
                    <a:bodyPr/>
                    <a:lstStyle/>
                    <a:p>
                      <a:r>
                        <a:rPr sz="1800">
                          <a:solidFill>
                            <a:srgbClr val="15191F"/>
                          </a:solidFill>
                          <a:latin typeface="Arial"/>
                          <a:ea typeface="Arial"/>
                          <a:cs typeface="Arial"/>
                        </a:rPr>
                        <a:t>149.6</a:t>
                      </a:r>
                    </a:p>
                  </a:txBody>
                  <a:tcPr marL="95250" marR="76200" marT="76200" marB="57150">
                    <a:solidFill>
                      <a:srgbClr val="FAF9F6"/>
                    </a:solidFill>
                  </a:tcPr>
                </a:tc>
              </a:tr>
              <a:tr h="685800">
                <a:tc>
                  <a:txBody>
                    <a:bodyPr/>
                    <a:lstStyle/>
                    <a:p>
                      <a:r>
                        <a:rPr sz="1800">
                          <a:solidFill>
                            <a:srgbClr val="15191F"/>
                          </a:solidFill>
                          <a:latin typeface="Arial"/>
                          <a:ea typeface="Arial"/>
                          <a:cs typeface="Arial"/>
                        </a:rPr>
                        <a:t>M052–M068</a:t>
                      </a:r>
                    </a:p>
                    <a:p>
                      <a:r>
                        <a:rPr sz="1800">
                          <a:solidFill>
                            <a:srgbClr val="15191F"/>
                          </a:solidFill>
                          <a:latin typeface="Arial"/>
                          <a:ea typeface="Arial"/>
                          <a:cs typeface="Arial"/>
                        </a:rPr>
                        <a:t> 17 / 17</a:t>
                      </a:r>
                    </a:p>
                  </a:txBody>
                  <a:tcPr marL="95250" marR="76200" marT="76200" marB="57150">
                    <a:solidFill>
                      <a:srgbClr val="FAF9F6"/>
                    </a:solidFill>
                  </a:tcPr>
                </a:tc>
                <a:tc>
                  <a:txBody>
                    <a:bodyPr/>
                    <a:lstStyle/>
                    <a:p>
                      <a:r>
                        <a:rPr sz="1800">
                          <a:solidFill>
                            <a:srgbClr val="15191F"/>
                          </a:solidFill>
                          <a:latin typeface="Arial"/>
                          <a:ea typeface="Arial"/>
                          <a:cs typeface="Arial"/>
                        </a:rPr>
                        <a:t>105.4</a:t>
                      </a:r>
                    </a:p>
                  </a:txBody>
                  <a:tcPr marL="95250" marR="76200" marT="76200" marB="57150">
                    <a:solidFill>
                      <a:srgbClr val="FAF9F6"/>
                    </a:solidFill>
                  </a:tcPr>
                </a:tc>
                <a:tc>
                  <a:txBody>
                    <a:bodyPr/>
                    <a:lstStyle/>
                    <a:p>
                      <a:r>
                        <a:rPr sz="1800">
                          <a:solidFill>
                            <a:srgbClr val="15191F"/>
                          </a:solidFill>
                          <a:latin typeface="Arial"/>
                          <a:ea typeface="Arial"/>
                          <a:cs typeface="Arial"/>
                        </a:rPr>
                        <a:t>73.7</a:t>
                      </a:r>
                    </a:p>
                  </a:txBody>
                  <a:tcPr marL="95250" marR="76200" marT="76200" marB="57150">
                    <a:solidFill>
                      <a:srgbClr val="FAF9F6"/>
                    </a:solidFill>
                  </a:tcPr>
                </a:tc>
                <a:tc>
                  <a:txBody>
                    <a:bodyPr/>
                    <a:lstStyle/>
                    <a:p>
                      <a:r>
                        <a:rPr sz="1800">
                          <a:solidFill>
                            <a:srgbClr val="15191F"/>
                          </a:solidFill>
                          <a:latin typeface="Arial"/>
                          <a:ea typeface="Arial"/>
                          <a:cs typeface="Arial"/>
                        </a:rPr>
                        <a:t>102.9</a:t>
                      </a:r>
                    </a:p>
                  </a:txBody>
                  <a:tcPr marL="95250" marR="76200" marT="76200" marB="57150">
                    <a:solidFill>
                      <a:srgbClr val="FAF9F6"/>
                    </a:solidFill>
                  </a:tcPr>
                </a:tc>
                <a:tc>
                  <a:txBody>
                    <a:bodyPr/>
                    <a:lstStyle/>
                    <a:p>
                      <a:r>
                        <a:rPr sz="1800">
                          <a:solidFill>
                            <a:srgbClr val="15191F"/>
                          </a:solidFill>
                          <a:latin typeface="Arial"/>
                          <a:ea typeface="Arial"/>
                          <a:cs typeface="Arial"/>
                        </a:rPr>
                        <a:t>67.0</a:t>
                      </a:r>
                    </a:p>
                  </a:txBody>
                  <a:tcPr marL="95250" marR="76200" marT="76200" marB="57150">
                    <a:solidFill>
                      <a:srgbClr val="FAF9F6"/>
                    </a:solidFill>
                  </a:tcPr>
                </a:tc>
                <a:tc>
                  <a:txBody>
                    <a:bodyPr/>
                    <a:lstStyle/>
                    <a:p>
                      <a:r>
                        <a:rPr sz="1800">
                          <a:solidFill>
                            <a:srgbClr val="15191F"/>
                          </a:solidFill>
                          <a:latin typeface="Arial"/>
                          <a:ea typeface="Arial"/>
                          <a:cs typeface="Arial"/>
                        </a:rPr>
                        <a:t>104.5</a:t>
                      </a:r>
                    </a:p>
                  </a:txBody>
                  <a:tcPr marL="95250" marR="76200" marT="76200" marB="57150">
                    <a:solidFill>
                      <a:srgbClr val="FAF9F6"/>
                    </a:solidFill>
                  </a:tcPr>
                </a:tc>
                <a:tc>
                  <a:txBody>
                    <a:bodyPr/>
                    <a:lstStyle/>
                    <a:p>
                      <a:r>
                        <a:rPr sz="1800">
                          <a:solidFill>
                            <a:srgbClr val="15191F"/>
                          </a:solidFill>
                          <a:latin typeface="Arial"/>
                          <a:ea typeface="Arial"/>
                          <a:cs typeface="Arial"/>
                        </a:rPr>
                        <a:t>71.4</a:t>
                      </a:r>
                    </a:p>
                  </a:txBody>
                  <a:tcPr marL="95250" marR="76200" marT="76200" marB="57150">
                    <a:solidFill>
                      <a:srgbClr val="FAF9F6"/>
                    </a:solidFill>
                  </a:tcPr>
                </a:tc>
              </a:tr>
              <a:tr h="685800">
                <a:tc>
                  <a:txBody>
                    <a:bodyPr/>
                    <a:lstStyle/>
                    <a:p>
                      <a:r>
                        <a:rPr sz="1800">
                          <a:solidFill>
                            <a:srgbClr val="15191F"/>
                          </a:solidFill>
                          <a:latin typeface="Arial"/>
                          <a:ea typeface="Arial"/>
                          <a:cs typeface="Arial"/>
                        </a:rPr>
                        <a:t>M069–M085</a:t>
                      </a:r>
                    </a:p>
                    <a:p>
                      <a:r>
                        <a:rPr sz="1800">
                          <a:solidFill>
                            <a:srgbClr val="15191F"/>
                          </a:solidFill>
                          <a:latin typeface="Arial"/>
                          <a:ea typeface="Arial"/>
                          <a:cs typeface="Arial"/>
                        </a:rPr>
                        <a:t> 17 / 9</a:t>
                      </a:r>
                    </a:p>
                  </a:txBody>
                  <a:tcPr marL="95250" marR="76200" marT="76200" marB="57150">
                    <a:solidFill>
                      <a:srgbClr val="FAF9F6"/>
                    </a:solidFill>
                  </a:tcPr>
                </a:tc>
                <a:tc>
                  <a:txBody>
                    <a:bodyPr/>
                    <a:lstStyle/>
                    <a:p>
                      <a:r>
                        <a:rPr sz="1800">
                          <a:solidFill>
                            <a:srgbClr val="15191F"/>
                          </a:solidFill>
                          <a:latin typeface="Arial"/>
                          <a:ea typeface="Arial"/>
                          <a:cs typeface="Arial"/>
                        </a:rPr>
                        <a:t>157.1</a:t>
                      </a:r>
                    </a:p>
                  </a:txBody>
                  <a:tcPr marL="95250" marR="76200" marT="76200" marB="57150">
                    <a:solidFill>
                      <a:srgbClr val="FAF9F6"/>
                    </a:solidFill>
                  </a:tcPr>
                </a:tc>
                <a:tc>
                  <a:txBody>
                    <a:bodyPr/>
                    <a:lstStyle/>
                    <a:p>
                      <a:r>
                        <a:rPr sz="1800">
                          <a:solidFill>
                            <a:srgbClr val="15191F"/>
                          </a:solidFill>
                          <a:latin typeface="Arial"/>
                          <a:ea typeface="Arial"/>
                          <a:cs typeface="Arial"/>
                        </a:rPr>
                        <a:t>150.9</a:t>
                      </a:r>
                    </a:p>
                  </a:txBody>
                  <a:tcPr marL="95250" marR="76200" marT="76200" marB="57150">
                    <a:solidFill>
                      <a:srgbClr val="FAF9F6"/>
                    </a:solidFill>
                  </a:tcPr>
                </a:tc>
                <a:tc>
                  <a:txBody>
                    <a:bodyPr/>
                    <a:lstStyle/>
                    <a:p>
                      <a:r>
                        <a:rPr sz="1800">
                          <a:solidFill>
                            <a:srgbClr val="15191F"/>
                          </a:solidFill>
                          <a:latin typeface="Arial"/>
                          <a:ea typeface="Arial"/>
                          <a:cs typeface="Arial"/>
                        </a:rPr>
                        <a:t>132.3</a:t>
                      </a:r>
                    </a:p>
                  </a:txBody>
                  <a:tcPr marL="95250" marR="76200" marT="76200" marB="57150">
                    <a:solidFill>
                      <a:srgbClr val="FAF9F6"/>
                    </a:solidFill>
                  </a:tcPr>
                </a:tc>
                <a:tc>
                  <a:txBody>
                    <a:bodyPr/>
                    <a:lstStyle/>
                    <a:p>
                      <a:r>
                        <a:rPr sz="1800">
                          <a:solidFill>
                            <a:srgbClr val="15191F"/>
                          </a:solidFill>
                          <a:latin typeface="Arial"/>
                          <a:ea typeface="Arial"/>
                          <a:cs typeface="Arial"/>
                        </a:rPr>
                        <a:t>127.2</a:t>
                      </a:r>
                    </a:p>
                  </a:txBody>
                  <a:tcPr marL="95250" marR="76200" marT="76200" marB="57150">
                    <a:solidFill>
                      <a:srgbClr val="FAF9F6"/>
                    </a:solidFill>
                  </a:tcPr>
                </a:tc>
                <a:tc>
                  <a:txBody>
                    <a:bodyPr/>
                    <a:lstStyle/>
                    <a:p>
                      <a:r>
                        <a:rPr sz="1800">
                          <a:solidFill>
                            <a:srgbClr val="15191F"/>
                          </a:solidFill>
                          <a:latin typeface="Arial"/>
                          <a:ea typeface="Arial"/>
                          <a:cs typeface="Arial"/>
                        </a:rPr>
                        <a:t>148.8</a:t>
                      </a:r>
                    </a:p>
                  </a:txBody>
                  <a:tcPr marL="95250" marR="76200" marT="76200" marB="57150">
                    <a:solidFill>
                      <a:srgbClr val="FAF9F6"/>
                    </a:solidFill>
                  </a:tcPr>
                </a:tc>
                <a:tc>
                  <a:txBody>
                    <a:bodyPr/>
                    <a:lstStyle/>
                    <a:p>
                      <a:r>
                        <a:rPr sz="1800">
                          <a:solidFill>
                            <a:srgbClr val="15191F"/>
                          </a:solidFill>
                          <a:latin typeface="Arial"/>
                          <a:ea typeface="Arial"/>
                          <a:cs typeface="Arial"/>
                        </a:rPr>
                        <a:t>143.0</a:t>
                      </a:r>
                    </a:p>
                  </a:txBody>
                  <a:tcPr marL="95250" marR="76200" marT="76200" marB="57150">
                    <a:solidFill>
                      <a:srgbClr val="FAF9F6"/>
                    </a:solidFill>
                  </a:tcPr>
                </a:tc>
              </a:tr>
            </a:tbl>
          </a:graphicData>
        </a:graphic>
      </p:graphicFrame>
      <p:sp>
        <p:nvSpPr>
          <p:cNvPr id="7" name="B - среднее по зоне, M - модель. Ошибки в бил">
            <a:extLst xmlns:a="http://schemas.openxmlformats.org/drawingml/2006/main">
              <a:ext uri="{FF2B5EF4-FFF2-40B4-BE49-F238E27FC236}">
                <a16:creationId xmlns:a16="http://schemas.microsoft.com/office/drawing/2014/main" id="{D2B49745-F221-4D9D-B8A9-76BE35DFBD6F}"/>
              </a:ext>
            </a:extLst>
          </p:cNvPr>
          <p:cNvSpPr>
            <a:spLocks xmlns:a="http://schemas.openxmlformats.org/drawingml/2006/main" noGrp="1"/>
          </p:cNvSpPr>
          <p:nvPr/>
        </p:nvSpPr>
        <p:spPr>
          <a:xfrm xmlns:a="http://schemas.openxmlformats.org/drawingml/2006/main">
            <a:off x="523875" y="4991100"/>
            <a:ext cx="1114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505C68"/>
                </a:solidFill>
                <a:latin typeface="Arial"/>
                <a:ea typeface="Arial"/>
                <a:cs typeface="Arial"/>
              </a:defRPr>
            </a:defPPr>
          </a:lstStyle>
          <a:p xmlns:a="http://schemas.openxmlformats.org/drawingml/2006/main">
            <a:pPr>
              <a:defRPr sz="1725" b="0">
                <a:solidFill>
                  <a:srgbClr val="505C68"/>
                </a:solidFill>
                <a:latin typeface="Arial"/>
                <a:ea typeface="Arial"/>
                <a:cs typeface="Arial"/>
              </a:defRPr>
            </a:pPr>
            <a:r>
              <a:rPr sz="1725" b="0">
                <a:solidFill>
                  <a:srgbClr val="505C68"/>
                </a:solidFill>
                <a:latin typeface="Arial"/>
                <a:ea typeface="Arial"/>
                <a:cs typeface="Arial"/>
              </a:rPr>
              <a:t>B - среднее по зоне, M - модель. Ошибки в билетах; меньше лучше</a:t>
            </a:r>
          </a:p>
        </p:txBody>
      </p:sp>
      <p:sp>
        <p:nvSpPr>
          <p:cNvPr id="8" name="Сценарные S, baseline / модель: без 143.913 /">
            <a:extLst xmlns:a="http://schemas.openxmlformats.org/drawingml/2006/main">
              <a:ext uri="{FF2B5EF4-FFF2-40B4-BE49-F238E27FC236}">
                <a16:creationId xmlns:a16="http://schemas.microsoft.com/office/drawing/2014/main" id="{1EBEFE02-4A56-43FC-B5A5-28EE1FEDB845}"/>
              </a:ext>
            </a:extLst>
          </p:cNvPr>
          <p:cNvSpPr>
            <a:spLocks xmlns:a="http://schemas.openxmlformats.org/drawingml/2006/main" noGrp="1"/>
          </p:cNvSpPr>
          <p:nvPr/>
        </p:nvSpPr>
        <p:spPr>
          <a:xfrm xmlns:a="http://schemas.openxmlformats.org/drawingml/2006/main">
            <a:off x="523875" y="5429250"/>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15191F"/>
                </a:solidFill>
                <a:latin typeface="Arial"/>
                <a:ea typeface="Arial"/>
                <a:cs typeface="Arial"/>
              </a:defRPr>
            </a:defPPr>
          </a:lstStyle>
          <a:p xmlns:a="http://schemas.openxmlformats.org/drawingml/2006/main">
            <a:pPr>
              <a:defRPr sz="1875" b="0">
                <a:solidFill>
                  <a:srgbClr val="15191F"/>
                </a:solidFill>
                <a:latin typeface="Arial"/>
                <a:ea typeface="Arial"/>
                <a:cs typeface="Arial"/>
              </a:defRPr>
            </a:pPr>
            <a:r>
              <a:rPr sz="1875" b="0">
                <a:solidFill>
                  <a:srgbClr val="15191F"/>
                </a:solidFill>
                <a:latin typeface="Arial"/>
                <a:ea typeface="Arial"/>
                <a:cs typeface="Arial"/>
              </a:rPr>
              <a:t>Сценарные S, baseline / модель: без 143.913 / 132.941; с 129.748 / 114.459</a:t>
            </a:r>
          </a:p>
        </p:txBody>
      </p:sp>
      <p:sp>
        <p:nvSpPr>
          <p:cNvPr id="9" name="R = √(11/17 × MSEбез + 6/17 × MSEс); S = 0.25">
            <a:extLst xmlns:a="http://schemas.openxmlformats.org/drawingml/2006/main">
              <a:ext uri="{FF2B5EF4-FFF2-40B4-BE49-F238E27FC236}">
                <a16:creationId xmlns:a16="http://schemas.microsoft.com/office/drawing/2014/main" id="{3A4F42E9-858E-48E4-BE92-45C273B6D7DB}"/>
              </a:ext>
            </a:extLst>
          </p:cNvPr>
          <p:cNvSpPr>
            <a:spLocks xmlns:a="http://schemas.openxmlformats.org/drawingml/2006/main" noGrp="1"/>
          </p:cNvSpPr>
          <p:nvPr/>
        </p:nvSpPr>
        <p:spPr>
          <a:xfrm xmlns:a="http://schemas.openxmlformats.org/drawingml/2006/main">
            <a:off x="523875" y="5905500"/>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505C68"/>
                </a:solidFill>
                <a:latin typeface="Arial"/>
                <a:ea typeface="Arial"/>
                <a:cs typeface="Arial"/>
              </a:defRPr>
            </a:defPPr>
          </a:lstStyle>
          <a:p xmlns:a="http://schemas.openxmlformats.org/drawingml/2006/main">
            <a:pPr>
              <a:defRPr sz="1725" b="0">
                <a:solidFill>
                  <a:srgbClr val="505C68"/>
                </a:solidFill>
                <a:latin typeface="Arial"/>
                <a:ea typeface="Arial"/>
                <a:cs typeface="Arial"/>
              </a:defRPr>
            </a:pPr>
            <a:r>
              <a:rPr sz="1725" b="0">
                <a:solidFill>
                  <a:srgbClr val="505C68"/>
                </a:solidFill>
                <a:latin typeface="Arial"/>
                <a:ea typeface="Arial"/>
                <a:cs typeface="Arial"/>
              </a:rPr>
              <a:t>R = √(11/17 × MSEбез + 6/17 × MSEс); S = 0.25R₁ + 0.25R₂ + 0.50R₃</a:t>
            </a:r>
          </a:p>
        </p:txBody>
      </p:sp>
    </p:spTree>
    <p:extLst>
      <p:ext uri="{BB962C8B-B14F-4D97-AF65-F5344CB8AC3E}">
        <p14:creationId xmlns:p14="http://schemas.microsoft.com/office/powerpoint/2010/main" val="1466138402"/>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0" name="Качество по ценовым зонам">
            <a:extLst xmlns:a="http://schemas.openxmlformats.org/drawingml/2006/main">
              <a:ext uri="{FF2B5EF4-FFF2-40B4-BE49-F238E27FC236}">
                <a16:creationId xmlns:a16="http://schemas.microsoft.com/office/drawing/2014/main" id="{8DBD4F7E-AB3B-47A4-B6E6-C483C254714E}"/>
              </a:ext>
            </a:extLst>
          </p:cNvPr>
          <p:cNvSpPr>
            <a:spLocks xmlns:a="http://schemas.openxmlformats.org/drawingml/2006/main" noGrp="1"/>
          </p:cNvSpPr>
          <p:nvPr/>
        </p:nvSpPr>
        <p:spPr>
          <a:xfrm xmlns:a="http://schemas.openxmlformats.org/drawingml/2006/main">
            <a:off x="523875" y="3429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15191F"/>
                </a:solidFill>
                <a:latin typeface="Arial"/>
                <a:ea typeface="Arial"/>
                <a:cs typeface="Arial"/>
              </a:defRPr>
            </a:defPPr>
          </a:lstStyle>
          <a:p xmlns:a="http://schemas.openxmlformats.org/drawingml/2006/main">
            <a:pPr>
              <a:defRPr sz="3225" b="1">
                <a:solidFill>
                  <a:srgbClr val="15191F"/>
                </a:solidFill>
                <a:latin typeface="Arial"/>
                <a:ea typeface="Arial"/>
                <a:cs typeface="Arial"/>
              </a:defRPr>
            </a:pPr>
            <a:r>
              <a:rPr sz="3225" b="1">
                <a:solidFill>
                  <a:srgbClr val="15191F"/>
                </a:solidFill>
                <a:latin typeface="Arial"/>
                <a:ea typeface="Arial"/>
                <a:cs typeface="Arial"/>
              </a:rPr>
              <a:t>Качество по ценовым зонам</a:t>
            </a:r>
          </a:p>
        </p:txBody>
      </p:sp>
      <p:sp>
        <p:nvSpPr>
          <p:cNvPr id="2" name="СпускоГрад  /  DATA MATCH">
            <a:extLst xmlns:a="http://schemas.openxmlformats.org/drawingml/2006/main">
              <a:ext uri="{FF2B5EF4-FFF2-40B4-BE49-F238E27FC236}">
                <a16:creationId xmlns:a16="http://schemas.microsoft.com/office/drawing/2014/main" id="{0A742FAE-183E-4F06-9E8C-D8F45FA951B4}"/>
              </a:ext>
            </a:extLst>
          </p:cNvPr>
          <p:cNvSpPr>
            <a:spLocks xmlns:a="http://schemas.openxmlformats.org/drawingml/2006/main" noGrp="1"/>
          </p:cNvSpPr>
          <p:nvPr/>
        </p:nvSpPr>
        <p:spPr>
          <a:xfrm xmlns:a="http://schemas.openxmlformats.org/drawingml/2006/main">
            <a:off x="523875" y="63817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505C68"/>
                </a:solidFill>
                <a:latin typeface="Arial"/>
                <a:ea typeface="Arial"/>
                <a:cs typeface="Arial"/>
              </a:defRPr>
            </a:defPPr>
          </a:lstStyle>
          <a:p xmlns:a="http://schemas.openxmlformats.org/drawingml/2006/main">
            <a:pPr>
              <a:defRPr sz="1350" b="0">
                <a:solidFill>
                  <a:srgbClr val="505C68"/>
                </a:solidFill>
                <a:latin typeface="Arial"/>
                <a:ea typeface="Arial"/>
                <a:cs typeface="Arial"/>
              </a:defRPr>
            </a:pPr>
            <a:r>
              <a:rPr sz="1350" b="0">
                <a:solidFill>
                  <a:srgbClr val="505C68"/>
                </a:solidFill>
                <a:latin typeface="Arial"/>
                <a:ea typeface="Arial"/>
                <a:cs typeface="Arial"/>
              </a:rPr>
              <a:t>СпускоГрад  /  DATA MATCH</a:t>
            </a:r>
          </a:p>
        </p:txBody>
      </p:sp>
      <p:sp>
        <p:nvSpPr>
          <p:cNvPr id="3" name="06">
            <a:extLst xmlns:a="http://schemas.openxmlformats.org/drawingml/2006/main">
              <a:ext uri="{FF2B5EF4-FFF2-40B4-BE49-F238E27FC236}">
                <a16:creationId xmlns:a16="http://schemas.microsoft.com/office/drawing/2014/main" id="{25C0D323-31AE-4261-8B3E-B9089E7BFFCD}"/>
              </a:ext>
            </a:extLst>
          </p:cNvPr>
          <p:cNvSpPr>
            <a:spLocks xmlns:a="http://schemas.openxmlformats.org/drawingml/2006/main" noGrp="1"/>
          </p:cNvSpPr>
          <p:nvPr/>
        </p:nvSpPr>
        <p:spPr>
          <a:xfrm xmlns:a="http://schemas.openxmlformats.org/drawingml/2006/main">
            <a:off x="11144250" y="63436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505C68"/>
                </a:solidFill>
                <a:latin typeface="Arial"/>
                <a:ea typeface="Arial"/>
                <a:cs typeface="Arial"/>
              </a:defRPr>
            </a:defPPr>
          </a:lstStyle>
          <a:p xmlns:a="http://schemas.openxmlformats.org/drawingml/2006/main">
            <a:pPr>
              <a:defRPr sz="1575" b="0">
                <a:solidFill>
                  <a:srgbClr val="505C68"/>
                </a:solidFill>
                <a:latin typeface="Arial"/>
                <a:ea typeface="Arial"/>
                <a:cs typeface="Arial"/>
              </a:defRPr>
            </a:pPr>
            <a:r>
              <a:rPr sz="1575" b="0">
                <a:solidFill>
                  <a:srgbClr val="505C68"/>
                </a:solidFill>
                <a:latin typeface="Arial"/>
                <a:ea typeface="Arial"/>
                <a:cs typeface="Arial"/>
              </a:rPr>
              <a:t>06</a:t>
            </a:r>
          </a:p>
        </p:txBody>
      </p:sp>
      <p:sp>
        <p:nvSpPr>
          <p:cNvPr id="4" name="S зоны: baseline / модель">
            <a:extLst xmlns:a="http://schemas.openxmlformats.org/drawingml/2006/main">
              <a:ext uri="{FF2B5EF4-FFF2-40B4-BE49-F238E27FC236}">
                <a16:creationId xmlns:a16="http://schemas.microsoft.com/office/drawing/2014/main" id="{1F0CF351-910F-462B-9326-071614BAE834}"/>
              </a:ext>
            </a:extLst>
          </p:cNvPr>
          <p:cNvSpPr>
            <a:spLocks xmlns:a="http://schemas.openxmlformats.org/drawingml/2006/main" noGrp="1"/>
          </p:cNvSpPr>
          <p:nvPr/>
        </p:nvSpPr>
        <p:spPr>
          <a:xfrm xmlns:a="http://schemas.openxmlformats.org/drawingml/2006/main">
            <a:off x="523875" y="1323975"/>
            <a:ext cx="5476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15191F"/>
                </a:solidFill>
                <a:latin typeface="Arial"/>
                <a:ea typeface="Arial"/>
                <a:cs typeface="Arial"/>
              </a:defRPr>
            </a:defPPr>
          </a:lstStyle>
          <a:p xmlns:a="http://schemas.openxmlformats.org/drawingml/2006/main">
            <a:pPr>
              <a:defRPr sz="2025" b="1">
                <a:solidFill>
                  <a:srgbClr val="15191F"/>
                </a:solidFill>
                <a:latin typeface="Arial"/>
                <a:ea typeface="Arial"/>
                <a:cs typeface="Arial"/>
              </a:defRPr>
            </a:pPr>
            <a:r>
              <a:rPr sz="2025" b="1">
                <a:solidFill>
                  <a:srgbClr val="15191F"/>
                </a:solidFill>
                <a:latin typeface="Arial"/>
                <a:ea typeface="Arial"/>
                <a:cs typeface="Arial"/>
              </a:rPr>
              <a:t>S зоны: baseline / модель</a:t>
            </a:r>
          </a:p>
        </p:txBody>
      </p:sp>
      <p:graphicFrame>
        <p:nvGraphicFramePr>
          <p:cNvPr id="5" name="Chart">
            <a:extLst xmlns:a="http://schemas.openxmlformats.org/drawingml/2006/main">
              <a:ext uri="{FF2B5EF4-FFF2-40B4-BE49-F238E27FC236}">
                <a16:creationId xmlns:a16="http://schemas.microsoft.com/office/drawing/2014/main" id="{FE26FBEB-AFC8-438A-82F7-C5E2F623107F}"/>
              </a:ext>
            </a:extLst>
          </p:cNvPr>
          <p:cNvGraphicFramePr/>
          <p:nvPr/>
        </p:nvGraphicFramePr>
        <p:xfrm>
          <a:off xmlns:a="http://schemas.openxmlformats.org/drawingml/2006/main" x="523875" y="1790700"/>
          <a:ext xmlns:a="http://schemas.openxmlformats.org/drawingml/2006/main" cx="5391150" cy="3962400"/>
        </p:xfrm>
        <a:graphic xmlns:a="http://schemas.openxmlformats.org/drawingml/2006/main">
          <a:graphicData uri="http://schemas.openxmlformats.org/drawingml/2006/chart">
            <c:chart xmlns:r="http://schemas.openxmlformats.org/officeDocument/2006/relationships" xmlns:c="http://schemas.openxmlformats.org/drawingml/2006/chart" r:id="Rc7dd54eddb1c4939"/>
          </a:graphicData>
        </a:graphic>
      </p:graphicFrame>
      <p:sp>
        <p:nvSpPr>
          <p:cNvPr id="6" name="RMSE сценариев: baseline / модель">
            <a:extLst xmlns:a="http://schemas.openxmlformats.org/drawingml/2006/main">
              <a:ext uri="{FF2B5EF4-FFF2-40B4-BE49-F238E27FC236}">
                <a16:creationId xmlns:a16="http://schemas.microsoft.com/office/drawing/2014/main" id="{9B5B052E-F98C-4C10-8C44-893A3C6CA85E}"/>
              </a:ext>
            </a:extLst>
          </p:cNvPr>
          <p:cNvSpPr>
            <a:spLocks xmlns:a="http://schemas.openxmlformats.org/drawingml/2006/main" noGrp="1"/>
          </p:cNvSpPr>
          <p:nvPr/>
        </p:nvSpPr>
        <p:spPr>
          <a:xfrm xmlns:a="http://schemas.openxmlformats.org/drawingml/2006/main">
            <a:off x="6276975" y="1323975"/>
            <a:ext cx="542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15191F"/>
                </a:solidFill>
                <a:latin typeface="Arial"/>
                <a:ea typeface="Arial"/>
                <a:cs typeface="Arial"/>
              </a:defRPr>
            </a:defPPr>
          </a:lstStyle>
          <a:p xmlns:a="http://schemas.openxmlformats.org/drawingml/2006/main">
            <a:pPr>
              <a:defRPr sz="1950" b="1">
                <a:solidFill>
                  <a:srgbClr val="15191F"/>
                </a:solidFill>
                <a:latin typeface="Arial"/>
                <a:ea typeface="Arial"/>
                <a:cs typeface="Arial"/>
              </a:defRPr>
            </a:pPr>
            <a:r>
              <a:rPr sz="1950" b="1">
                <a:solidFill>
                  <a:srgbClr val="15191F"/>
                </a:solidFill>
                <a:latin typeface="Arial"/>
                <a:ea typeface="Arial"/>
                <a:cs typeface="Arial"/>
              </a:rPr>
              <a:t>RMSE сценариев: baseline / модель</a:t>
            </a:r>
          </a:p>
        </p:txBody>
      </p:sp>
      <p:graphicFrame>
        <p:nvGraphicFramePr>
          <p:cNvPr id="7" name="">
            <a:extLst xmlns:a="http://schemas.openxmlformats.org/drawingml/2006/main">
              <a:ext uri="{FF2B5EF4-FFF2-40B4-BE49-F238E27FC236}">
                <a16:creationId xmlns:a16="http://schemas.microsoft.com/office/drawing/2014/main" id="{FCD527A5-C46F-4C33-A7C0-4AD05E4071A0}"/>
              </a:ext>
            </a:extLst>
          </p:cNvPr>
          <p:cNvGraphicFramePr/>
          <p:nvPr/>
        </p:nvGraphicFramePr>
        <p:xfrm>
          <a:off xmlns:a="http://schemas.openxmlformats.org/drawingml/2006/main" x="6276975" y="1781175"/>
          <a:ext xmlns:a="http://schemas.openxmlformats.org/drawingml/2006/main" cx="5391150" cy="3600450"/>
        </p:xfrm>
        <a:graphic xmlns:a="http://schemas.openxmlformats.org/drawingml/2006/main">
          <a:graphicData uri="http://schemas.openxmlformats.org/drawingml/2006/table">
            <a:tbl>
              <a:tblPr/>
              <a:tblGrid>
                <a:gridCol w="723900"/>
                <a:gridCol w="2333625"/>
                <a:gridCol w="2333625"/>
              </a:tblGrid>
              <a:tr h="400050">
                <a:tc>
                  <a:txBody>
                    <a:bodyPr/>
                    <a:lstStyle/>
                    <a:p>
                      <a:r>
                        <a:rPr sz="1725" b="1">
                          <a:solidFill>
                            <a:srgbClr val="FFFFFF"/>
                          </a:solidFill>
                          <a:latin typeface="Arial"/>
                          <a:ea typeface="Arial"/>
                          <a:cs typeface="Arial"/>
                        </a:rPr>
                        <a:t>Зона</a:t>
                      </a:r>
                    </a:p>
                  </a:txBody>
                  <a:tcPr marL="95250" marR="76200" marT="76200" marB="57150">
                    <a:solidFill>
                      <a:srgbClr val="15191F"/>
                    </a:solidFill>
                  </a:tcPr>
                </a:tc>
                <a:tc>
                  <a:txBody>
                    <a:bodyPr/>
                    <a:lstStyle/>
                    <a:p>
                      <a:r>
                        <a:rPr sz="1725" b="1">
                          <a:solidFill>
                            <a:srgbClr val="FFFFFF"/>
                          </a:solidFill>
                          <a:latin typeface="Arial"/>
                          <a:ea typeface="Arial"/>
                          <a:cs typeface="Arial"/>
                        </a:rPr>
                        <a:t>Без продаж</a:t>
                      </a:r>
                    </a:p>
                  </a:txBody>
                  <a:tcPr marL="95250" marR="76200" marT="76200" marB="57150">
                    <a:solidFill>
                      <a:srgbClr val="15191F"/>
                    </a:solidFill>
                  </a:tcPr>
                </a:tc>
                <a:tc>
                  <a:txBody>
                    <a:bodyPr/>
                    <a:lstStyle/>
                    <a:p>
                      <a:r>
                        <a:rPr sz="1725" b="1">
                          <a:solidFill>
                            <a:srgbClr val="FFFFFF"/>
                          </a:solidFill>
                          <a:latin typeface="Arial"/>
                          <a:ea typeface="Arial"/>
                          <a:cs typeface="Arial"/>
                        </a:rPr>
                        <a:t>С продажами</a:t>
                      </a:r>
                    </a:p>
                  </a:txBody>
                  <a:tcPr marL="95250" marR="76200" marT="76200" marB="57150">
                    <a:solidFill>
                      <a:srgbClr val="15191F"/>
                    </a:solidFill>
                  </a:tcPr>
                </a:tc>
              </a:tr>
              <a:tr h="400050">
                <a:tc>
                  <a:txBody>
                    <a:bodyPr/>
                    <a:lstStyle/>
                    <a:p>
                      <a:r>
                        <a:rPr sz="1725">
                          <a:solidFill>
                            <a:srgbClr val="15191F"/>
                          </a:solidFill>
                          <a:latin typeface="Arial"/>
                          <a:ea typeface="Arial"/>
                          <a:cs typeface="Arial"/>
                        </a:rPr>
                        <a:t>1</a:t>
                      </a:r>
                    </a:p>
                  </a:txBody>
                  <a:tcPr marL="95250" marR="76200" marT="76200" marB="57150">
                    <a:solidFill>
                      <a:srgbClr val="FAF9F6"/>
                    </a:solidFill>
                  </a:tcPr>
                </a:tc>
                <a:tc>
                  <a:txBody>
                    <a:bodyPr/>
                    <a:lstStyle/>
                    <a:p>
                      <a:r>
                        <a:rPr sz="1725">
                          <a:solidFill>
                            <a:srgbClr val="15191F"/>
                          </a:solidFill>
                          <a:latin typeface="Arial"/>
                          <a:ea typeface="Arial"/>
                          <a:cs typeface="Arial"/>
                        </a:rPr>
                        <a:t>42.7 / 56.2</a:t>
                      </a:r>
                    </a:p>
                  </a:txBody>
                  <a:tcPr marL="95250" marR="76200" marT="76200" marB="57150">
                    <a:solidFill>
                      <a:srgbClr val="FAF9F6"/>
                    </a:solidFill>
                  </a:tcPr>
                </a:tc>
                <a:tc>
                  <a:txBody>
                    <a:bodyPr/>
                    <a:lstStyle/>
                    <a:p>
                      <a:r>
                        <a:rPr sz="1725">
                          <a:solidFill>
                            <a:srgbClr val="15191F"/>
                          </a:solidFill>
                          <a:latin typeface="Arial"/>
                          <a:ea typeface="Arial"/>
                          <a:cs typeface="Arial"/>
                        </a:rPr>
                        <a:t>43.6 / 49.1</a:t>
                      </a:r>
                    </a:p>
                  </a:txBody>
                  <a:tcPr marL="95250" marR="76200" marT="76200" marB="57150">
                    <a:solidFill>
                      <a:srgbClr val="FAF9F6"/>
                    </a:solidFill>
                  </a:tcPr>
                </a:tc>
              </a:tr>
              <a:tr h="400050">
                <a:tc>
                  <a:txBody>
                    <a:bodyPr/>
                    <a:lstStyle/>
                    <a:p>
                      <a:r>
                        <a:rPr sz="1725">
                          <a:solidFill>
                            <a:srgbClr val="15191F"/>
                          </a:solidFill>
                          <a:latin typeface="Arial"/>
                          <a:ea typeface="Arial"/>
                          <a:cs typeface="Arial"/>
                        </a:rPr>
                        <a:t>2</a:t>
                      </a:r>
                    </a:p>
                  </a:txBody>
                  <a:tcPr marL="95250" marR="76200" marT="76200" marB="57150">
                    <a:solidFill>
                      <a:srgbClr val="FAF9F6"/>
                    </a:solidFill>
                  </a:tcPr>
                </a:tc>
                <a:tc>
                  <a:txBody>
                    <a:bodyPr/>
                    <a:lstStyle/>
                    <a:p>
                      <a:r>
                        <a:rPr sz="1725">
                          <a:solidFill>
                            <a:srgbClr val="15191F"/>
                          </a:solidFill>
                          <a:latin typeface="Arial"/>
                          <a:ea typeface="Arial"/>
                          <a:cs typeface="Arial"/>
                        </a:rPr>
                        <a:t>52.6 / 52.4</a:t>
                      </a:r>
                    </a:p>
                  </a:txBody>
                  <a:tcPr marL="95250" marR="76200" marT="76200" marB="57150">
                    <a:solidFill>
                      <a:srgbClr val="FAF9F6"/>
                    </a:solidFill>
                  </a:tcPr>
                </a:tc>
                <a:tc>
                  <a:txBody>
                    <a:bodyPr/>
                    <a:lstStyle/>
                    <a:p>
                      <a:r>
                        <a:rPr sz="1725">
                          <a:solidFill>
                            <a:srgbClr val="15191F"/>
                          </a:solidFill>
                          <a:latin typeface="Arial"/>
                          <a:ea typeface="Arial"/>
                          <a:cs typeface="Arial"/>
                        </a:rPr>
                        <a:t>44.2 / 41.3</a:t>
                      </a:r>
                    </a:p>
                  </a:txBody>
                  <a:tcPr marL="95250" marR="76200" marT="76200" marB="57150">
                    <a:solidFill>
                      <a:srgbClr val="FAF9F6"/>
                    </a:solidFill>
                  </a:tcPr>
                </a:tc>
              </a:tr>
              <a:tr h="400050">
                <a:tc>
                  <a:txBody>
                    <a:bodyPr/>
                    <a:lstStyle/>
                    <a:p>
                      <a:r>
                        <a:rPr sz="1725">
                          <a:solidFill>
                            <a:srgbClr val="15191F"/>
                          </a:solidFill>
                          <a:latin typeface="Arial"/>
                          <a:ea typeface="Arial"/>
                          <a:cs typeface="Arial"/>
                        </a:rPr>
                        <a:t>3</a:t>
                      </a:r>
                    </a:p>
                  </a:txBody>
                  <a:tcPr marL="95250" marR="76200" marT="76200" marB="57150">
                    <a:solidFill>
                      <a:srgbClr val="FAF9F6"/>
                    </a:solidFill>
                  </a:tcPr>
                </a:tc>
                <a:tc>
                  <a:txBody>
                    <a:bodyPr/>
                    <a:lstStyle/>
                    <a:p>
                      <a:r>
                        <a:rPr sz="1725">
                          <a:solidFill>
                            <a:srgbClr val="15191F"/>
                          </a:solidFill>
                          <a:latin typeface="Arial"/>
                          <a:ea typeface="Arial"/>
                          <a:cs typeface="Arial"/>
                        </a:rPr>
                        <a:t>70.2 / 77.9</a:t>
                      </a:r>
                    </a:p>
                  </a:txBody>
                  <a:tcPr marL="95250" marR="76200" marT="76200" marB="57150">
                    <a:solidFill>
                      <a:srgbClr val="FAF9F6"/>
                    </a:solidFill>
                  </a:tcPr>
                </a:tc>
                <a:tc>
                  <a:txBody>
                    <a:bodyPr/>
                    <a:lstStyle/>
                    <a:p>
                      <a:r>
                        <a:rPr sz="1725">
                          <a:solidFill>
                            <a:srgbClr val="15191F"/>
                          </a:solidFill>
                          <a:latin typeface="Arial"/>
                          <a:ea typeface="Arial"/>
                          <a:cs typeface="Arial"/>
                        </a:rPr>
                        <a:t>61.6 / 67.7</a:t>
                      </a:r>
                    </a:p>
                  </a:txBody>
                  <a:tcPr marL="95250" marR="76200" marT="76200" marB="57150">
                    <a:solidFill>
                      <a:srgbClr val="FAF9F6"/>
                    </a:solidFill>
                  </a:tcPr>
                </a:tc>
              </a:tr>
              <a:tr h="400050">
                <a:tc>
                  <a:txBody>
                    <a:bodyPr/>
                    <a:lstStyle/>
                    <a:p>
                      <a:r>
                        <a:rPr sz="1725">
                          <a:solidFill>
                            <a:srgbClr val="15191F"/>
                          </a:solidFill>
                          <a:latin typeface="Arial"/>
                          <a:ea typeface="Arial"/>
                          <a:cs typeface="Arial"/>
                        </a:rPr>
                        <a:t>4</a:t>
                      </a:r>
                    </a:p>
                  </a:txBody>
                  <a:tcPr marL="95250" marR="76200" marT="76200" marB="57150">
                    <a:solidFill>
                      <a:srgbClr val="FAF9F6"/>
                    </a:solidFill>
                  </a:tcPr>
                </a:tc>
                <a:tc>
                  <a:txBody>
                    <a:bodyPr/>
                    <a:lstStyle/>
                    <a:p>
                      <a:r>
                        <a:rPr sz="1725">
                          <a:solidFill>
                            <a:srgbClr val="15191F"/>
                          </a:solidFill>
                          <a:latin typeface="Arial"/>
                          <a:ea typeface="Arial"/>
                          <a:cs typeface="Arial"/>
                        </a:rPr>
                        <a:t>127.1 / 127.0</a:t>
                      </a:r>
                    </a:p>
                  </a:txBody>
                  <a:tcPr marL="95250" marR="76200" marT="76200" marB="57150">
                    <a:solidFill>
                      <a:srgbClr val="FAF9F6"/>
                    </a:solidFill>
                  </a:tcPr>
                </a:tc>
                <a:tc>
                  <a:txBody>
                    <a:bodyPr/>
                    <a:lstStyle/>
                    <a:p>
                      <a:r>
                        <a:rPr sz="1725">
                          <a:solidFill>
                            <a:srgbClr val="15191F"/>
                          </a:solidFill>
                          <a:latin typeface="Arial"/>
                          <a:ea typeface="Arial"/>
                          <a:cs typeface="Arial"/>
                        </a:rPr>
                        <a:t>125.8 / 115.8</a:t>
                      </a:r>
                    </a:p>
                  </a:txBody>
                  <a:tcPr marL="95250" marR="76200" marT="76200" marB="57150">
                    <a:solidFill>
                      <a:srgbClr val="FAF9F6"/>
                    </a:solidFill>
                  </a:tcPr>
                </a:tc>
              </a:tr>
              <a:tr h="400050">
                <a:tc>
                  <a:txBody>
                    <a:bodyPr/>
                    <a:lstStyle/>
                    <a:p>
                      <a:r>
                        <a:rPr sz="1725">
                          <a:solidFill>
                            <a:srgbClr val="15191F"/>
                          </a:solidFill>
                          <a:latin typeface="Arial"/>
                          <a:ea typeface="Arial"/>
                          <a:cs typeface="Arial"/>
                        </a:rPr>
                        <a:t>5</a:t>
                      </a:r>
                    </a:p>
                  </a:txBody>
                  <a:tcPr marL="95250" marR="76200" marT="76200" marB="57150">
                    <a:solidFill>
                      <a:srgbClr val="FAF9F6"/>
                    </a:solidFill>
                  </a:tcPr>
                </a:tc>
                <a:tc>
                  <a:txBody>
                    <a:bodyPr/>
                    <a:lstStyle/>
                    <a:p>
                      <a:r>
                        <a:rPr sz="1725">
                          <a:solidFill>
                            <a:srgbClr val="15191F"/>
                          </a:solidFill>
                          <a:latin typeface="Arial"/>
                          <a:ea typeface="Arial"/>
                          <a:cs typeface="Arial"/>
                        </a:rPr>
                        <a:t>135.5 / 129.2</a:t>
                      </a:r>
                    </a:p>
                  </a:txBody>
                  <a:tcPr marL="95250" marR="76200" marT="76200" marB="57150">
                    <a:solidFill>
                      <a:srgbClr val="FAF9F6"/>
                    </a:solidFill>
                  </a:tcPr>
                </a:tc>
                <a:tc>
                  <a:txBody>
                    <a:bodyPr/>
                    <a:lstStyle/>
                    <a:p>
                      <a:r>
                        <a:rPr sz="1725">
                          <a:solidFill>
                            <a:srgbClr val="15191F"/>
                          </a:solidFill>
                          <a:latin typeface="Arial"/>
                          <a:ea typeface="Arial"/>
                          <a:cs typeface="Arial"/>
                        </a:rPr>
                        <a:t>111.0 / 96.9</a:t>
                      </a:r>
                    </a:p>
                  </a:txBody>
                  <a:tcPr marL="95250" marR="76200" marT="76200" marB="57150">
                    <a:solidFill>
                      <a:srgbClr val="FAF9F6"/>
                    </a:solidFill>
                  </a:tcPr>
                </a:tc>
              </a:tr>
              <a:tr h="400050">
                <a:tc>
                  <a:txBody>
                    <a:bodyPr/>
                    <a:lstStyle/>
                    <a:p>
                      <a:r>
                        <a:rPr sz="1725">
                          <a:solidFill>
                            <a:srgbClr val="15191F"/>
                          </a:solidFill>
                          <a:latin typeface="Arial"/>
                          <a:ea typeface="Arial"/>
                          <a:cs typeface="Arial"/>
                        </a:rPr>
                        <a:t>6</a:t>
                      </a:r>
                    </a:p>
                  </a:txBody>
                  <a:tcPr marL="95250" marR="76200" marT="76200" marB="57150">
                    <a:solidFill>
                      <a:srgbClr val="FAF9F6"/>
                    </a:solidFill>
                  </a:tcPr>
                </a:tc>
                <a:tc>
                  <a:txBody>
                    <a:bodyPr/>
                    <a:lstStyle/>
                    <a:p>
                      <a:r>
                        <a:rPr sz="1725">
                          <a:solidFill>
                            <a:srgbClr val="15191F"/>
                          </a:solidFill>
                          <a:latin typeface="Arial"/>
                          <a:ea typeface="Arial"/>
                          <a:cs typeface="Arial"/>
                        </a:rPr>
                        <a:t>285.5 / 256.1</a:t>
                      </a:r>
                    </a:p>
                  </a:txBody>
                  <a:tcPr marL="95250" marR="76200" marT="76200" marB="57150">
                    <a:solidFill>
                      <a:srgbClr val="FAF9F6"/>
                    </a:solidFill>
                  </a:tcPr>
                </a:tc>
                <a:tc>
                  <a:txBody>
                    <a:bodyPr/>
                    <a:lstStyle/>
                    <a:p>
                      <a:r>
                        <a:rPr sz="1725">
                          <a:solidFill>
                            <a:srgbClr val="15191F"/>
                          </a:solidFill>
                          <a:latin typeface="Arial"/>
                          <a:ea typeface="Arial"/>
                          <a:cs typeface="Arial"/>
                        </a:rPr>
                        <a:t>253.3 / 198.0</a:t>
                      </a:r>
                    </a:p>
                  </a:txBody>
                  <a:tcPr marL="95250" marR="76200" marT="76200" marB="57150">
                    <a:solidFill>
                      <a:srgbClr val="FAF9F6"/>
                    </a:solidFill>
                  </a:tcPr>
                </a:tc>
              </a:tr>
              <a:tr h="400050">
                <a:tc>
                  <a:txBody>
                    <a:bodyPr/>
                    <a:lstStyle/>
                    <a:p>
                      <a:r>
                        <a:rPr sz="1725">
                          <a:solidFill>
                            <a:srgbClr val="15191F"/>
                          </a:solidFill>
                          <a:latin typeface="Arial"/>
                          <a:ea typeface="Arial"/>
                          <a:cs typeface="Arial"/>
                        </a:rPr>
                        <a:t>7</a:t>
                      </a:r>
                    </a:p>
                  </a:txBody>
                  <a:tcPr marL="95250" marR="76200" marT="76200" marB="57150">
                    <a:solidFill>
                      <a:srgbClr val="FAF9F6"/>
                    </a:solidFill>
                  </a:tcPr>
                </a:tc>
                <a:tc>
                  <a:txBody>
                    <a:bodyPr/>
                    <a:lstStyle/>
                    <a:p>
                      <a:r>
                        <a:rPr sz="1725">
                          <a:solidFill>
                            <a:srgbClr val="15191F"/>
                          </a:solidFill>
                          <a:latin typeface="Arial"/>
                          <a:ea typeface="Arial"/>
                          <a:cs typeface="Arial"/>
                        </a:rPr>
                        <a:t>174.0 / 162.5</a:t>
                      </a:r>
                    </a:p>
                  </a:txBody>
                  <a:tcPr marL="95250" marR="76200" marT="76200" marB="57150">
                    <a:solidFill>
                      <a:srgbClr val="FAF9F6"/>
                    </a:solidFill>
                  </a:tcPr>
                </a:tc>
                <a:tc>
                  <a:txBody>
                    <a:bodyPr/>
                    <a:lstStyle/>
                    <a:p>
                      <a:r>
                        <a:rPr sz="1725">
                          <a:solidFill>
                            <a:srgbClr val="15191F"/>
                          </a:solidFill>
                          <a:latin typeface="Arial"/>
                          <a:ea typeface="Arial"/>
                          <a:cs typeface="Arial"/>
                        </a:rPr>
                        <a:t>146.2 / 131.2</a:t>
                      </a:r>
                    </a:p>
                  </a:txBody>
                  <a:tcPr marL="95250" marR="76200" marT="76200" marB="57150">
                    <a:solidFill>
                      <a:srgbClr val="FAF9F6"/>
                    </a:solidFill>
                  </a:tcPr>
                </a:tc>
              </a:tr>
              <a:tr h="400050">
                <a:tc>
                  <a:txBody>
                    <a:bodyPr/>
                    <a:lstStyle/>
                    <a:p>
                      <a:r>
                        <a:rPr sz="1725">
                          <a:solidFill>
                            <a:srgbClr val="15191F"/>
                          </a:solidFill>
                          <a:latin typeface="Arial"/>
                          <a:ea typeface="Arial"/>
                          <a:cs typeface="Arial"/>
                        </a:rPr>
                        <a:t>8</a:t>
                      </a:r>
                    </a:p>
                  </a:txBody>
                  <a:tcPr marL="95250" marR="76200" marT="76200" marB="57150">
                    <a:solidFill>
                      <a:srgbClr val="FAF9F6"/>
                    </a:solidFill>
                  </a:tcPr>
                </a:tc>
                <a:tc>
                  <a:txBody>
                    <a:bodyPr/>
                    <a:lstStyle/>
                    <a:p>
                      <a:r>
                        <a:rPr sz="1725">
                          <a:solidFill>
                            <a:srgbClr val="15191F"/>
                          </a:solidFill>
                          <a:latin typeface="Arial"/>
                          <a:ea typeface="Arial"/>
                          <a:cs typeface="Arial"/>
                        </a:rPr>
                        <a:t>67.5 / 59.6</a:t>
                      </a:r>
                    </a:p>
                  </a:txBody>
                  <a:tcPr marL="95250" marR="76200" marT="76200" marB="57150">
                    <a:solidFill>
                      <a:srgbClr val="FAF9F6"/>
                    </a:solidFill>
                  </a:tcPr>
                </a:tc>
                <a:tc>
                  <a:txBody>
                    <a:bodyPr/>
                    <a:lstStyle/>
                    <a:p>
                      <a:r>
                        <a:rPr sz="1725">
                          <a:solidFill>
                            <a:srgbClr val="15191F"/>
                          </a:solidFill>
                          <a:latin typeface="Arial"/>
                          <a:ea typeface="Arial"/>
                          <a:cs typeface="Arial"/>
                        </a:rPr>
                        <a:t>68.0 / 53.1</a:t>
                      </a:r>
                    </a:p>
                  </a:txBody>
                  <a:tcPr marL="95250" marR="76200" marT="76200" marB="57150">
                    <a:solidFill>
                      <a:srgbClr val="FAF9F6"/>
                    </a:solidFill>
                  </a:tcPr>
                </a:tc>
              </a:tr>
            </a:tbl>
          </a:graphicData>
        </a:graphic>
      </p:graphicFrame>
      <p:sp>
        <p:nvSpPr>
          <p:cNvPr id="8" name="На зону: n без / с = 51 / 36">
            <a:extLst xmlns:a="http://schemas.openxmlformats.org/drawingml/2006/main">
              <a:ext uri="{FF2B5EF4-FFF2-40B4-BE49-F238E27FC236}">
                <a16:creationId xmlns:a16="http://schemas.microsoft.com/office/drawing/2014/main" id="{2335168E-1053-48B5-94D4-C44967288679}"/>
              </a:ext>
            </a:extLst>
          </p:cNvPr>
          <p:cNvSpPr>
            <a:spLocks xmlns:a="http://schemas.openxmlformats.org/drawingml/2006/main" noGrp="1"/>
          </p:cNvSpPr>
          <p:nvPr/>
        </p:nvSpPr>
        <p:spPr>
          <a:xfrm xmlns:a="http://schemas.openxmlformats.org/drawingml/2006/main">
            <a:off x="6276975" y="5534025"/>
            <a:ext cx="539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505C68"/>
                </a:solidFill>
                <a:latin typeface="Arial"/>
                <a:ea typeface="Arial"/>
                <a:cs typeface="Arial"/>
              </a:defRPr>
            </a:defPPr>
          </a:lstStyle>
          <a:p xmlns:a="http://schemas.openxmlformats.org/drawingml/2006/main">
            <a:pPr>
              <a:defRPr sz="1725" b="0">
                <a:solidFill>
                  <a:srgbClr val="505C68"/>
                </a:solidFill>
                <a:latin typeface="Arial"/>
                <a:ea typeface="Arial"/>
                <a:cs typeface="Arial"/>
              </a:defRPr>
            </a:pPr>
            <a:r>
              <a:rPr sz="1725" b="0">
                <a:solidFill>
                  <a:srgbClr val="505C68"/>
                </a:solidFill>
                <a:latin typeface="Arial"/>
                <a:ea typeface="Arial"/>
                <a:cs typeface="Arial"/>
              </a:rPr>
              <a:t>На зону: n без / с = 51 / 36</a:t>
            </a:r>
          </a:p>
        </p:txBody>
      </p:sp>
      <p:sp>
        <p:nvSpPr>
          <p:cNvPr id="9" name="Модель хуже в зонах 1 и 3; наибольшая S у зон">
            <a:extLst xmlns:a="http://schemas.openxmlformats.org/drawingml/2006/main">
              <a:ext uri="{FF2B5EF4-FFF2-40B4-BE49-F238E27FC236}">
                <a16:creationId xmlns:a16="http://schemas.microsoft.com/office/drawing/2014/main" id="{F8E1295D-4337-4970-99F7-57D237A32C5E}"/>
              </a:ext>
            </a:extLst>
          </p:cNvPr>
          <p:cNvSpPr>
            <a:spLocks xmlns:a="http://schemas.openxmlformats.org/drawingml/2006/main" noGrp="1"/>
          </p:cNvSpPr>
          <p:nvPr/>
        </p:nvSpPr>
        <p:spPr>
          <a:xfrm xmlns:a="http://schemas.openxmlformats.org/drawingml/2006/main">
            <a:off x="523875" y="5962650"/>
            <a:ext cx="11144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B62730"/>
                </a:solidFill>
                <a:latin typeface="Arial"/>
                <a:ea typeface="Arial"/>
                <a:cs typeface="Arial"/>
              </a:defRPr>
            </a:defPPr>
          </a:lstStyle>
          <a:p xmlns:a="http://schemas.openxmlformats.org/drawingml/2006/main">
            <a:pPr>
              <a:defRPr sz="1875" b="1">
                <a:solidFill>
                  <a:srgbClr val="B62730"/>
                </a:solidFill>
                <a:latin typeface="Arial"/>
                <a:ea typeface="Arial"/>
                <a:cs typeface="Arial"/>
              </a:defRPr>
            </a:pPr>
            <a:r>
              <a:rPr sz="1875" b="1">
                <a:solidFill>
                  <a:srgbClr val="B62730"/>
                </a:solidFill>
                <a:latin typeface="Arial"/>
                <a:ea typeface="Arial"/>
                <a:cs typeface="Arial"/>
              </a:rPr>
              <a:t>Модель хуже в зонах 1 и 3; наибольшая S у зоны 6</a:t>
            </a:r>
          </a:p>
        </p:txBody>
      </p:sp>
    </p:spTree>
    <p:extLst>
      <p:ext uri="{BB962C8B-B14F-4D97-AF65-F5344CB8AC3E}">
        <p14:creationId xmlns:p14="http://schemas.microsoft.com/office/powerpoint/2010/main" val="1156863595"/>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0" name="Ошибки по соперникам и дням недели">
            <a:extLst xmlns:a="http://schemas.openxmlformats.org/drawingml/2006/main">
              <a:ext uri="{FF2B5EF4-FFF2-40B4-BE49-F238E27FC236}">
                <a16:creationId xmlns:a16="http://schemas.microsoft.com/office/drawing/2014/main" id="{D9F26CCC-0265-4542-AA92-64FDE19E9C24}"/>
              </a:ext>
            </a:extLst>
          </p:cNvPr>
          <p:cNvSpPr>
            <a:spLocks xmlns:a="http://schemas.openxmlformats.org/drawingml/2006/main" noGrp="1"/>
          </p:cNvSpPr>
          <p:nvPr/>
        </p:nvSpPr>
        <p:spPr>
          <a:xfrm xmlns:a="http://schemas.openxmlformats.org/drawingml/2006/main">
            <a:off x="523875" y="3429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15191F"/>
                </a:solidFill>
                <a:latin typeface="Arial"/>
                <a:ea typeface="Arial"/>
                <a:cs typeface="Arial"/>
              </a:defRPr>
            </a:defPPr>
          </a:lstStyle>
          <a:p xmlns:a="http://schemas.openxmlformats.org/drawingml/2006/main">
            <a:pPr>
              <a:defRPr sz="3225" b="1">
                <a:solidFill>
                  <a:srgbClr val="15191F"/>
                </a:solidFill>
                <a:latin typeface="Arial"/>
                <a:ea typeface="Arial"/>
                <a:cs typeface="Arial"/>
              </a:defRPr>
            </a:pPr>
            <a:r>
              <a:rPr sz="3225" b="1">
                <a:solidFill>
                  <a:srgbClr val="15191F"/>
                </a:solidFill>
                <a:latin typeface="Arial"/>
                <a:ea typeface="Arial"/>
                <a:cs typeface="Arial"/>
              </a:rPr>
              <a:t>Ошибки по соперникам и дням недели</a:t>
            </a:r>
          </a:p>
        </p:txBody>
      </p:sp>
      <p:sp>
        <p:nvSpPr>
          <p:cNvPr id="2" name="СпускоГрад  /  DATA MATCH">
            <a:extLst xmlns:a="http://schemas.openxmlformats.org/drawingml/2006/main">
              <a:ext uri="{FF2B5EF4-FFF2-40B4-BE49-F238E27FC236}">
                <a16:creationId xmlns:a16="http://schemas.microsoft.com/office/drawing/2014/main" id="{CDBAD1E9-81D2-4474-8728-622738F2928E}"/>
              </a:ext>
            </a:extLst>
          </p:cNvPr>
          <p:cNvSpPr>
            <a:spLocks xmlns:a="http://schemas.openxmlformats.org/drawingml/2006/main" noGrp="1"/>
          </p:cNvSpPr>
          <p:nvPr/>
        </p:nvSpPr>
        <p:spPr>
          <a:xfrm xmlns:a="http://schemas.openxmlformats.org/drawingml/2006/main">
            <a:off x="523875" y="63817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505C68"/>
                </a:solidFill>
                <a:latin typeface="Arial"/>
                <a:ea typeface="Arial"/>
                <a:cs typeface="Arial"/>
              </a:defRPr>
            </a:defPPr>
          </a:lstStyle>
          <a:p xmlns:a="http://schemas.openxmlformats.org/drawingml/2006/main">
            <a:pPr>
              <a:defRPr sz="1350" b="0">
                <a:solidFill>
                  <a:srgbClr val="505C68"/>
                </a:solidFill>
                <a:latin typeface="Arial"/>
                <a:ea typeface="Arial"/>
                <a:cs typeface="Arial"/>
              </a:defRPr>
            </a:pPr>
            <a:r>
              <a:rPr sz="1350" b="0">
                <a:solidFill>
                  <a:srgbClr val="505C68"/>
                </a:solidFill>
                <a:latin typeface="Arial"/>
                <a:ea typeface="Arial"/>
                <a:cs typeface="Arial"/>
              </a:rPr>
              <a:t>СпускоГрад  /  DATA MATCH</a:t>
            </a:r>
          </a:p>
        </p:txBody>
      </p:sp>
      <p:sp>
        <p:nvSpPr>
          <p:cNvPr id="3" name="07">
            <a:extLst xmlns:a="http://schemas.openxmlformats.org/drawingml/2006/main">
              <a:ext uri="{FF2B5EF4-FFF2-40B4-BE49-F238E27FC236}">
                <a16:creationId xmlns:a16="http://schemas.microsoft.com/office/drawing/2014/main" id="{5D17AC41-E999-418E-9068-EB8BCDE3283C}"/>
              </a:ext>
            </a:extLst>
          </p:cNvPr>
          <p:cNvSpPr>
            <a:spLocks xmlns:a="http://schemas.openxmlformats.org/drawingml/2006/main" noGrp="1"/>
          </p:cNvSpPr>
          <p:nvPr/>
        </p:nvSpPr>
        <p:spPr>
          <a:xfrm xmlns:a="http://schemas.openxmlformats.org/drawingml/2006/main">
            <a:off x="11144250" y="63436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505C68"/>
                </a:solidFill>
                <a:latin typeface="Arial"/>
                <a:ea typeface="Arial"/>
                <a:cs typeface="Arial"/>
              </a:defRPr>
            </a:defPPr>
          </a:lstStyle>
          <a:p xmlns:a="http://schemas.openxmlformats.org/drawingml/2006/main">
            <a:pPr>
              <a:defRPr sz="1575" b="0">
                <a:solidFill>
                  <a:srgbClr val="505C68"/>
                </a:solidFill>
                <a:latin typeface="Arial"/>
                <a:ea typeface="Arial"/>
                <a:cs typeface="Arial"/>
              </a:defRPr>
            </a:pPr>
            <a:r>
              <a:rPr sz="1575" b="0">
                <a:solidFill>
                  <a:srgbClr val="505C68"/>
                </a:solidFill>
                <a:latin typeface="Arial"/>
                <a:ea typeface="Arial"/>
                <a:cs typeface="Arial"/>
              </a:rPr>
              <a:t>07</a:t>
            </a:r>
          </a:p>
        </p:txBody>
      </p:sp>
      <p:sp>
        <p:nvSpPr>
          <p:cNvPr id="4" name="Соперники: примеры групп">
            <a:extLst xmlns:a="http://schemas.openxmlformats.org/drawingml/2006/main">
              <a:ext uri="{FF2B5EF4-FFF2-40B4-BE49-F238E27FC236}">
                <a16:creationId xmlns:a16="http://schemas.microsoft.com/office/drawing/2014/main" id="{B546A9CB-8B97-4A98-B029-C237C1E861ED}"/>
              </a:ext>
            </a:extLst>
          </p:cNvPr>
          <p:cNvSpPr>
            <a:spLocks xmlns:a="http://schemas.openxmlformats.org/drawingml/2006/main" noGrp="1"/>
          </p:cNvSpPr>
          <p:nvPr/>
        </p:nvSpPr>
        <p:spPr>
          <a:xfrm xmlns:a="http://schemas.openxmlformats.org/drawingml/2006/main">
            <a:off x="523875" y="1362075"/>
            <a:ext cx="5410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15191F"/>
                </a:solidFill>
                <a:latin typeface="Arial"/>
                <a:ea typeface="Arial"/>
                <a:cs typeface="Arial"/>
              </a:defRPr>
            </a:defPPr>
          </a:lstStyle>
          <a:p xmlns:a="http://schemas.openxmlformats.org/drawingml/2006/main">
            <a:pPr>
              <a:defRPr sz="2025" b="1">
                <a:solidFill>
                  <a:srgbClr val="15191F"/>
                </a:solidFill>
                <a:latin typeface="Arial"/>
                <a:ea typeface="Arial"/>
                <a:cs typeface="Arial"/>
              </a:defRPr>
            </a:pPr>
            <a:r>
              <a:rPr sz="2025" b="1">
                <a:solidFill>
                  <a:srgbClr val="15191F"/>
                </a:solidFill>
                <a:latin typeface="Arial"/>
                <a:ea typeface="Arial"/>
                <a:cs typeface="Arial"/>
              </a:rPr>
              <a:t>Соперники: примеры групп</a:t>
            </a:r>
          </a:p>
        </p:txBody>
      </p:sp>
      <p:sp>
        <p:nvSpPr>
          <p:cNvPr id="5" name="Все дни недели">
            <a:extLst xmlns:a="http://schemas.openxmlformats.org/drawingml/2006/main">
              <a:ext uri="{FF2B5EF4-FFF2-40B4-BE49-F238E27FC236}">
                <a16:creationId xmlns:a16="http://schemas.microsoft.com/office/drawing/2014/main" id="{713C0CC1-DB21-445E-9A4C-AF763186B9BC}"/>
              </a:ext>
            </a:extLst>
          </p:cNvPr>
          <p:cNvSpPr>
            <a:spLocks xmlns:a="http://schemas.openxmlformats.org/drawingml/2006/main" noGrp="1"/>
          </p:cNvSpPr>
          <p:nvPr/>
        </p:nvSpPr>
        <p:spPr>
          <a:xfrm xmlns:a="http://schemas.openxmlformats.org/drawingml/2006/main">
            <a:off x="6315075" y="1362075"/>
            <a:ext cx="5381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15191F"/>
                </a:solidFill>
                <a:latin typeface="Arial"/>
                <a:ea typeface="Arial"/>
                <a:cs typeface="Arial"/>
              </a:defRPr>
            </a:defPPr>
          </a:lstStyle>
          <a:p xmlns:a="http://schemas.openxmlformats.org/drawingml/2006/main">
            <a:pPr>
              <a:defRPr sz="2025" b="1">
                <a:solidFill>
                  <a:srgbClr val="15191F"/>
                </a:solidFill>
                <a:latin typeface="Arial"/>
                <a:ea typeface="Arial"/>
                <a:cs typeface="Arial"/>
              </a:defRPr>
            </a:pPr>
            <a:r>
              <a:rPr sz="2025" b="1">
                <a:solidFill>
                  <a:srgbClr val="15191F"/>
                </a:solidFill>
                <a:latin typeface="Arial"/>
                <a:ea typeface="Arial"/>
                <a:cs typeface="Arial"/>
              </a:rPr>
              <a:t>Все дни недели</a:t>
            </a:r>
          </a:p>
        </p:txBody>
      </p:sp>
      <p:graphicFrame>
        <p:nvGraphicFramePr>
          <p:cNvPr id="6" name="">
            <a:extLst xmlns:a="http://schemas.openxmlformats.org/drawingml/2006/main">
              <a:ext uri="{FF2B5EF4-FFF2-40B4-BE49-F238E27FC236}">
                <a16:creationId xmlns:a16="http://schemas.microsoft.com/office/drawing/2014/main" id="{28A1A9A5-DAC3-4A38-8A6D-E4569334EB8B}"/>
              </a:ext>
            </a:extLst>
          </p:cNvPr>
          <p:cNvGraphicFramePr/>
          <p:nvPr/>
        </p:nvGraphicFramePr>
        <p:xfrm>
          <a:off xmlns:a="http://schemas.openxmlformats.org/drawingml/2006/main" x="523875" y="1866900"/>
          <a:ext xmlns:a="http://schemas.openxmlformats.org/drawingml/2006/main" cx="5410200" cy="2667000"/>
        </p:xfrm>
        <a:graphic xmlns:a="http://schemas.openxmlformats.org/drawingml/2006/main">
          <a:graphicData uri="http://schemas.openxmlformats.org/drawingml/2006/table">
            <a:tbl>
              <a:tblPr/>
              <a:tblGrid>
                <a:gridCol w="1657350"/>
                <a:gridCol w="857250"/>
                <a:gridCol w="1447800"/>
                <a:gridCol w="1447800"/>
              </a:tblGrid>
              <a:tr h="533400">
                <a:tc>
                  <a:txBody>
                    <a:bodyPr/>
                    <a:lstStyle/>
                    <a:p>
                      <a:r>
                        <a:rPr sz="1575" b="1">
                          <a:solidFill>
                            <a:srgbClr val="FFFFFF"/>
                          </a:solidFill>
                          <a:latin typeface="Arial"/>
                          <a:ea typeface="Arial"/>
                          <a:cs typeface="Arial"/>
                        </a:rPr>
                        <a:t>Группа</a:t>
                      </a:r>
                    </a:p>
                  </a:txBody>
                  <a:tcPr marL="95250" marR="76200" marT="76200" marB="57150">
                    <a:solidFill>
                      <a:srgbClr val="15191F"/>
                    </a:solidFill>
                  </a:tcPr>
                </a:tc>
                <a:tc>
                  <a:txBody>
                    <a:bodyPr/>
                    <a:lstStyle/>
                    <a:p>
                      <a:r>
                        <a:rPr sz="1575" b="1">
                          <a:solidFill>
                            <a:srgbClr val="FFFFFF"/>
                          </a:solidFill>
                          <a:latin typeface="Arial"/>
                          <a:ea typeface="Arial"/>
                          <a:cs typeface="Arial"/>
                        </a:rPr>
                        <a:t>n без / с</a:t>
                      </a:r>
                    </a:p>
                  </a:txBody>
                  <a:tcPr marL="95250" marR="76200" marT="76200" marB="57150">
                    <a:solidFill>
                      <a:srgbClr val="15191F"/>
                    </a:solidFill>
                  </a:tcPr>
                </a:tc>
                <a:tc>
                  <a:txBody>
                    <a:bodyPr/>
                    <a:lstStyle/>
                    <a:p>
                      <a:r>
                        <a:rPr sz="1575" b="1">
                          <a:solidFill>
                            <a:srgbClr val="FFFFFF"/>
                          </a:solidFill>
                          <a:latin typeface="Arial"/>
                          <a:ea typeface="Arial"/>
                          <a:cs typeface="Arial"/>
                        </a:rPr>
                        <a:t>Без: B / M</a:t>
                      </a:r>
                    </a:p>
                  </a:txBody>
                  <a:tcPr marL="95250" marR="76200" marT="76200" marB="57150">
                    <a:solidFill>
                      <a:srgbClr val="15191F"/>
                    </a:solidFill>
                  </a:tcPr>
                </a:tc>
                <a:tc>
                  <a:txBody>
                    <a:bodyPr/>
                    <a:lstStyle/>
                    <a:p>
                      <a:r>
                        <a:rPr sz="1575" b="1">
                          <a:solidFill>
                            <a:srgbClr val="FFFFFF"/>
                          </a:solidFill>
                          <a:latin typeface="Arial"/>
                          <a:ea typeface="Arial"/>
                          <a:cs typeface="Arial"/>
                        </a:rPr>
                        <a:t>С: B / M</a:t>
                      </a:r>
                    </a:p>
                  </a:txBody>
                  <a:tcPr marL="95250" marR="76200" marT="76200" marB="57150">
                    <a:solidFill>
                      <a:srgbClr val="15191F"/>
                    </a:solidFill>
                  </a:tcPr>
                </a:tc>
              </a:tr>
              <a:tr h="533400">
                <a:tc>
                  <a:txBody>
                    <a:bodyPr/>
                    <a:lstStyle/>
                    <a:p>
                      <a:r>
                        <a:rPr sz="1575">
                          <a:solidFill>
                            <a:srgbClr val="15191F"/>
                          </a:solidFill>
                          <a:latin typeface="Arial"/>
                          <a:ea typeface="Arial"/>
                          <a:cs typeface="Arial"/>
                        </a:rPr>
                        <a:t>Динамо Мск</a:t>
                      </a:r>
                    </a:p>
                  </a:txBody>
                  <a:tcPr marL="95250" marR="76200" marT="76200" marB="57150">
                    <a:solidFill>
                      <a:srgbClr val="FAF9F6"/>
                    </a:solidFill>
                  </a:tcPr>
                </a:tc>
                <a:tc>
                  <a:txBody>
                    <a:bodyPr/>
                    <a:lstStyle/>
                    <a:p>
                      <a:r>
                        <a:rPr sz="1575">
                          <a:solidFill>
                            <a:srgbClr val="15191F"/>
                          </a:solidFill>
                          <a:latin typeface="Arial"/>
                          <a:ea typeface="Arial"/>
                          <a:cs typeface="Arial"/>
                        </a:rPr>
                        <a:t>2 / 1</a:t>
                      </a:r>
                    </a:p>
                  </a:txBody>
                  <a:tcPr marL="95250" marR="76200" marT="76200" marB="57150">
                    <a:solidFill>
                      <a:srgbClr val="FAF9F6"/>
                    </a:solidFill>
                  </a:tcPr>
                </a:tc>
                <a:tc>
                  <a:txBody>
                    <a:bodyPr/>
                    <a:lstStyle/>
                    <a:p>
                      <a:r>
                        <a:rPr sz="1575">
                          <a:solidFill>
                            <a:srgbClr val="15191F"/>
                          </a:solidFill>
                          <a:latin typeface="Arial"/>
                          <a:ea typeface="Arial"/>
                          <a:cs typeface="Arial"/>
                        </a:rPr>
                        <a:t>222.4 / 217.6</a:t>
                      </a:r>
                    </a:p>
                  </a:txBody>
                  <a:tcPr marL="95250" marR="76200" marT="76200" marB="57150">
                    <a:solidFill>
                      <a:srgbClr val="FAF9F6"/>
                    </a:solidFill>
                  </a:tcPr>
                </a:tc>
                <a:tc>
                  <a:txBody>
                    <a:bodyPr/>
                    <a:lstStyle/>
                    <a:p>
                      <a:r>
                        <a:rPr sz="1575">
                          <a:solidFill>
                            <a:srgbClr val="15191F"/>
                          </a:solidFill>
                          <a:latin typeface="Arial"/>
                          <a:ea typeface="Arial"/>
                          <a:cs typeface="Arial"/>
                        </a:rPr>
                        <a:t>249.5 / 179.4</a:t>
                      </a:r>
                    </a:p>
                  </a:txBody>
                  <a:tcPr marL="95250" marR="76200" marT="76200" marB="57150">
                    <a:solidFill>
                      <a:srgbClr val="FAF9F6"/>
                    </a:solidFill>
                  </a:tcPr>
                </a:tc>
              </a:tr>
              <a:tr h="533400">
                <a:tc>
                  <a:txBody>
                    <a:bodyPr/>
                    <a:lstStyle/>
                    <a:p>
                      <a:r>
                        <a:rPr sz="1575">
                          <a:solidFill>
                            <a:srgbClr val="15191F"/>
                          </a:solidFill>
                          <a:latin typeface="Arial"/>
                          <a:ea typeface="Arial"/>
                          <a:cs typeface="Arial"/>
                        </a:rPr>
                        <a:t>Динамо Мн</a:t>
                      </a:r>
                    </a:p>
                  </a:txBody>
                  <a:tcPr marL="95250" marR="76200" marT="76200" marB="57150">
                    <a:solidFill>
                      <a:srgbClr val="FAF9F6"/>
                    </a:solidFill>
                  </a:tcPr>
                </a:tc>
                <a:tc>
                  <a:txBody>
                    <a:bodyPr/>
                    <a:lstStyle/>
                    <a:p>
                      <a:r>
                        <a:rPr sz="1575">
                          <a:solidFill>
                            <a:srgbClr val="15191F"/>
                          </a:solidFill>
                          <a:latin typeface="Arial"/>
                          <a:ea typeface="Arial"/>
                          <a:cs typeface="Arial"/>
                        </a:rPr>
                        <a:t>2 / 1</a:t>
                      </a:r>
                    </a:p>
                  </a:txBody>
                  <a:tcPr marL="95250" marR="76200" marT="76200" marB="57150">
                    <a:solidFill>
                      <a:srgbClr val="FAF9F6"/>
                    </a:solidFill>
                  </a:tcPr>
                </a:tc>
                <a:tc>
                  <a:txBody>
                    <a:bodyPr/>
                    <a:lstStyle/>
                    <a:p>
                      <a:r>
                        <a:rPr sz="1575">
                          <a:solidFill>
                            <a:srgbClr val="15191F"/>
                          </a:solidFill>
                          <a:latin typeface="Arial"/>
                          <a:ea typeface="Arial"/>
                          <a:cs typeface="Arial"/>
                        </a:rPr>
                        <a:t>190.6 / 183.8</a:t>
                      </a:r>
                    </a:p>
                  </a:txBody>
                  <a:tcPr marL="95250" marR="76200" marT="76200" marB="57150">
                    <a:solidFill>
                      <a:srgbClr val="FAF9F6"/>
                    </a:solidFill>
                  </a:tcPr>
                </a:tc>
                <a:tc>
                  <a:txBody>
                    <a:bodyPr/>
                    <a:lstStyle/>
                    <a:p>
                      <a:r>
                        <a:rPr sz="1575">
                          <a:solidFill>
                            <a:srgbClr val="15191F"/>
                          </a:solidFill>
                          <a:latin typeface="Arial"/>
                          <a:ea typeface="Arial"/>
                          <a:cs typeface="Arial"/>
                        </a:rPr>
                        <a:t>185.6 / 169.5</a:t>
                      </a:r>
                    </a:p>
                  </a:txBody>
                  <a:tcPr marL="95250" marR="76200" marT="76200" marB="57150">
                    <a:solidFill>
                      <a:srgbClr val="FAF9F6"/>
                    </a:solidFill>
                  </a:tcPr>
                </a:tc>
              </a:tr>
              <a:tr h="533400">
                <a:tc>
                  <a:txBody>
                    <a:bodyPr/>
                    <a:lstStyle/>
                    <a:p>
                      <a:r>
                        <a:rPr sz="1575">
                          <a:solidFill>
                            <a:srgbClr val="15191F"/>
                          </a:solidFill>
                          <a:latin typeface="Arial"/>
                          <a:ea typeface="Arial"/>
                          <a:cs typeface="Arial"/>
                        </a:rPr>
                        <a:t>Нефтехимик</a:t>
                      </a:r>
                    </a:p>
                  </a:txBody>
                  <a:tcPr marL="95250" marR="76200" marT="76200" marB="57150">
                    <a:solidFill>
                      <a:srgbClr val="FAF9F6"/>
                    </a:solidFill>
                  </a:tcPr>
                </a:tc>
                <a:tc>
                  <a:txBody>
                    <a:bodyPr/>
                    <a:lstStyle/>
                    <a:p>
                      <a:r>
                        <a:rPr sz="1575">
                          <a:solidFill>
                            <a:srgbClr val="15191F"/>
                          </a:solidFill>
                          <a:latin typeface="Arial"/>
                          <a:ea typeface="Arial"/>
                          <a:cs typeface="Arial"/>
                        </a:rPr>
                        <a:t>3 / 2</a:t>
                      </a:r>
                    </a:p>
                  </a:txBody>
                  <a:tcPr marL="95250" marR="76200" marT="76200" marB="57150">
                    <a:solidFill>
                      <a:srgbClr val="FAF9F6"/>
                    </a:solidFill>
                  </a:tcPr>
                </a:tc>
                <a:tc>
                  <a:txBody>
                    <a:bodyPr/>
                    <a:lstStyle/>
                    <a:p>
                      <a:r>
                        <a:rPr sz="1575">
                          <a:solidFill>
                            <a:srgbClr val="15191F"/>
                          </a:solidFill>
                          <a:latin typeface="Arial"/>
                          <a:ea typeface="Arial"/>
                          <a:cs typeface="Arial"/>
                        </a:rPr>
                        <a:t>171.3 / 175.0</a:t>
                      </a:r>
                    </a:p>
                  </a:txBody>
                  <a:tcPr marL="95250" marR="76200" marT="76200" marB="57150">
                    <a:solidFill>
                      <a:srgbClr val="FAF9F6"/>
                    </a:solidFill>
                  </a:tcPr>
                </a:tc>
                <a:tc>
                  <a:txBody>
                    <a:bodyPr/>
                    <a:lstStyle/>
                    <a:p>
                      <a:r>
                        <a:rPr sz="1575">
                          <a:solidFill>
                            <a:srgbClr val="15191F"/>
                          </a:solidFill>
                          <a:latin typeface="Arial"/>
                          <a:ea typeface="Arial"/>
                          <a:cs typeface="Arial"/>
                        </a:rPr>
                        <a:t>149.7 / 155.7</a:t>
                      </a:r>
                    </a:p>
                  </a:txBody>
                  <a:tcPr marL="95250" marR="76200" marT="76200" marB="57150">
                    <a:solidFill>
                      <a:srgbClr val="FAF9F6"/>
                    </a:solidFill>
                  </a:tcPr>
                </a:tc>
              </a:tr>
              <a:tr h="533400">
                <a:tc>
                  <a:txBody>
                    <a:bodyPr/>
                    <a:lstStyle/>
                    <a:p>
                      <a:r>
                        <a:rPr sz="1575">
                          <a:solidFill>
                            <a:srgbClr val="15191F"/>
                          </a:solidFill>
                          <a:latin typeface="Arial"/>
                          <a:ea typeface="Arial"/>
                          <a:cs typeface="Arial"/>
                        </a:rPr>
                        <a:t>Ак Барс</a:t>
                      </a:r>
                    </a:p>
                  </a:txBody>
                  <a:tcPr marL="95250" marR="76200" marT="76200" marB="57150">
                    <a:solidFill>
                      <a:srgbClr val="FAF9F6"/>
                    </a:solidFill>
                  </a:tcPr>
                </a:tc>
                <a:tc>
                  <a:txBody>
                    <a:bodyPr/>
                    <a:lstStyle/>
                    <a:p>
                      <a:r>
                        <a:rPr sz="1575">
                          <a:solidFill>
                            <a:srgbClr val="15191F"/>
                          </a:solidFill>
                          <a:latin typeface="Arial"/>
                          <a:ea typeface="Arial"/>
                          <a:cs typeface="Arial"/>
                        </a:rPr>
                        <a:t>3 / 1</a:t>
                      </a:r>
                    </a:p>
                  </a:txBody>
                  <a:tcPr marL="95250" marR="76200" marT="76200" marB="57150">
                    <a:solidFill>
                      <a:srgbClr val="FAF9F6"/>
                    </a:solidFill>
                  </a:tcPr>
                </a:tc>
                <a:tc>
                  <a:txBody>
                    <a:bodyPr/>
                    <a:lstStyle/>
                    <a:p>
                      <a:r>
                        <a:rPr sz="1575">
                          <a:solidFill>
                            <a:srgbClr val="15191F"/>
                          </a:solidFill>
                          <a:latin typeface="Arial"/>
                          <a:ea typeface="Arial"/>
                          <a:cs typeface="Arial"/>
                        </a:rPr>
                        <a:t>150.9 / 153.4</a:t>
                      </a:r>
                    </a:p>
                  </a:txBody>
                  <a:tcPr marL="95250" marR="76200" marT="76200" marB="57150">
                    <a:solidFill>
                      <a:srgbClr val="FAF9F6"/>
                    </a:solidFill>
                  </a:tcPr>
                </a:tc>
                <a:tc>
                  <a:txBody>
                    <a:bodyPr/>
                    <a:lstStyle/>
                    <a:p>
                      <a:r>
                        <a:rPr sz="1575">
                          <a:solidFill>
                            <a:srgbClr val="15191F"/>
                          </a:solidFill>
                          <a:latin typeface="Arial"/>
                          <a:ea typeface="Arial"/>
                          <a:cs typeface="Arial"/>
                        </a:rPr>
                        <a:t>78.0 / 99.5</a:t>
                      </a:r>
                    </a:p>
                  </a:txBody>
                  <a:tcPr marL="95250" marR="76200" marT="76200" marB="57150">
                    <a:solidFill>
                      <a:srgbClr val="FAF9F6"/>
                    </a:solidFill>
                  </a:tcPr>
                </a:tc>
              </a:tr>
            </a:tbl>
          </a:graphicData>
        </a:graphic>
      </p:graphicFrame>
      <p:graphicFrame>
        <p:nvGraphicFramePr>
          <p:cNvPr id="7" name="">
            <a:extLst xmlns:a="http://schemas.openxmlformats.org/drawingml/2006/main">
              <a:ext uri="{FF2B5EF4-FFF2-40B4-BE49-F238E27FC236}">
                <a16:creationId xmlns:a16="http://schemas.microsoft.com/office/drawing/2014/main" id="{AA3F93BB-5D6F-42DE-80E0-F09E65280211}"/>
              </a:ext>
            </a:extLst>
          </p:cNvPr>
          <p:cNvGraphicFramePr/>
          <p:nvPr/>
        </p:nvGraphicFramePr>
        <p:xfrm>
          <a:off xmlns:a="http://schemas.openxmlformats.org/drawingml/2006/main" x="6315075" y="1866900"/>
          <a:ext xmlns:a="http://schemas.openxmlformats.org/drawingml/2006/main" cx="5381625" cy="3733800"/>
        </p:xfrm>
        <a:graphic xmlns:a="http://schemas.openxmlformats.org/drawingml/2006/main">
          <a:graphicData uri="http://schemas.openxmlformats.org/drawingml/2006/table">
            <a:tbl>
              <a:tblPr/>
              <a:tblGrid>
                <a:gridCol w="857250"/>
                <a:gridCol w="914400"/>
                <a:gridCol w="1809750"/>
                <a:gridCol w="1800225"/>
              </a:tblGrid>
              <a:tr h="466725">
                <a:tc>
                  <a:txBody>
                    <a:bodyPr/>
                    <a:lstStyle/>
                    <a:p>
                      <a:r>
                        <a:rPr sz="1650" b="1">
                          <a:solidFill>
                            <a:srgbClr val="FFFFFF"/>
                          </a:solidFill>
                          <a:latin typeface="Arial"/>
                          <a:ea typeface="Arial"/>
                          <a:cs typeface="Arial"/>
                        </a:rPr>
                        <a:t>День</a:t>
                      </a:r>
                    </a:p>
                  </a:txBody>
                  <a:tcPr marL="95250" marR="76200" marT="76200" marB="57150">
                    <a:solidFill>
                      <a:srgbClr val="15191F"/>
                    </a:solidFill>
                  </a:tcPr>
                </a:tc>
                <a:tc>
                  <a:txBody>
                    <a:bodyPr/>
                    <a:lstStyle/>
                    <a:p>
                      <a:r>
                        <a:rPr sz="1650" b="1">
                          <a:solidFill>
                            <a:srgbClr val="FFFFFF"/>
                          </a:solidFill>
                          <a:latin typeface="Arial"/>
                          <a:ea typeface="Arial"/>
                          <a:cs typeface="Arial"/>
                        </a:rPr>
                        <a:t>n без / с</a:t>
                      </a:r>
                    </a:p>
                  </a:txBody>
                  <a:tcPr marL="95250" marR="76200" marT="76200" marB="57150">
                    <a:solidFill>
                      <a:srgbClr val="15191F"/>
                    </a:solidFill>
                  </a:tcPr>
                </a:tc>
                <a:tc>
                  <a:txBody>
                    <a:bodyPr/>
                    <a:lstStyle/>
                    <a:p>
                      <a:r>
                        <a:rPr sz="1650" b="1">
                          <a:solidFill>
                            <a:srgbClr val="FFFFFF"/>
                          </a:solidFill>
                          <a:latin typeface="Arial"/>
                          <a:ea typeface="Arial"/>
                          <a:cs typeface="Arial"/>
                        </a:rPr>
                        <a:t>Без: B / M</a:t>
                      </a:r>
                    </a:p>
                  </a:txBody>
                  <a:tcPr marL="95250" marR="76200" marT="76200" marB="57150">
                    <a:solidFill>
                      <a:srgbClr val="15191F"/>
                    </a:solidFill>
                  </a:tcPr>
                </a:tc>
                <a:tc>
                  <a:txBody>
                    <a:bodyPr/>
                    <a:lstStyle/>
                    <a:p>
                      <a:r>
                        <a:rPr sz="1650" b="1">
                          <a:solidFill>
                            <a:srgbClr val="FFFFFF"/>
                          </a:solidFill>
                          <a:latin typeface="Arial"/>
                          <a:ea typeface="Arial"/>
                          <a:cs typeface="Arial"/>
                        </a:rPr>
                        <a:t>С: B / M</a:t>
                      </a:r>
                    </a:p>
                  </a:txBody>
                  <a:tcPr marL="95250" marR="76200" marT="76200" marB="57150">
                    <a:solidFill>
                      <a:srgbClr val="15191F"/>
                    </a:solidFill>
                  </a:tcPr>
                </a:tc>
              </a:tr>
              <a:tr h="466725">
                <a:tc>
                  <a:txBody>
                    <a:bodyPr/>
                    <a:lstStyle/>
                    <a:p>
                      <a:r>
                        <a:rPr sz="1650">
                          <a:solidFill>
                            <a:srgbClr val="15191F"/>
                          </a:solidFill>
                          <a:latin typeface="Arial"/>
                          <a:ea typeface="Arial"/>
                          <a:cs typeface="Arial"/>
                        </a:rPr>
                        <a:t>Пн</a:t>
                      </a:r>
                    </a:p>
                  </a:txBody>
                  <a:tcPr marL="95250" marR="76200" marT="76200" marB="57150">
                    <a:solidFill>
                      <a:srgbClr val="FAF9F6"/>
                    </a:solidFill>
                  </a:tcPr>
                </a:tc>
                <a:tc>
                  <a:txBody>
                    <a:bodyPr/>
                    <a:lstStyle/>
                    <a:p>
                      <a:r>
                        <a:rPr sz="1650">
                          <a:solidFill>
                            <a:srgbClr val="15191F"/>
                          </a:solidFill>
                          <a:latin typeface="Arial"/>
                          <a:ea typeface="Arial"/>
                          <a:cs typeface="Arial"/>
                        </a:rPr>
                        <a:t>10 / 6</a:t>
                      </a:r>
                    </a:p>
                  </a:txBody>
                  <a:tcPr marL="95250" marR="76200" marT="76200" marB="57150">
                    <a:solidFill>
                      <a:srgbClr val="FAF9F6"/>
                    </a:solidFill>
                  </a:tcPr>
                </a:tc>
                <a:tc>
                  <a:txBody>
                    <a:bodyPr/>
                    <a:lstStyle/>
                    <a:p>
                      <a:r>
                        <a:rPr sz="1650">
                          <a:solidFill>
                            <a:srgbClr val="15191F"/>
                          </a:solidFill>
                          <a:latin typeface="Arial"/>
                          <a:ea typeface="Arial"/>
                          <a:cs typeface="Arial"/>
                        </a:rPr>
                        <a:t>152.4 / 147.0</a:t>
                      </a:r>
                    </a:p>
                  </a:txBody>
                  <a:tcPr marL="95250" marR="76200" marT="76200" marB="57150">
                    <a:solidFill>
                      <a:srgbClr val="FAF9F6"/>
                    </a:solidFill>
                  </a:tcPr>
                </a:tc>
                <a:tc>
                  <a:txBody>
                    <a:bodyPr/>
                    <a:lstStyle/>
                    <a:p>
                      <a:r>
                        <a:rPr sz="1650">
                          <a:solidFill>
                            <a:srgbClr val="15191F"/>
                          </a:solidFill>
                          <a:latin typeface="Arial"/>
                          <a:ea typeface="Arial"/>
                          <a:cs typeface="Arial"/>
                        </a:rPr>
                        <a:t>110.6 / 97.3</a:t>
                      </a:r>
                    </a:p>
                  </a:txBody>
                  <a:tcPr marL="95250" marR="76200" marT="76200" marB="57150">
                    <a:solidFill>
                      <a:srgbClr val="FAF9F6"/>
                    </a:solidFill>
                  </a:tcPr>
                </a:tc>
              </a:tr>
              <a:tr h="466725">
                <a:tc>
                  <a:txBody>
                    <a:bodyPr/>
                    <a:lstStyle/>
                    <a:p>
                      <a:r>
                        <a:rPr sz="1650">
                          <a:solidFill>
                            <a:srgbClr val="15191F"/>
                          </a:solidFill>
                          <a:latin typeface="Arial"/>
                          <a:ea typeface="Arial"/>
                          <a:cs typeface="Arial"/>
                        </a:rPr>
                        <a:t>Вт</a:t>
                      </a:r>
                    </a:p>
                  </a:txBody>
                  <a:tcPr marL="95250" marR="76200" marT="76200" marB="57150">
                    <a:solidFill>
                      <a:srgbClr val="FAF9F6"/>
                    </a:solidFill>
                  </a:tcPr>
                </a:tc>
                <a:tc>
                  <a:txBody>
                    <a:bodyPr/>
                    <a:lstStyle/>
                    <a:p>
                      <a:r>
                        <a:rPr sz="1650">
                          <a:solidFill>
                            <a:srgbClr val="15191F"/>
                          </a:solidFill>
                          <a:latin typeface="Arial"/>
                          <a:ea typeface="Arial"/>
                          <a:cs typeface="Arial"/>
                        </a:rPr>
                        <a:t>3 / 3</a:t>
                      </a:r>
                    </a:p>
                  </a:txBody>
                  <a:tcPr marL="95250" marR="76200" marT="76200" marB="57150">
                    <a:solidFill>
                      <a:srgbClr val="FAF9F6"/>
                    </a:solidFill>
                  </a:tcPr>
                </a:tc>
                <a:tc>
                  <a:txBody>
                    <a:bodyPr/>
                    <a:lstStyle/>
                    <a:p>
                      <a:r>
                        <a:rPr sz="1650">
                          <a:solidFill>
                            <a:srgbClr val="15191F"/>
                          </a:solidFill>
                          <a:latin typeface="Arial"/>
                          <a:ea typeface="Arial"/>
                          <a:cs typeface="Arial"/>
                        </a:rPr>
                        <a:t>138.3 / 125.6</a:t>
                      </a:r>
                    </a:p>
                  </a:txBody>
                  <a:tcPr marL="95250" marR="76200" marT="76200" marB="57150">
                    <a:solidFill>
                      <a:srgbClr val="FAF9F6"/>
                    </a:solidFill>
                  </a:tcPr>
                </a:tc>
                <a:tc>
                  <a:txBody>
                    <a:bodyPr/>
                    <a:lstStyle/>
                    <a:p>
                      <a:r>
                        <a:rPr sz="1650">
                          <a:solidFill>
                            <a:srgbClr val="15191F"/>
                          </a:solidFill>
                          <a:latin typeface="Arial"/>
                          <a:ea typeface="Arial"/>
                          <a:cs typeface="Arial"/>
                        </a:rPr>
                        <a:t>137.8 / 108.7</a:t>
                      </a:r>
                    </a:p>
                  </a:txBody>
                  <a:tcPr marL="95250" marR="76200" marT="76200" marB="57150">
                    <a:solidFill>
                      <a:srgbClr val="FAF9F6"/>
                    </a:solidFill>
                  </a:tcPr>
                </a:tc>
              </a:tr>
              <a:tr h="466725">
                <a:tc>
                  <a:txBody>
                    <a:bodyPr/>
                    <a:lstStyle/>
                    <a:p>
                      <a:r>
                        <a:rPr sz="1650">
                          <a:solidFill>
                            <a:srgbClr val="15191F"/>
                          </a:solidFill>
                          <a:latin typeface="Arial"/>
                          <a:ea typeface="Arial"/>
                          <a:cs typeface="Arial"/>
                        </a:rPr>
                        <a:t>Ср</a:t>
                      </a:r>
                    </a:p>
                  </a:txBody>
                  <a:tcPr marL="95250" marR="76200" marT="76200" marB="57150">
                    <a:solidFill>
                      <a:srgbClr val="FAF9F6"/>
                    </a:solidFill>
                  </a:tcPr>
                </a:tc>
                <a:tc>
                  <a:txBody>
                    <a:bodyPr/>
                    <a:lstStyle/>
                    <a:p>
                      <a:r>
                        <a:rPr sz="1650">
                          <a:solidFill>
                            <a:srgbClr val="15191F"/>
                          </a:solidFill>
                          <a:latin typeface="Arial"/>
                          <a:ea typeface="Arial"/>
                          <a:cs typeface="Arial"/>
                        </a:rPr>
                        <a:t>11 / 7</a:t>
                      </a:r>
                    </a:p>
                  </a:txBody>
                  <a:tcPr marL="95250" marR="76200" marT="76200" marB="57150">
                    <a:solidFill>
                      <a:srgbClr val="FAF9F6"/>
                    </a:solidFill>
                  </a:tcPr>
                </a:tc>
                <a:tc>
                  <a:txBody>
                    <a:bodyPr/>
                    <a:lstStyle/>
                    <a:p>
                      <a:r>
                        <a:rPr sz="1650">
                          <a:solidFill>
                            <a:srgbClr val="15191F"/>
                          </a:solidFill>
                          <a:latin typeface="Arial"/>
                          <a:ea typeface="Arial"/>
                          <a:cs typeface="Arial"/>
                        </a:rPr>
                        <a:t>143.5 / 126.5</a:t>
                      </a:r>
                    </a:p>
                  </a:txBody>
                  <a:tcPr marL="95250" marR="76200" marT="76200" marB="57150">
                    <a:solidFill>
                      <a:srgbClr val="FAF9F6"/>
                    </a:solidFill>
                  </a:tcPr>
                </a:tc>
                <a:tc>
                  <a:txBody>
                    <a:bodyPr/>
                    <a:lstStyle/>
                    <a:p>
                      <a:r>
                        <a:rPr sz="1650">
                          <a:solidFill>
                            <a:srgbClr val="15191F"/>
                          </a:solidFill>
                          <a:latin typeface="Arial"/>
                          <a:ea typeface="Arial"/>
                          <a:cs typeface="Arial"/>
                        </a:rPr>
                        <a:t>147.9 / 112.9</a:t>
                      </a:r>
                    </a:p>
                  </a:txBody>
                  <a:tcPr marL="95250" marR="76200" marT="76200" marB="57150">
                    <a:solidFill>
                      <a:srgbClr val="FAF9F6"/>
                    </a:solidFill>
                  </a:tcPr>
                </a:tc>
              </a:tr>
              <a:tr h="466725">
                <a:tc>
                  <a:txBody>
                    <a:bodyPr/>
                    <a:lstStyle/>
                    <a:p>
                      <a:r>
                        <a:rPr sz="1650">
                          <a:solidFill>
                            <a:srgbClr val="15191F"/>
                          </a:solidFill>
                          <a:latin typeface="Arial"/>
                          <a:ea typeface="Arial"/>
                          <a:cs typeface="Arial"/>
                        </a:rPr>
                        <a:t>Чт</a:t>
                      </a:r>
                    </a:p>
                  </a:txBody>
                  <a:tcPr marL="95250" marR="76200" marT="76200" marB="57150">
                    <a:solidFill>
                      <a:srgbClr val="FAF9F6"/>
                    </a:solidFill>
                  </a:tcPr>
                </a:tc>
                <a:tc>
                  <a:txBody>
                    <a:bodyPr/>
                    <a:lstStyle/>
                    <a:p>
                      <a:r>
                        <a:rPr sz="1650">
                          <a:solidFill>
                            <a:srgbClr val="15191F"/>
                          </a:solidFill>
                          <a:latin typeface="Arial"/>
                          <a:ea typeface="Arial"/>
                          <a:cs typeface="Arial"/>
                        </a:rPr>
                        <a:t>7 / 5</a:t>
                      </a:r>
                    </a:p>
                  </a:txBody>
                  <a:tcPr marL="95250" marR="76200" marT="76200" marB="57150">
                    <a:solidFill>
                      <a:srgbClr val="FAF9F6"/>
                    </a:solidFill>
                  </a:tcPr>
                </a:tc>
                <a:tc>
                  <a:txBody>
                    <a:bodyPr/>
                    <a:lstStyle/>
                    <a:p>
                      <a:r>
                        <a:rPr sz="1650">
                          <a:solidFill>
                            <a:srgbClr val="15191F"/>
                          </a:solidFill>
                          <a:latin typeface="Arial"/>
                          <a:ea typeface="Arial"/>
                          <a:cs typeface="Arial"/>
                        </a:rPr>
                        <a:t>136.9 / 126.9</a:t>
                      </a:r>
                    </a:p>
                  </a:txBody>
                  <a:tcPr marL="95250" marR="76200" marT="76200" marB="57150">
                    <a:solidFill>
                      <a:srgbClr val="FAF9F6"/>
                    </a:solidFill>
                  </a:tcPr>
                </a:tc>
                <a:tc>
                  <a:txBody>
                    <a:bodyPr/>
                    <a:lstStyle/>
                    <a:p>
                      <a:r>
                        <a:rPr sz="1650">
                          <a:solidFill>
                            <a:srgbClr val="15191F"/>
                          </a:solidFill>
                          <a:latin typeface="Arial"/>
                          <a:ea typeface="Arial"/>
                          <a:cs typeface="Arial"/>
                        </a:rPr>
                        <a:t>129.3 / 117.8</a:t>
                      </a:r>
                    </a:p>
                  </a:txBody>
                  <a:tcPr marL="95250" marR="76200" marT="76200" marB="57150">
                    <a:solidFill>
                      <a:srgbClr val="FAF9F6"/>
                    </a:solidFill>
                  </a:tcPr>
                </a:tc>
              </a:tr>
              <a:tr h="466725">
                <a:tc>
                  <a:txBody>
                    <a:bodyPr/>
                    <a:lstStyle/>
                    <a:p>
                      <a:r>
                        <a:rPr sz="1650">
                          <a:solidFill>
                            <a:srgbClr val="15191F"/>
                          </a:solidFill>
                          <a:latin typeface="Arial"/>
                          <a:ea typeface="Arial"/>
                          <a:cs typeface="Arial"/>
                        </a:rPr>
                        <a:t>Пт</a:t>
                      </a:r>
                    </a:p>
                  </a:txBody>
                  <a:tcPr marL="95250" marR="76200" marT="76200" marB="57150">
                    <a:solidFill>
                      <a:srgbClr val="FAF9F6"/>
                    </a:solidFill>
                  </a:tcPr>
                </a:tc>
                <a:tc>
                  <a:txBody>
                    <a:bodyPr/>
                    <a:lstStyle/>
                    <a:p>
                      <a:r>
                        <a:rPr sz="1650">
                          <a:solidFill>
                            <a:srgbClr val="15191F"/>
                          </a:solidFill>
                          <a:latin typeface="Arial"/>
                          <a:ea typeface="Arial"/>
                          <a:cs typeface="Arial"/>
                        </a:rPr>
                        <a:t>7 / 5</a:t>
                      </a:r>
                    </a:p>
                  </a:txBody>
                  <a:tcPr marL="95250" marR="76200" marT="76200" marB="57150">
                    <a:solidFill>
                      <a:srgbClr val="FAF9F6"/>
                    </a:solidFill>
                  </a:tcPr>
                </a:tc>
                <a:tc>
                  <a:txBody>
                    <a:bodyPr/>
                    <a:lstStyle/>
                    <a:p>
                      <a:r>
                        <a:rPr sz="1650">
                          <a:solidFill>
                            <a:srgbClr val="15191F"/>
                          </a:solidFill>
                          <a:latin typeface="Arial"/>
                          <a:ea typeface="Arial"/>
                          <a:cs typeface="Arial"/>
                        </a:rPr>
                        <a:t>148.2 / 132.0</a:t>
                      </a:r>
                    </a:p>
                  </a:txBody>
                  <a:tcPr marL="95250" marR="76200" marT="76200" marB="57150">
                    <a:solidFill>
                      <a:srgbClr val="FAF9F6"/>
                    </a:solidFill>
                  </a:tcPr>
                </a:tc>
                <a:tc>
                  <a:txBody>
                    <a:bodyPr/>
                    <a:lstStyle/>
                    <a:p>
                      <a:r>
                        <a:rPr sz="1650">
                          <a:solidFill>
                            <a:srgbClr val="15191F"/>
                          </a:solidFill>
                          <a:latin typeface="Arial"/>
                          <a:ea typeface="Arial"/>
                          <a:cs typeface="Arial"/>
                        </a:rPr>
                        <a:t>117.2 / 94.3</a:t>
                      </a:r>
                    </a:p>
                  </a:txBody>
                  <a:tcPr marL="95250" marR="76200" marT="76200" marB="57150">
                    <a:solidFill>
                      <a:srgbClr val="FAF9F6"/>
                    </a:solidFill>
                  </a:tcPr>
                </a:tc>
              </a:tr>
              <a:tr h="466725">
                <a:tc>
                  <a:txBody>
                    <a:bodyPr/>
                    <a:lstStyle/>
                    <a:p>
                      <a:r>
                        <a:rPr sz="1650">
                          <a:solidFill>
                            <a:srgbClr val="15191F"/>
                          </a:solidFill>
                          <a:latin typeface="Arial"/>
                          <a:ea typeface="Arial"/>
                          <a:cs typeface="Arial"/>
                        </a:rPr>
                        <a:t>Сб</a:t>
                      </a:r>
                    </a:p>
                  </a:txBody>
                  <a:tcPr marL="95250" marR="76200" marT="76200" marB="57150">
                    <a:solidFill>
                      <a:srgbClr val="FAF9F6"/>
                    </a:solidFill>
                  </a:tcPr>
                </a:tc>
                <a:tc>
                  <a:txBody>
                    <a:bodyPr/>
                    <a:lstStyle/>
                    <a:p>
                      <a:r>
                        <a:rPr sz="1650">
                          <a:solidFill>
                            <a:srgbClr val="15191F"/>
                          </a:solidFill>
                          <a:latin typeface="Arial"/>
                          <a:ea typeface="Arial"/>
                          <a:cs typeface="Arial"/>
                        </a:rPr>
                        <a:t>7 / 5</a:t>
                      </a:r>
                    </a:p>
                  </a:txBody>
                  <a:tcPr marL="95250" marR="76200" marT="76200" marB="57150">
                    <a:solidFill>
                      <a:srgbClr val="FAF9F6"/>
                    </a:solidFill>
                  </a:tcPr>
                </a:tc>
                <a:tc>
                  <a:txBody>
                    <a:bodyPr/>
                    <a:lstStyle/>
                    <a:p>
                      <a:r>
                        <a:rPr sz="1650">
                          <a:solidFill>
                            <a:srgbClr val="15191F"/>
                          </a:solidFill>
                          <a:latin typeface="Arial"/>
                          <a:ea typeface="Arial"/>
                          <a:cs typeface="Arial"/>
                        </a:rPr>
                        <a:t>134.0 / 135.8</a:t>
                      </a:r>
                    </a:p>
                  </a:txBody>
                  <a:tcPr marL="95250" marR="76200" marT="76200" marB="57150">
                    <a:solidFill>
                      <a:srgbClr val="FAF9F6"/>
                    </a:solidFill>
                  </a:tcPr>
                </a:tc>
                <a:tc>
                  <a:txBody>
                    <a:bodyPr/>
                    <a:lstStyle/>
                    <a:p>
                      <a:r>
                        <a:rPr sz="1650">
                          <a:solidFill>
                            <a:srgbClr val="15191F"/>
                          </a:solidFill>
                          <a:latin typeface="Arial"/>
                          <a:ea typeface="Arial"/>
                          <a:cs typeface="Arial"/>
                        </a:rPr>
                        <a:t>120.2 / 106.4</a:t>
                      </a:r>
                    </a:p>
                  </a:txBody>
                  <a:tcPr marL="95250" marR="76200" marT="76200" marB="57150">
                    <a:solidFill>
                      <a:srgbClr val="FAF9F6"/>
                    </a:solidFill>
                  </a:tcPr>
                </a:tc>
              </a:tr>
              <a:tr h="466725">
                <a:tc>
                  <a:txBody>
                    <a:bodyPr/>
                    <a:lstStyle/>
                    <a:p>
                      <a:r>
                        <a:rPr sz="1650">
                          <a:solidFill>
                            <a:srgbClr val="15191F"/>
                          </a:solidFill>
                          <a:latin typeface="Arial"/>
                          <a:ea typeface="Arial"/>
                          <a:cs typeface="Arial"/>
                        </a:rPr>
                        <a:t>Вс</a:t>
                      </a:r>
                    </a:p>
                  </a:txBody>
                  <a:tcPr marL="95250" marR="76200" marT="76200" marB="57150">
                    <a:solidFill>
                      <a:srgbClr val="FAF9F6"/>
                    </a:solidFill>
                  </a:tcPr>
                </a:tc>
                <a:tc>
                  <a:txBody>
                    <a:bodyPr/>
                    <a:lstStyle/>
                    <a:p>
                      <a:r>
                        <a:rPr sz="1650">
                          <a:solidFill>
                            <a:srgbClr val="15191F"/>
                          </a:solidFill>
                          <a:latin typeface="Arial"/>
                          <a:ea typeface="Arial"/>
                          <a:cs typeface="Arial"/>
                        </a:rPr>
                        <a:t>6 / 5</a:t>
                      </a:r>
                    </a:p>
                  </a:txBody>
                  <a:tcPr marL="95250" marR="76200" marT="76200" marB="57150">
                    <a:solidFill>
                      <a:srgbClr val="FAF9F6"/>
                    </a:solidFill>
                  </a:tcPr>
                </a:tc>
                <a:tc>
                  <a:txBody>
                    <a:bodyPr/>
                    <a:lstStyle/>
                    <a:p>
                      <a:r>
                        <a:rPr sz="1650">
                          <a:solidFill>
                            <a:srgbClr val="15191F"/>
                          </a:solidFill>
                          <a:latin typeface="Arial"/>
                          <a:ea typeface="Arial"/>
                          <a:cs typeface="Arial"/>
                        </a:rPr>
                        <a:t>126.0 / 123.3</a:t>
                      </a:r>
                    </a:p>
                  </a:txBody>
                  <a:tcPr marL="95250" marR="76200" marT="76200" marB="57150">
                    <a:solidFill>
                      <a:srgbClr val="FAF9F6"/>
                    </a:solidFill>
                  </a:tcPr>
                </a:tc>
                <a:tc>
                  <a:txBody>
                    <a:bodyPr/>
                    <a:lstStyle/>
                    <a:p>
                      <a:r>
                        <a:rPr sz="1650">
                          <a:solidFill>
                            <a:srgbClr val="15191F"/>
                          </a:solidFill>
                          <a:latin typeface="Arial"/>
                          <a:ea typeface="Arial"/>
                          <a:cs typeface="Arial"/>
                        </a:rPr>
                        <a:t>108.6 / 106.0</a:t>
                      </a:r>
                    </a:p>
                  </a:txBody>
                  <a:tcPr marL="95250" marR="76200" marT="76200" marB="57150">
                    <a:solidFill>
                      <a:srgbClr val="FAF9F6"/>
                    </a:solidFill>
                  </a:tcPr>
                </a:tc>
              </a:tr>
            </a:tbl>
          </a:graphicData>
        </a:graphic>
      </p:graphicFrame>
      <p:sp>
        <p:nvSpPr>
          <p:cNvPr id="8" name="n - уникальные матчи; B / M - baseline / моде">
            <a:extLst xmlns:a="http://schemas.openxmlformats.org/drawingml/2006/main">
              <a:ext uri="{FF2B5EF4-FFF2-40B4-BE49-F238E27FC236}">
                <a16:creationId xmlns:a16="http://schemas.microsoft.com/office/drawing/2014/main" id="{AA8DE4CA-0F90-48DA-A6EB-B4998C85C28D}"/>
              </a:ext>
            </a:extLst>
          </p:cNvPr>
          <p:cNvSpPr>
            <a:spLocks xmlns:a="http://schemas.openxmlformats.org/drawingml/2006/main" noGrp="1"/>
          </p:cNvSpPr>
          <p:nvPr/>
        </p:nvSpPr>
        <p:spPr>
          <a:xfrm xmlns:a="http://schemas.openxmlformats.org/drawingml/2006/main">
            <a:off x="523875" y="4829175"/>
            <a:ext cx="5429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15191F"/>
                </a:solidFill>
                <a:latin typeface="Arial"/>
                <a:ea typeface="Arial"/>
                <a:cs typeface="Arial"/>
              </a:defRPr>
            </a:defPPr>
          </a:lstStyle>
          <a:p xmlns:a="http://schemas.openxmlformats.org/drawingml/2006/main">
            <a:pPr>
              <a:defRPr sz="1875" b="0">
                <a:solidFill>
                  <a:srgbClr val="15191F"/>
                </a:solidFill>
                <a:latin typeface="Arial"/>
                <a:ea typeface="Arial"/>
                <a:cs typeface="Arial"/>
              </a:defRPr>
            </a:pPr>
            <a:r>
              <a:rPr sz="1875" b="0">
                <a:solidFill>
                  <a:srgbClr val="15191F"/>
                </a:solidFill>
                <a:latin typeface="Arial"/>
                <a:ea typeface="Arial"/>
                <a:cs typeface="Arial"/>
              </a:rPr>
              <a:t>n - уникальные матчи; B / M - baseline / модель</a:t>
            </a:r>
          </a:p>
          <a:p xmlns:a="http://schemas.openxmlformats.org/drawingml/2006/main">
            <a:pPr>
              <a:defRPr sz="1875" b="0">
                <a:solidFill>
                  <a:srgbClr val="15191F"/>
                </a:solidFill>
                <a:latin typeface="Arial"/>
                <a:ea typeface="Arial"/>
                <a:cs typeface="Arial"/>
              </a:defRPr>
            </a:pPr>
            <a:r>
              <a:rPr sz="1875" b="0">
                <a:solidFill>
                  <a:srgbClr val="15191F"/>
                </a:solidFill>
                <a:latin typeface="Arial"/>
                <a:ea typeface="Arial"/>
                <a:cs typeface="Arial"/>
              </a:rPr>
              <a:t>Соперники: n 1–3 в показанных группах</a:t>
            </a:r>
          </a:p>
          <a:p xmlns:a="http://schemas.openxmlformats.org/drawingml/2006/main">
            <a:pPr>
              <a:defRPr sz="1875" b="0">
                <a:solidFill>
                  <a:srgbClr val="15191F"/>
                </a:solidFill>
                <a:latin typeface="Arial"/>
                <a:ea typeface="Arial"/>
                <a:cs typeface="Arial"/>
              </a:defRPr>
            </a:pPr>
            <a:r>
              <a:rPr sz="1875" b="0">
                <a:solidFill>
                  <a:srgbClr val="15191F"/>
                </a:solidFill>
                <a:latin typeface="Arial"/>
                <a:ea typeface="Arial"/>
                <a:cs typeface="Arial"/>
              </a:rPr>
              <a:t>Это наблюдение, не доказательство причины</a:t>
            </a:r>
          </a:p>
        </p:txBody>
      </p:sp>
      <p:sp>
        <p:nvSpPr>
          <p:cNvPr id="9" name="Групповые RMSE объединяют окна без весов S. С">
            <a:extLst xmlns:a="http://schemas.openxmlformats.org/drawingml/2006/main">
              <a:ext uri="{FF2B5EF4-FFF2-40B4-BE49-F238E27FC236}">
                <a16:creationId xmlns:a16="http://schemas.microsoft.com/office/drawing/2014/main" id="{DEC6C186-6045-4D60-A3BF-FCA5BA5E850C}"/>
              </a:ext>
            </a:extLst>
          </p:cNvPr>
          <p:cNvSpPr>
            <a:spLocks xmlns:a="http://schemas.openxmlformats.org/drawingml/2006/main" noGrp="1"/>
          </p:cNvSpPr>
          <p:nvPr/>
        </p:nvSpPr>
        <p:spPr>
          <a:xfrm xmlns:a="http://schemas.openxmlformats.org/drawingml/2006/main">
            <a:off x="523875" y="6038850"/>
            <a:ext cx="1114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505C68"/>
                </a:solidFill>
                <a:latin typeface="Arial"/>
                <a:ea typeface="Arial"/>
                <a:cs typeface="Arial"/>
              </a:defRPr>
            </a:defPPr>
          </a:lstStyle>
          <a:p xmlns:a="http://schemas.openxmlformats.org/drawingml/2006/main">
            <a:pPr>
              <a:defRPr sz="1650" b="0">
                <a:solidFill>
                  <a:srgbClr val="505C68"/>
                </a:solidFill>
                <a:latin typeface="Arial"/>
                <a:ea typeface="Arial"/>
                <a:cs typeface="Arial"/>
              </a:defRPr>
            </a:pPr>
            <a:r>
              <a:rPr sz="1650" b="0">
                <a:solidFill>
                  <a:srgbClr val="505C68"/>
                </a:solidFill>
                <a:latin typeface="Arial"/>
                <a:ea typeface="Arial"/>
                <a:cs typeface="Arial"/>
              </a:rPr>
              <a:t>Групповые RMSE объединяют окна без весов S. Срезы 27 / 7: веса 2/3 и 1/3</a:t>
            </a:r>
          </a:p>
        </p:txBody>
      </p:sp>
    </p:spTree>
    <p:extLst>
      <p:ext uri="{BB962C8B-B14F-4D97-AF65-F5344CB8AC3E}">
        <p14:creationId xmlns:p14="http://schemas.microsoft.com/office/powerpoint/2010/main" val="1231580341"/>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7" name="Альтернативы и ограничения">
            <a:extLst xmlns:a="http://schemas.openxmlformats.org/drawingml/2006/main">
              <a:ext uri="{FF2B5EF4-FFF2-40B4-BE49-F238E27FC236}">
                <a16:creationId xmlns:a16="http://schemas.microsoft.com/office/drawing/2014/main" id="{EDD4B364-46C9-4FD8-90AA-13BCD7C39ED7}"/>
              </a:ext>
            </a:extLst>
          </p:cNvPr>
          <p:cNvSpPr>
            <a:spLocks xmlns:a="http://schemas.openxmlformats.org/drawingml/2006/main" noGrp="1"/>
          </p:cNvSpPr>
          <p:nvPr/>
        </p:nvSpPr>
        <p:spPr>
          <a:xfrm xmlns:a="http://schemas.openxmlformats.org/drawingml/2006/main">
            <a:off x="523875" y="3429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15191F"/>
                </a:solidFill>
                <a:latin typeface="Arial"/>
                <a:ea typeface="Arial"/>
                <a:cs typeface="Arial"/>
              </a:defRPr>
            </a:defPPr>
          </a:lstStyle>
          <a:p xmlns:a="http://schemas.openxmlformats.org/drawingml/2006/main">
            <a:pPr>
              <a:defRPr sz="3225" b="1">
                <a:solidFill>
                  <a:srgbClr val="15191F"/>
                </a:solidFill>
                <a:latin typeface="Arial"/>
                <a:ea typeface="Arial"/>
                <a:cs typeface="Arial"/>
              </a:defRPr>
            </a:pPr>
            <a:r>
              <a:rPr sz="3225" b="1">
                <a:solidFill>
                  <a:srgbClr val="15191F"/>
                </a:solidFill>
                <a:latin typeface="Arial"/>
                <a:ea typeface="Arial"/>
                <a:cs typeface="Arial"/>
              </a:rPr>
              <a:t>Альтернативы и ограничения</a:t>
            </a:r>
          </a:p>
        </p:txBody>
      </p:sp>
      <p:sp>
        <p:nvSpPr>
          <p:cNvPr id="2" name="СпускоГрад  /  DATA MATCH">
            <a:extLst xmlns:a="http://schemas.openxmlformats.org/drawingml/2006/main">
              <a:ext uri="{FF2B5EF4-FFF2-40B4-BE49-F238E27FC236}">
                <a16:creationId xmlns:a16="http://schemas.microsoft.com/office/drawing/2014/main" id="{93BD4D75-BE17-46D2-BD89-368D36316706}"/>
              </a:ext>
            </a:extLst>
          </p:cNvPr>
          <p:cNvSpPr>
            <a:spLocks xmlns:a="http://schemas.openxmlformats.org/drawingml/2006/main" noGrp="1"/>
          </p:cNvSpPr>
          <p:nvPr/>
        </p:nvSpPr>
        <p:spPr>
          <a:xfrm xmlns:a="http://schemas.openxmlformats.org/drawingml/2006/main">
            <a:off x="523875" y="63817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505C68"/>
                </a:solidFill>
                <a:latin typeface="Arial"/>
                <a:ea typeface="Arial"/>
                <a:cs typeface="Arial"/>
              </a:defRPr>
            </a:defPPr>
          </a:lstStyle>
          <a:p xmlns:a="http://schemas.openxmlformats.org/drawingml/2006/main">
            <a:pPr>
              <a:defRPr sz="1350" b="0">
                <a:solidFill>
                  <a:srgbClr val="505C68"/>
                </a:solidFill>
                <a:latin typeface="Arial"/>
                <a:ea typeface="Arial"/>
                <a:cs typeface="Arial"/>
              </a:defRPr>
            </a:pPr>
            <a:r>
              <a:rPr sz="1350" b="0">
                <a:solidFill>
                  <a:srgbClr val="505C68"/>
                </a:solidFill>
                <a:latin typeface="Arial"/>
                <a:ea typeface="Arial"/>
                <a:cs typeface="Arial"/>
              </a:rPr>
              <a:t>СпускоГрад  /  DATA MATCH</a:t>
            </a:r>
          </a:p>
        </p:txBody>
      </p:sp>
      <p:sp>
        <p:nvSpPr>
          <p:cNvPr id="3" name="08">
            <a:extLst xmlns:a="http://schemas.openxmlformats.org/drawingml/2006/main">
              <a:ext uri="{FF2B5EF4-FFF2-40B4-BE49-F238E27FC236}">
                <a16:creationId xmlns:a16="http://schemas.microsoft.com/office/drawing/2014/main" id="{27BCC585-5FB2-4A7A-92BB-48930DBAFCBF}"/>
              </a:ext>
            </a:extLst>
          </p:cNvPr>
          <p:cNvSpPr>
            <a:spLocks xmlns:a="http://schemas.openxmlformats.org/drawingml/2006/main" noGrp="1"/>
          </p:cNvSpPr>
          <p:nvPr/>
        </p:nvSpPr>
        <p:spPr>
          <a:xfrm xmlns:a="http://schemas.openxmlformats.org/drawingml/2006/main">
            <a:off x="11144250" y="63436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505C68"/>
                </a:solidFill>
                <a:latin typeface="Arial"/>
                <a:ea typeface="Arial"/>
                <a:cs typeface="Arial"/>
              </a:defRPr>
            </a:defPPr>
          </a:lstStyle>
          <a:p xmlns:a="http://schemas.openxmlformats.org/drawingml/2006/main">
            <a:pPr>
              <a:defRPr sz="1575" b="0">
                <a:solidFill>
                  <a:srgbClr val="505C68"/>
                </a:solidFill>
                <a:latin typeface="Arial"/>
                <a:ea typeface="Arial"/>
                <a:cs typeface="Arial"/>
              </a:defRPr>
            </a:pPr>
            <a:r>
              <a:rPr sz="1575" b="0">
                <a:solidFill>
                  <a:srgbClr val="505C68"/>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64D48ABD-BBF9-4D79-8EE5-1EEFA5E570F9}"/>
              </a:ext>
            </a:extLst>
          </p:cNvPr>
          <p:cNvGraphicFramePr/>
          <p:nvPr/>
        </p:nvGraphicFramePr>
        <p:xfrm>
          <a:off xmlns:a="http://schemas.openxmlformats.org/drawingml/2006/main" x="523875" y="1419225"/>
          <a:ext xmlns:a="http://schemas.openxmlformats.org/drawingml/2006/main" cx="11144250" cy="2905125"/>
        </p:xfrm>
        <a:graphic xmlns:a="http://schemas.openxmlformats.org/drawingml/2006/main">
          <a:graphicData uri="http://schemas.openxmlformats.org/drawingml/2006/table">
            <a:tbl>
              <a:tblPr/>
              <a:tblGrid>
                <a:gridCol w="5762625"/>
                <a:gridCol w="1476375"/>
                <a:gridCol w="3905250"/>
              </a:tblGrid>
              <a:tr h="581025">
                <a:tc>
                  <a:txBody>
                    <a:bodyPr/>
                    <a:lstStyle/>
                    <a:p>
                      <a:r>
                        <a:rPr sz="1875" b="1">
                          <a:solidFill>
                            <a:srgbClr val="FFFFFF"/>
                          </a:solidFill>
                          <a:latin typeface="Arial"/>
                          <a:ea typeface="Arial"/>
                          <a:cs typeface="Arial"/>
                        </a:rPr>
                        <a:t>Вариант</a:t>
                      </a:r>
                    </a:p>
                  </a:txBody>
                  <a:tcPr marL="95250" marR="76200" marT="76200" marB="57150">
                    <a:solidFill>
                      <a:srgbClr val="15191F"/>
                    </a:solidFill>
                  </a:tcPr>
                </a:tc>
                <a:tc>
                  <a:txBody>
                    <a:bodyPr/>
                    <a:lstStyle/>
                    <a:p>
                      <a:r>
                        <a:rPr sz="1875" b="1">
                          <a:solidFill>
                            <a:srgbClr val="FFFFFF"/>
                          </a:solidFill>
                          <a:latin typeface="Arial"/>
                          <a:ea typeface="Arial"/>
                          <a:cs typeface="Arial"/>
                        </a:rPr>
                        <a:t>S</a:t>
                      </a:r>
                    </a:p>
                  </a:txBody>
                  <a:tcPr marL="95250" marR="76200" marT="76200" marB="57150">
                    <a:solidFill>
                      <a:srgbClr val="15191F"/>
                    </a:solidFill>
                  </a:tcPr>
                </a:tc>
                <a:tc>
                  <a:txBody>
                    <a:bodyPr/>
                    <a:lstStyle/>
                    <a:p>
                      <a:r>
                        <a:rPr sz="1875" b="1">
                          <a:solidFill>
                            <a:srgbClr val="FFFFFF"/>
                          </a:solidFill>
                          <a:latin typeface="Arial"/>
                          <a:ea typeface="Arial"/>
                          <a:cs typeface="Arial"/>
                        </a:rPr>
                        <a:t>Решение</a:t>
                      </a:r>
                    </a:p>
                  </a:txBody>
                  <a:tcPr marL="95250" marR="76200" marT="76200" marB="57150">
                    <a:solidFill>
                      <a:srgbClr val="15191F"/>
                    </a:solidFill>
                  </a:tcPr>
                </a:tc>
              </a:tr>
              <a:tr h="581025">
                <a:tc>
                  <a:txBody>
                    <a:bodyPr/>
                    <a:lstStyle/>
                    <a:p>
                      <a:r>
                        <a:rPr sz="1875">
                          <a:solidFill>
                            <a:srgbClr val="15191F"/>
                          </a:solidFill>
                          <a:latin typeface="Arial"/>
                          <a:ea typeface="Arial"/>
                          <a:cs typeface="Arial"/>
                        </a:rPr>
                        <a:t>Принятая Ridge</a:t>
                      </a:r>
                    </a:p>
                  </a:txBody>
                  <a:tcPr marL="95250" marR="76200" marT="76200" marB="57150">
                    <a:solidFill>
                      <a:srgbClr val="FAF9F6"/>
                    </a:solidFill>
                  </a:tcPr>
                </a:tc>
                <a:tc>
                  <a:txBody>
                    <a:bodyPr/>
                    <a:lstStyle/>
                    <a:p>
                      <a:r>
                        <a:rPr sz="1875">
                          <a:solidFill>
                            <a:srgbClr val="15191F"/>
                          </a:solidFill>
                          <a:latin typeface="Arial"/>
                          <a:ea typeface="Arial"/>
                          <a:cs typeface="Arial"/>
                        </a:rPr>
                        <a:t>126.736</a:t>
                      </a:r>
                    </a:p>
                  </a:txBody>
                  <a:tcPr marL="95250" marR="76200" marT="76200" marB="57150">
                    <a:solidFill>
                      <a:srgbClr val="FAF9F6"/>
                    </a:solidFill>
                  </a:tcPr>
                </a:tc>
                <a:tc>
                  <a:txBody>
                    <a:bodyPr/>
                    <a:lstStyle/>
                    <a:p>
                      <a:r>
                        <a:rPr sz="1875">
                          <a:solidFill>
                            <a:srgbClr val="15191F"/>
                          </a:solidFill>
                          <a:latin typeface="Arial"/>
                          <a:ea typeface="Arial"/>
                          <a:cs typeface="Arial"/>
                        </a:rPr>
                        <a:t>Сохранена</a:t>
                      </a:r>
                    </a:p>
                  </a:txBody>
                  <a:tcPr marL="95250" marR="76200" marT="76200" marB="57150">
                    <a:solidFill>
                      <a:srgbClr val="FAF9F6"/>
                    </a:solidFill>
                  </a:tcPr>
                </a:tc>
              </a:tr>
              <a:tr h="581025">
                <a:tc>
                  <a:txBody>
                    <a:bodyPr/>
                    <a:lstStyle/>
                    <a:p>
                      <a:r>
                        <a:rPr sz="1875">
                          <a:solidFill>
                            <a:srgbClr val="15191F"/>
                          </a:solidFill>
                          <a:latin typeface="Arial"/>
                          <a:ea typeface="Arial"/>
                          <a:cs typeface="Arial"/>
                        </a:rPr>
                        <a:t>+ КХЛ</a:t>
                      </a:r>
                    </a:p>
                  </a:txBody>
                  <a:tcPr marL="95250" marR="76200" marT="76200" marB="57150">
                    <a:solidFill>
                      <a:srgbClr val="FAF9F6"/>
                    </a:solidFill>
                  </a:tcPr>
                </a:tc>
                <a:tc>
                  <a:txBody>
                    <a:bodyPr/>
                    <a:lstStyle/>
                    <a:p>
                      <a:r>
                        <a:rPr sz="1875">
                          <a:solidFill>
                            <a:srgbClr val="15191F"/>
                          </a:solidFill>
                          <a:latin typeface="Arial"/>
                          <a:ea typeface="Arial"/>
                          <a:cs typeface="Arial"/>
                        </a:rPr>
                        <a:t>129.706</a:t>
                      </a:r>
                    </a:p>
                  </a:txBody>
                  <a:tcPr marL="95250" marR="76200" marT="76200" marB="57150">
                    <a:solidFill>
                      <a:srgbClr val="FAF9F6"/>
                    </a:solidFill>
                  </a:tcPr>
                </a:tc>
                <a:tc>
                  <a:txBody>
                    <a:bodyPr/>
                    <a:lstStyle/>
                    <a:p>
                      <a:r>
                        <a:rPr sz="1875">
                          <a:solidFill>
                            <a:srgbClr val="15191F"/>
                          </a:solidFill>
                          <a:latin typeface="Arial"/>
                          <a:ea typeface="Arial"/>
                          <a:cs typeface="Arial"/>
                        </a:rPr>
                        <a:t>Хуже; лучше 1 окно</a:t>
                      </a:r>
                    </a:p>
                  </a:txBody>
                  <a:tcPr marL="95250" marR="76200" marT="76200" marB="57150">
                    <a:solidFill>
                      <a:srgbClr val="FAF9F6"/>
                    </a:solidFill>
                  </a:tcPr>
                </a:tc>
              </a:tr>
              <a:tr h="581025">
                <a:tc>
                  <a:txBody>
                    <a:bodyPr/>
                    <a:lstStyle/>
                    <a:p>
                      <a:r>
                        <a:rPr sz="1875">
                          <a:solidFill>
                            <a:srgbClr val="15191F"/>
                          </a:solidFill>
                          <a:latin typeface="Arial"/>
                          <a:ea typeface="Arial"/>
                          <a:cs typeface="Arial"/>
                        </a:rPr>
                        <a:t>+ покупки абонементов</a:t>
                      </a:r>
                    </a:p>
                  </a:txBody>
                  <a:tcPr marL="95250" marR="76200" marT="76200" marB="57150">
                    <a:solidFill>
                      <a:srgbClr val="FAF9F6"/>
                    </a:solidFill>
                  </a:tcPr>
                </a:tc>
                <a:tc>
                  <a:txBody>
                    <a:bodyPr/>
                    <a:lstStyle/>
                    <a:p>
                      <a:r>
                        <a:rPr sz="1875">
                          <a:solidFill>
                            <a:srgbClr val="15191F"/>
                          </a:solidFill>
                          <a:latin typeface="Arial"/>
                          <a:ea typeface="Arial"/>
                          <a:cs typeface="Arial"/>
                        </a:rPr>
                        <a:t>127.028</a:t>
                      </a:r>
                    </a:p>
                  </a:txBody>
                  <a:tcPr marL="95250" marR="76200" marT="76200" marB="57150">
                    <a:solidFill>
                      <a:srgbClr val="FAF9F6"/>
                    </a:solidFill>
                  </a:tcPr>
                </a:tc>
                <a:tc>
                  <a:txBody>
                    <a:bodyPr/>
                    <a:lstStyle/>
                    <a:p>
                      <a:r>
                        <a:rPr sz="1875">
                          <a:solidFill>
                            <a:srgbClr val="15191F"/>
                          </a:solidFill>
                          <a:latin typeface="Arial"/>
                          <a:ea typeface="Arial"/>
                          <a:cs typeface="Arial"/>
                        </a:rPr>
                        <a:t>Хуже; лучше 1 окно</a:t>
                      </a:r>
                    </a:p>
                  </a:txBody>
                  <a:tcPr marL="95250" marR="76200" marT="76200" marB="57150">
                    <a:solidFill>
                      <a:srgbClr val="FAF9F6"/>
                    </a:solidFill>
                  </a:tcPr>
                </a:tc>
              </a:tr>
              <a:tr h="581025">
                <a:tc>
                  <a:txBody>
                    <a:bodyPr/>
                    <a:lstStyle/>
                    <a:p>
                      <a:r>
                        <a:rPr sz="1875">
                          <a:solidFill>
                            <a:srgbClr val="15191F"/>
                          </a:solidFill>
                          <a:latin typeface="Arial"/>
                          <a:ea typeface="Arial"/>
                          <a:cs typeface="Arial"/>
                        </a:rPr>
                        <a:t>Относительная Ridge + подбор</a:t>
                      </a:r>
                    </a:p>
                  </a:txBody>
                  <a:tcPr marL="95250" marR="76200" marT="76200" marB="57150">
                    <a:solidFill>
                      <a:srgbClr val="FAF9F6"/>
                    </a:solidFill>
                  </a:tcPr>
                </a:tc>
                <a:tc>
                  <a:txBody>
                    <a:bodyPr/>
                    <a:lstStyle/>
                    <a:p>
                      <a:r>
                        <a:rPr sz="1875">
                          <a:solidFill>
                            <a:srgbClr val="15191F"/>
                          </a:solidFill>
                          <a:latin typeface="Arial"/>
                          <a:ea typeface="Arial"/>
                          <a:cs typeface="Arial"/>
                        </a:rPr>
                        <a:t>125.961</a:t>
                      </a:r>
                    </a:p>
                  </a:txBody>
                  <a:tcPr marL="95250" marR="76200" marT="76200" marB="57150">
                    <a:solidFill>
                      <a:srgbClr val="FAF9F6"/>
                    </a:solidFill>
                  </a:tcPr>
                </a:tc>
                <a:tc>
                  <a:txBody>
                    <a:bodyPr/>
                    <a:lstStyle/>
                    <a:p>
                      <a:r>
                        <a:rPr sz="1875">
                          <a:solidFill>
                            <a:srgbClr val="15191F"/>
                          </a:solidFill>
                          <a:latin typeface="Arial"/>
                          <a:ea typeface="Arial"/>
                          <a:cs typeface="Arial"/>
                        </a:rPr>
                        <a:t>Выигрыш 0.61%, лучше 1 окно</a:t>
                      </a:r>
                    </a:p>
                  </a:txBody>
                  <a:tcPr marL="95250" marR="76200" marT="76200" marB="57150">
                    <a:solidFill>
                      <a:srgbClr val="FAF9F6"/>
                    </a:solidFill>
                  </a:tcPr>
                </a:tc>
              </a:tr>
            </a:tbl>
          </a:graphicData>
        </a:graphic>
      </p:graphicFrame>
      <p:sp>
        <p:nvSpPr>
          <p:cNvPr id="5" name="Замена требовала: ≥2% выигрыша, ≥2 лучших око">
            <a:extLst xmlns:a="http://schemas.openxmlformats.org/drawingml/2006/main">
              <a:ext uri="{FF2B5EF4-FFF2-40B4-BE49-F238E27FC236}">
                <a16:creationId xmlns:a16="http://schemas.microsoft.com/office/drawing/2014/main" id="{88C0FB14-1A4B-4769-8491-4A123514FCF6}"/>
              </a:ext>
            </a:extLst>
          </p:cNvPr>
          <p:cNvSpPr>
            <a:spLocks xmlns:a="http://schemas.openxmlformats.org/drawingml/2006/main" noGrp="1"/>
          </p:cNvSpPr>
          <p:nvPr/>
        </p:nvSpPr>
        <p:spPr>
          <a:xfrm xmlns:a="http://schemas.openxmlformats.org/drawingml/2006/main">
            <a:off x="523875" y="4629150"/>
            <a:ext cx="1114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B62730"/>
                </a:solidFill>
                <a:latin typeface="Arial"/>
                <a:ea typeface="Arial"/>
                <a:cs typeface="Arial"/>
              </a:defRPr>
            </a:defPPr>
          </a:lstStyle>
          <a:p xmlns:a="http://schemas.openxmlformats.org/drawingml/2006/main">
            <a:pPr>
              <a:defRPr sz="2025" b="1">
                <a:solidFill>
                  <a:srgbClr val="B62730"/>
                </a:solidFill>
                <a:latin typeface="Arial"/>
                <a:ea typeface="Arial"/>
                <a:cs typeface="Arial"/>
              </a:defRPr>
            </a:pPr>
            <a:r>
              <a:rPr sz="2025" b="1">
                <a:solidFill>
                  <a:srgbClr val="B62730"/>
                </a:solidFill>
                <a:latin typeface="Arial"/>
                <a:ea typeface="Arial"/>
                <a:cs typeface="Arial"/>
              </a:rPr>
              <a:t>Замена требовала: ≥2% выигрыша, ≥2 лучших окон, защиту сценариев</a:t>
            </a:r>
          </a:p>
        </p:txBody>
      </p:sp>
      <p:sp>
        <p:nvSpPr>
          <p:cNvPr id="6" name="Нет независимого теста; hidden RMSE неизвесте">
            <a:extLst xmlns:a="http://schemas.openxmlformats.org/drawingml/2006/main">
              <a:ext uri="{FF2B5EF4-FFF2-40B4-BE49-F238E27FC236}">
                <a16:creationId xmlns:a16="http://schemas.microsoft.com/office/drawing/2014/main" id="{055AC74D-6F1C-4FBE-AE70-520067E75274}"/>
              </a:ext>
            </a:extLst>
          </p:cNvPr>
          <p:cNvSpPr>
            <a:spLocks xmlns:a="http://schemas.openxmlformats.org/drawingml/2006/main" noGrp="1"/>
          </p:cNvSpPr>
          <p:nvPr/>
        </p:nvSpPr>
        <p:spPr>
          <a:xfrm xmlns:a="http://schemas.openxmlformats.org/drawingml/2006/main">
            <a:off x="523875" y="5257800"/>
            <a:ext cx="11144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5191F"/>
                </a:solidFill>
                <a:latin typeface="Arial"/>
                <a:ea typeface="Arial"/>
                <a:cs typeface="Arial"/>
              </a:defRPr>
            </a:defPPr>
          </a:lstStyle>
          <a:p xmlns:a="http://schemas.openxmlformats.org/drawingml/2006/main">
            <a:pPr>
              <a:defRPr sz="1950" b="0">
                <a:solidFill>
                  <a:srgbClr val="15191F"/>
                </a:solidFill>
                <a:latin typeface="Arial"/>
                <a:ea typeface="Arial"/>
                <a:cs typeface="Arial"/>
              </a:defRPr>
            </a:pPr>
            <a:r>
              <a:rPr sz="1950" b="0">
                <a:solidFill>
                  <a:srgbClr val="15191F"/>
                </a:solidFill>
                <a:latin typeface="Arial"/>
                <a:ea typeface="Arial"/>
                <a:cs typeface="Arial"/>
              </a:rPr>
              <a:t>Нет независимого теста; hidden RMSE неизвестен</a:t>
            </a:r>
          </a:p>
          <a:p xmlns:a="http://schemas.openxmlformats.org/drawingml/2006/main">
            <a:pPr>
              <a:defRPr sz="1950" b="0">
                <a:solidFill>
                  <a:srgbClr val="15191F"/>
                </a:solidFill>
                <a:latin typeface="Arial"/>
                <a:ea typeface="Arial"/>
                <a:cs typeface="Arial"/>
              </a:defRPr>
            </a:pPr>
            <a:r>
              <a:rPr sz="1950" b="0">
                <a:solidFill>
                  <a:srgbClr val="15191F"/>
                </a:solidFill>
                <a:latin typeface="Arial"/>
                <a:ea typeface="Arial"/>
                <a:cs typeface="Arial"/>
              </a:rPr>
              <a:t>Исторические абонементы не подставлены из будущего</a:t>
            </a:r>
          </a:p>
          <a:p xmlns:a="http://schemas.openxmlformats.org/drawingml/2006/main">
            <a:pPr>
              <a:defRPr sz="1950" b="0">
                <a:solidFill>
                  <a:srgbClr val="15191F"/>
                </a:solidFill>
                <a:latin typeface="Arial"/>
                <a:ea typeface="Arial"/>
                <a:cs typeface="Arial"/>
              </a:defRPr>
            </a:pPr>
            <a:r>
              <a:rPr sz="1950" b="0">
                <a:solidFill>
                  <a:srgbClr val="15191F"/>
                </a:solidFill>
                <a:latin typeface="Arial"/>
                <a:ea typeface="Arial"/>
                <a:cs typeface="Arial"/>
              </a:rPr>
              <a:t>Продажи, соперник и день недели не доказывают эффект рекламы</a:t>
            </a:r>
          </a:p>
        </p:txBody>
      </p:sp>
    </p:spTree>
    <p:extLst>
      <p:ext uri="{BB962C8B-B14F-4D97-AF65-F5344CB8AC3E}">
        <p14:creationId xmlns:p14="http://schemas.microsoft.com/office/powerpoint/2010/main" val="1937058300"/>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7" name="Рекомендации для клуба">
            <a:extLst xmlns:a="http://schemas.openxmlformats.org/drawingml/2006/main">
              <a:ext uri="{FF2B5EF4-FFF2-40B4-BE49-F238E27FC236}">
                <a16:creationId xmlns:a16="http://schemas.microsoft.com/office/drawing/2014/main" id="{5921C9B5-3AA5-4642-A33A-A69A6A4B6055}"/>
              </a:ext>
            </a:extLst>
          </p:cNvPr>
          <p:cNvSpPr>
            <a:spLocks xmlns:a="http://schemas.openxmlformats.org/drawingml/2006/main" noGrp="1"/>
          </p:cNvSpPr>
          <p:nvPr/>
        </p:nvSpPr>
        <p:spPr>
          <a:xfrm xmlns:a="http://schemas.openxmlformats.org/drawingml/2006/main">
            <a:off x="523875" y="3429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15191F"/>
                </a:solidFill>
                <a:latin typeface="Arial"/>
                <a:ea typeface="Arial"/>
                <a:cs typeface="Arial"/>
              </a:defRPr>
            </a:defPPr>
          </a:lstStyle>
          <a:p xmlns:a="http://schemas.openxmlformats.org/drawingml/2006/main">
            <a:pPr>
              <a:defRPr sz="3225" b="1">
                <a:solidFill>
                  <a:srgbClr val="15191F"/>
                </a:solidFill>
                <a:latin typeface="Arial"/>
                <a:ea typeface="Arial"/>
                <a:cs typeface="Arial"/>
              </a:defRPr>
            </a:pPr>
            <a:r>
              <a:rPr sz="3225" b="1">
                <a:solidFill>
                  <a:srgbClr val="15191F"/>
                </a:solidFill>
                <a:latin typeface="Arial"/>
                <a:ea typeface="Arial"/>
                <a:cs typeface="Arial"/>
              </a:rPr>
              <a:t>Рекомендации для клуба</a:t>
            </a:r>
          </a:p>
        </p:txBody>
      </p:sp>
      <p:sp>
        <p:nvSpPr>
          <p:cNvPr id="2" name="СпускоГрад  /  DATA MATCH">
            <a:extLst xmlns:a="http://schemas.openxmlformats.org/drawingml/2006/main">
              <a:ext uri="{FF2B5EF4-FFF2-40B4-BE49-F238E27FC236}">
                <a16:creationId xmlns:a16="http://schemas.microsoft.com/office/drawing/2014/main" id="{0817CD34-9002-48BE-8D61-75F69EE13B4D}"/>
              </a:ext>
            </a:extLst>
          </p:cNvPr>
          <p:cNvSpPr>
            <a:spLocks xmlns:a="http://schemas.openxmlformats.org/drawingml/2006/main" noGrp="1"/>
          </p:cNvSpPr>
          <p:nvPr/>
        </p:nvSpPr>
        <p:spPr>
          <a:xfrm xmlns:a="http://schemas.openxmlformats.org/drawingml/2006/main">
            <a:off x="523875" y="63817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505C68"/>
                </a:solidFill>
                <a:latin typeface="Arial"/>
                <a:ea typeface="Arial"/>
                <a:cs typeface="Arial"/>
              </a:defRPr>
            </a:defPPr>
          </a:lstStyle>
          <a:p xmlns:a="http://schemas.openxmlformats.org/drawingml/2006/main">
            <a:pPr>
              <a:defRPr sz="1350" b="0">
                <a:solidFill>
                  <a:srgbClr val="505C68"/>
                </a:solidFill>
                <a:latin typeface="Arial"/>
                <a:ea typeface="Arial"/>
                <a:cs typeface="Arial"/>
              </a:defRPr>
            </a:pPr>
            <a:r>
              <a:rPr sz="1350" b="0">
                <a:solidFill>
                  <a:srgbClr val="505C68"/>
                </a:solidFill>
                <a:latin typeface="Arial"/>
                <a:ea typeface="Arial"/>
                <a:cs typeface="Arial"/>
              </a:rPr>
              <a:t>СпускоГрад  /  DATA MATCH</a:t>
            </a:r>
          </a:p>
        </p:txBody>
      </p:sp>
      <p:sp>
        <p:nvSpPr>
          <p:cNvPr id="3" name="09">
            <a:extLst xmlns:a="http://schemas.openxmlformats.org/drawingml/2006/main">
              <a:ext uri="{FF2B5EF4-FFF2-40B4-BE49-F238E27FC236}">
                <a16:creationId xmlns:a16="http://schemas.microsoft.com/office/drawing/2014/main" id="{CB896B35-5657-485F-AE5B-EBAE276B2525}"/>
              </a:ext>
            </a:extLst>
          </p:cNvPr>
          <p:cNvSpPr>
            <a:spLocks xmlns:a="http://schemas.openxmlformats.org/drawingml/2006/main" noGrp="1"/>
          </p:cNvSpPr>
          <p:nvPr/>
        </p:nvSpPr>
        <p:spPr>
          <a:xfrm xmlns:a="http://schemas.openxmlformats.org/drawingml/2006/main">
            <a:off x="11144250" y="63436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505C68"/>
                </a:solidFill>
                <a:latin typeface="Arial"/>
                <a:ea typeface="Arial"/>
                <a:cs typeface="Arial"/>
              </a:defRPr>
            </a:defPPr>
          </a:lstStyle>
          <a:p xmlns:a="http://schemas.openxmlformats.org/drawingml/2006/main">
            <a:pPr>
              <a:defRPr sz="1575" b="0">
                <a:solidFill>
                  <a:srgbClr val="505C68"/>
                </a:solidFill>
                <a:latin typeface="Arial"/>
                <a:ea typeface="Arial"/>
                <a:cs typeface="Arial"/>
              </a:defRPr>
            </a:pPr>
            <a:r>
              <a:rPr sz="1575" b="0">
                <a:solidFill>
                  <a:srgbClr val="505C68"/>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BBF5D486-F4B1-4B90-A939-3B222BDFFFE1}"/>
              </a:ext>
            </a:extLst>
          </p:cNvPr>
          <p:cNvGraphicFramePr/>
          <p:nvPr/>
        </p:nvGraphicFramePr>
        <p:xfrm>
          <a:off xmlns:a="http://schemas.openxmlformats.org/drawingml/2006/main" x="523875" y="1533525"/>
          <a:ext xmlns:a="http://schemas.openxmlformats.org/drawingml/2006/main" cx="11144250" cy="3314700"/>
        </p:xfrm>
        <a:graphic xmlns:a="http://schemas.openxmlformats.org/drawingml/2006/main">
          <a:graphicData uri="http://schemas.openxmlformats.org/drawingml/2006/table">
            <a:tbl>
              <a:tblPr/>
              <a:tblGrid>
                <a:gridCol w="3714750"/>
                <a:gridCol w="3714750"/>
                <a:gridCol w="3714750"/>
              </a:tblGrid>
              <a:tr h="828675">
                <a:tc>
                  <a:txBody>
                    <a:bodyPr/>
                    <a:lstStyle/>
                    <a:p>
                      <a:r>
                        <a:rPr sz="1875" b="1">
                          <a:solidFill>
                            <a:srgbClr val="FFFFFF"/>
                          </a:solidFill>
                          <a:latin typeface="Arial"/>
                          <a:ea typeface="Arial"/>
                          <a:cs typeface="Arial"/>
                        </a:rPr>
                        <a:t>Наблюдение</a:t>
                      </a:r>
                    </a:p>
                  </a:txBody>
                  <a:tcPr marL="95250" marR="76200" marT="76200" marB="57150">
                    <a:solidFill>
                      <a:srgbClr val="15191F"/>
                    </a:solidFill>
                  </a:tcPr>
                </a:tc>
                <a:tc>
                  <a:txBody>
                    <a:bodyPr/>
                    <a:lstStyle/>
                    <a:p>
                      <a:r>
                        <a:rPr sz="1875" b="1">
                          <a:solidFill>
                            <a:srgbClr val="FFFFFF"/>
                          </a:solidFill>
                          <a:latin typeface="Arial"/>
                          <a:ea typeface="Arial"/>
                          <a:cs typeface="Arial"/>
                        </a:rPr>
                        <a:t>Действие</a:t>
                      </a:r>
                    </a:p>
                  </a:txBody>
                  <a:tcPr marL="95250" marR="76200" marT="76200" marB="57150">
                    <a:solidFill>
                      <a:srgbClr val="15191F"/>
                    </a:solidFill>
                  </a:tcPr>
                </a:tc>
                <a:tc>
                  <a:txBody>
                    <a:bodyPr/>
                    <a:lstStyle/>
                    <a:p>
                      <a:r>
                        <a:rPr sz="1875" b="1">
                          <a:solidFill>
                            <a:srgbClr val="FFFFFF"/>
                          </a:solidFill>
                          <a:latin typeface="Arial"/>
                          <a:ea typeface="Arial"/>
                          <a:cs typeface="Arial"/>
                        </a:rPr>
                        <a:t>Как проверить пользу</a:t>
                      </a:r>
                    </a:p>
                  </a:txBody>
                  <a:tcPr marL="95250" marR="76200" marT="76200" marB="57150">
                    <a:solidFill>
                      <a:srgbClr val="15191F"/>
                    </a:solidFill>
                  </a:tcPr>
                </a:tc>
              </a:tr>
              <a:tr h="828675">
                <a:tc>
                  <a:txBody>
                    <a:bodyPr/>
                    <a:lstStyle/>
                    <a:p>
                      <a:r>
                        <a:rPr sz="1875">
                          <a:solidFill>
                            <a:srgbClr val="15191F"/>
                          </a:solidFill>
                          <a:latin typeface="Arial"/>
                          <a:ea typeface="Arial"/>
                          <a:cs typeface="Arial"/>
                        </a:rPr>
                        <a:t>Ошибка неоднородна; зона 6</a:t>
                      </a:r>
                    </a:p>
                    <a:p>
                      <a:r>
                        <a:rPr sz="1875">
                          <a:solidFill>
                            <a:srgbClr val="15191F"/>
                          </a:solidFill>
                          <a:latin typeface="Arial"/>
                          <a:ea typeface="Arial"/>
                          <a:cs typeface="Arial"/>
                        </a:rPr>
                        <a:t>S 233.7, зоны 1 и 3 хуже baseline</a:t>
                      </a:r>
                    </a:p>
                  </a:txBody>
                  <a:tcPr marL="95250" marR="76200" marT="76200" marB="57150">
                    <a:solidFill>
                      <a:srgbClr val="FAF9F6"/>
                    </a:solidFill>
                  </a:tcPr>
                </a:tc>
                <a:tc>
                  <a:txBody>
                    <a:bodyPr/>
                    <a:lstStyle/>
                    <a:p>
                      <a:r>
                        <a:rPr sz="1875">
                          <a:solidFill>
                            <a:srgbClr val="15191F"/>
                          </a:solidFill>
                          <a:latin typeface="Arial"/>
                          <a:ea typeface="Arial"/>
                          <a:cs typeface="Arial"/>
                        </a:rPr>
                        <a:t>План продаж по зонам</a:t>
                      </a:r>
                    </a:p>
                    <a:p>
                      <a:r>
                        <a:rPr sz="1875">
                          <a:solidFill>
                            <a:srgbClr val="15191F"/>
                          </a:solidFill>
                          <a:latin typeface="Arial"/>
                          <a:ea typeface="Arial"/>
                          <a:cs typeface="Arial"/>
                        </a:rPr>
                        <a:t>+ ручная проверка отклонений</a:t>
                      </a:r>
                    </a:p>
                  </a:txBody>
                  <a:tcPr marL="95250" marR="76200" marT="76200" marB="57150">
                    <a:solidFill>
                      <a:srgbClr val="FAF9F6"/>
                    </a:solidFill>
                  </a:tcPr>
                </a:tc>
                <a:tc>
                  <a:txBody>
                    <a:bodyPr/>
                    <a:lstStyle/>
                    <a:p>
                      <a:r>
                        <a:rPr sz="1875">
                          <a:solidFill>
                            <a:srgbClr val="15191F"/>
                          </a:solidFill>
                          <a:latin typeface="Arial"/>
                          <a:ea typeface="Arial"/>
                          <a:cs typeface="Arial"/>
                        </a:rPr>
                        <a:t>На новом периоде сравнить</a:t>
                      </a:r>
                    </a:p>
                    <a:p>
                      <a:r>
                        <a:rPr sz="1875">
                          <a:solidFill>
                            <a:srgbClr val="15191F"/>
                          </a:solidFill>
                          <a:latin typeface="Arial"/>
                          <a:ea typeface="Arial"/>
                          <a:cs typeface="Arial"/>
                        </a:rPr>
                        <a:t>ошибки и смещение по зонам</a:t>
                      </a:r>
                    </a:p>
                  </a:txBody>
                  <a:tcPr marL="95250" marR="76200" marT="76200" marB="57150">
                    <a:solidFill>
                      <a:srgbClr val="FAF9F6"/>
                    </a:solidFill>
                  </a:tcPr>
                </a:tc>
              </a:tr>
              <a:tr h="828675">
                <a:tc>
                  <a:txBody>
                    <a:bodyPr/>
                    <a:lstStyle/>
                    <a:p>
                      <a:r>
                        <a:rPr sz="1875">
                          <a:solidFill>
                            <a:srgbClr val="15191F"/>
                          </a:solidFill>
                          <a:latin typeface="Arial"/>
                          <a:ea typeface="Arial"/>
                          <a:cs typeface="Arial"/>
                        </a:rPr>
                        <a:t>Без / с продажами: S 132.9 / 114.5</a:t>
                      </a:r>
                    </a:p>
                    <a:p>
                      <a:r>
                        <a:rPr sz="1875">
                          <a:solidFill>
                            <a:srgbClr val="15191F"/>
                          </a:solidFill>
                          <a:latin typeface="Arial"/>
                          <a:ea typeface="Arial"/>
                          <a:cs typeface="Arial"/>
                        </a:rPr>
                        <a:t>Разные срезы и составы</a:t>
                      </a:r>
                    </a:p>
                  </a:txBody>
                  <a:tcPr marL="95250" marR="76200" marT="76200" marB="57150">
                    <a:solidFill>
                      <a:srgbClr val="FAF9F6"/>
                    </a:solidFill>
                  </a:tcPr>
                </a:tc>
                <a:tc>
                  <a:txBody>
                    <a:bodyPr/>
                    <a:lstStyle/>
                    <a:p>
                      <a:r>
                        <a:rPr sz="1875">
                          <a:solidFill>
                            <a:srgbClr val="15191F"/>
                          </a:solidFill>
                          <a:latin typeface="Arial"/>
                          <a:ea typeface="Arial"/>
                          <a:cs typeface="Arial"/>
                        </a:rPr>
                        <a:t>Предварительный план</a:t>
                      </a:r>
                    </a:p>
                    <a:p>
                      <a:r>
                        <a:rPr sz="1875">
                          <a:solidFill>
                            <a:srgbClr val="15191F"/>
                          </a:solidFill>
                          <a:latin typeface="Arial"/>
                          <a:ea typeface="Arial"/>
                          <a:cs typeface="Arial"/>
                        </a:rPr>
                        <a:t>+ пересчёт на 7 / 27-й день</a:t>
                      </a:r>
                    </a:p>
                  </a:txBody>
                  <a:tcPr marL="95250" marR="76200" marT="76200" marB="57150">
                    <a:solidFill>
                      <a:srgbClr val="FAF9F6"/>
                    </a:solidFill>
                  </a:tcPr>
                </a:tc>
                <a:tc>
                  <a:txBody>
                    <a:bodyPr/>
                    <a:lstStyle/>
                    <a:p>
                      <a:r>
                        <a:rPr sz="1875">
                          <a:solidFill>
                            <a:srgbClr val="15191F"/>
                          </a:solidFill>
                          <a:latin typeface="Arial"/>
                          <a:ea typeface="Arial"/>
                          <a:cs typeface="Arial"/>
                        </a:rPr>
                        <a:t>Сравнить сохранённые</a:t>
                      </a:r>
                    </a:p>
                    <a:p>
                      <a:r>
                        <a:rPr sz="1875">
                          <a:solidFill>
                            <a:srgbClr val="15191F"/>
                          </a:solidFill>
                          <a:latin typeface="Arial"/>
                          <a:ea typeface="Arial"/>
                          <a:cs typeface="Arial"/>
                        </a:rPr>
                        <a:t>прогнозы на тех же матчах</a:t>
                      </a:r>
                    </a:p>
                  </a:txBody>
                  <a:tcPr marL="95250" marR="76200" marT="76200" marB="57150">
                    <a:solidFill>
                      <a:srgbClr val="FAF9F6"/>
                    </a:solidFill>
                  </a:tcPr>
                </a:tc>
              </a:tr>
              <a:tr h="828675">
                <a:tc>
                  <a:txBody>
                    <a:bodyPr/>
                    <a:lstStyle/>
                    <a:p>
                      <a:r>
                        <a:rPr sz="1875">
                          <a:solidFill>
                            <a:srgbClr val="15191F"/>
                          </a:solidFill>
                          <a:latin typeface="Arial"/>
                          <a:ea typeface="Arial"/>
                          <a:cs typeface="Arial"/>
                        </a:rPr>
                        <a:t>Соперники: n 1–4;</a:t>
                      </a:r>
                    </a:p>
                    <a:p>
                      <a:r>
                        <a:rPr sz="1875">
                          <a:solidFill>
                            <a:srgbClr val="15191F"/>
                          </a:solidFill>
                          <a:latin typeface="Arial"/>
                          <a:ea typeface="Arial"/>
                          <a:cs typeface="Arial"/>
                        </a:rPr>
                        <a:t>эффект продвижения неизвестен</a:t>
                      </a:r>
                    </a:p>
                  </a:txBody>
                  <a:tcPr marL="95250" marR="76200" marT="76200" marB="57150">
                    <a:solidFill>
                      <a:srgbClr val="FAF9F6"/>
                    </a:solidFill>
                  </a:tcPr>
                </a:tc>
                <a:tc>
                  <a:txBody>
                    <a:bodyPr/>
                    <a:lstStyle/>
                    <a:p>
                      <a:r>
                        <a:rPr sz="1875">
                          <a:solidFill>
                            <a:srgbClr val="15191F"/>
                          </a:solidFill>
                          <a:latin typeface="Arial"/>
                          <a:ea typeface="Arial"/>
                          <a:cs typeface="Arial"/>
                        </a:rPr>
                        <a:t>Приоритеты как гипотеза;</a:t>
                      </a:r>
                    </a:p>
                    <a:p>
                      <a:r>
                        <a:rPr sz="1875">
                          <a:solidFill>
                            <a:srgbClr val="15191F"/>
                          </a:solidFill>
                          <a:latin typeface="Arial"/>
                          <a:ea typeface="Arial"/>
                          <a:cs typeface="Arial"/>
                        </a:rPr>
                        <a:t>контролируемая кампания</a:t>
                      </a:r>
                    </a:p>
                  </a:txBody>
                  <a:tcPr marL="95250" marR="76200" marT="76200" marB="57150">
                    <a:solidFill>
                      <a:srgbClr val="FAF9F6"/>
                    </a:solidFill>
                  </a:tcPr>
                </a:tc>
                <a:tc>
                  <a:txBody>
                    <a:bodyPr/>
                    <a:lstStyle/>
                    <a:p>
                      <a:r>
                        <a:rPr sz="1875">
                          <a:solidFill>
                            <a:srgbClr val="15191F"/>
                          </a:solidFill>
                          <a:latin typeface="Arial"/>
                          <a:ea typeface="Arial"/>
                          <a:cs typeface="Arial"/>
                        </a:rPr>
                        <a:t>До запуска выбрать контроль</a:t>
                      </a:r>
                    </a:p>
                    <a:p>
                      <a:r>
                        <a:rPr sz="1875">
                          <a:solidFill>
                            <a:srgbClr val="15191F"/>
                          </a:solidFill>
                          <a:latin typeface="Arial"/>
                          <a:ea typeface="Arial"/>
                          <a:cs typeface="Arial"/>
                        </a:rPr>
                        <a:t>и считать дополнительные билеты</a:t>
                      </a:r>
                    </a:p>
                  </a:txBody>
                  <a:tcPr marL="95250" marR="76200" marT="76200" marB="57150">
                    <a:solidFill>
                      <a:srgbClr val="FAF9F6"/>
                    </a:solidFill>
                  </a:tcPr>
                </a:tc>
              </a:tr>
            </a:tbl>
          </a:graphicData>
        </a:graphic>
      </p:graphicFrame>
      <p:sp>
        <p:nvSpPr>
          <p:cNvPr id="5" name="Следующий честный экзамен: новый период, прав">
            <a:extLst xmlns:a="http://schemas.openxmlformats.org/drawingml/2006/main">
              <a:ext uri="{FF2B5EF4-FFF2-40B4-BE49-F238E27FC236}">
                <a16:creationId xmlns:a16="http://schemas.microsoft.com/office/drawing/2014/main" id="{322BEE17-F83C-46DE-A6A8-E8D75EFC6620}"/>
              </a:ext>
            </a:extLst>
          </p:cNvPr>
          <p:cNvSpPr>
            <a:spLocks xmlns:a="http://schemas.openxmlformats.org/drawingml/2006/main" noGrp="1"/>
          </p:cNvSpPr>
          <p:nvPr/>
        </p:nvSpPr>
        <p:spPr>
          <a:xfrm xmlns:a="http://schemas.openxmlformats.org/drawingml/2006/main">
            <a:off x="523875" y="5219700"/>
            <a:ext cx="11144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B62730"/>
                </a:solidFill>
                <a:latin typeface="Arial"/>
                <a:ea typeface="Arial"/>
                <a:cs typeface="Arial"/>
              </a:defRPr>
            </a:defPPr>
          </a:lstStyle>
          <a:p xmlns:a="http://schemas.openxmlformats.org/drawingml/2006/main">
            <a:pPr>
              <a:defRPr sz="2250" b="1">
                <a:solidFill>
                  <a:srgbClr val="B62730"/>
                </a:solidFill>
                <a:latin typeface="Arial"/>
                <a:ea typeface="Arial"/>
                <a:cs typeface="Arial"/>
              </a:defRPr>
            </a:pPr>
            <a:r>
              <a:rPr sz="2250" b="1">
                <a:solidFill>
                  <a:srgbClr val="B62730"/>
                </a:solidFill>
                <a:latin typeface="Arial"/>
                <a:ea typeface="Arial"/>
                <a:cs typeface="Arial"/>
              </a:rPr>
              <a:t>Следующий честный экзамен: новый период, правила фиксируются заранее</a:t>
            </a:r>
          </a:p>
        </p:txBody>
      </p:sp>
      <p:sp>
        <p:nvSpPr>
          <p:cNvPr id="6" name="Конкретные цены, скидки и денежный эффект тре">
            <a:extLst xmlns:a="http://schemas.openxmlformats.org/drawingml/2006/main">
              <a:ext uri="{FF2B5EF4-FFF2-40B4-BE49-F238E27FC236}">
                <a16:creationId xmlns:a16="http://schemas.microsoft.com/office/drawing/2014/main" id="{C31BD50C-9B26-45A4-90B7-243FEB604618}"/>
              </a:ext>
            </a:extLst>
          </p:cNvPr>
          <p:cNvSpPr>
            <a:spLocks xmlns:a="http://schemas.openxmlformats.org/drawingml/2006/main" noGrp="1"/>
          </p:cNvSpPr>
          <p:nvPr/>
        </p:nvSpPr>
        <p:spPr>
          <a:xfrm xmlns:a="http://schemas.openxmlformats.org/drawingml/2006/main">
            <a:off x="523875" y="5905500"/>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505C68"/>
                </a:solidFill>
                <a:latin typeface="Arial"/>
                <a:ea typeface="Arial"/>
                <a:cs typeface="Arial"/>
              </a:defRPr>
            </a:defPPr>
          </a:lstStyle>
          <a:p xmlns:a="http://schemas.openxmlformats.org/drawingml/2006/main">
            <a:pPr>
              <a:defRPr sz="1800" b="0">
                <a:solidFill>
                  <a:srgbClr val="505C68"/>
                </a:solidFill>
                <a:latin typeface="Arial"/>
                <a:ea typeface="Arial"/>
                <a:cs typeface="Arial"/>
              </a:defRPr>
            </a:pPr>
            <a:r>
              <a:rPr sz="1800" b="0">
                <a:solidFill>
                  <a:srgbClr val="505C68"/>
                </a:solidFill>
                <a:latin typeface="Arial"/>
                <a:ea typeface="Arial"/>
                <a:cs typeface="Arial"/>
              </a:rPr>
              <a:t>Конкретные цены, скидки и денежный эффект требуют дополнительных данных</a:t>
            </a:r>
          </a:p>
        </p:txBody>
      </p:sp>
    </p:spTree>
    <p:extLst>
      <p:ext uri="{BB962C8B-B14F-4D97-AF65-F5344CB8AC3E}">
        <p14:creationId xmlns:p14="http://schemas.microsoft.com/office/powerpoint/2010/main" val="7957673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2026-10-09T14:48:45.2830000Z</dcterms:created>
  <dcterms:modified xsi:type="dcterms:W3CDTF">2026-10-09T14:48:45.2830000Z</dcterms:modified>
</coreProperties>
</file>